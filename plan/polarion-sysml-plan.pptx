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A1F"/>
                </a:solidFill>
                <a:latin typeface="Arial"/>
              </a:rPr>
              <a:t>Polarion → SysML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94760"/>
            <a:ext cx="2926080" cy="317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F6F8F"/>
                </a:solidFill>
                <a:latin typeface="Courier New"/>
              </a:rPr>
              <a:t>21 October 2026  →  16 April 2027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A76"/>
                </a:solidFill>
                <a:latin typeface="Courier New"/>
              </a:rPr>
              <a:t>26 weeks  ·  one developer  ·  from a blank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F6F8F"/>
                </a:solidFill>
                <a:latin typeface="Courier New"/>
              </a:rPr>
              <a:t>THE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What we are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5720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41A1F"/>
                </a:solidFill>
                <a:latin typeface="Courier New"/>
              </a:rPr>
              <a:t>end state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A76"/>
                </a:solidFill>
                <a:latin typeface="Courier New"/>
              </a:rPr>
              <a:t>one chain,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6"/>
                </a:solidFill>
                <a:latin typeface="Arial"/>
              </a:rPr>
              <a:t>Requirements in, a validated model out — with a typed representation in the middle that everything can be checked against.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1243584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580" y="2103120"/>
            <a:ext cx="111658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41A1F"/>
                </a:solidFill>
                <a:latin typeface="Arial"/>
              </a:rPr>
              <a:t>Polarion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Arial"/>
              </a:rPr>
              <a:t>requirements · links · structure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0240" y="2258568"/>
            <a:ext cx="274320" cy="292608"/>
          </a:xfrm>
          <a:prstGeom prst="right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31136" y="2103120"/>
            <a:ext cx="1243584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4636" y="2103120"/>
            <a:ext cx="111658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41A1F"/>
                </a:solidFill>
                <a:latin typeface="Arial"/>
              </a:rPr>
              <a:t>Ingest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Arial"/>
              </a:rPr>
              <a:t>cache · strip · map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11296" y="2258568"/>
            <a:ext cx="274320" cy="292608"/>
          </a:xfrm>
          <a:prstGeom prst="right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22191" y="2103120"/>
            <a:ext cx="1243584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5691" y="2103120"/>
            <a:ext cx="111658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41A1F"/>
                </a:solidFill>
                <a:latin typeface="Arial"/>
              </a:rPr>
              <a:t>Extract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Arial"/>
              </a:rPr>
              <a:t>one call per requirement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02351" y="2258568"/>
            <a:ext cx="274320" cy="292608"/>
          </a:xfrm>
          <a:prstGeom prst="right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13248" y="2103120"/>
            <a:ext cx="1627632" cy="603504"/>
          </a:xfrm>
          <a:prstGeom prst="rect">
            <a:avLst/>
          </a:prstGeom>
          <a:solidFill>
            <a:srgbClr val="2F6F8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6748" y="2103120"/>
            <a:ext cx="150063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IR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BE9F0"/>
                </a:solidFill>
                <a:latin typeface="Arial"/>
              </a:rPr>
              <a:t>the contract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77456" y="2258568"/>
            <a:ext cx="274320" cy="292608"/>
          </a:xfrm>
          <a:prstGeom prst="right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2103120"/>
            <a:ext cx="1243584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1852" y="2103120"/>
            <a:ext cx="111658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41A1F"/>
                </a:solidFill>
                <a:latin typeface="Arial"/>
              </a:rPr>
              <a:t>Render &amp; update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Arial"/>
              </a:rPr>
              <a:t>deterministic · idempotent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68512" y="2258568"/>
            <a:ext cx="274320" cy="292608"/>
          </a:xfrm>
          <a:prstGeom prst="right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408" y="2103120"/>
            <a:ext cx="2569464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2908" y="2103120"/>
            <a:ext cx="24424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41A1F"/>
                </a:solidFill>
                <a:latin typeface="Arial"/>
              </a:rPr>
              <a:t>SysML v2 model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Arial"/>
              </a:rPr>
              <a:t>files · API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9408" y="2980944"/>
            <a:ext cx="256946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2908" y="2980944"/>
            <a:ext cx="2442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1A1F"/>
                </a:solidFill>
                <a:latin typeface="Arial"/>
              </a:rPr>
              <a:t>Cameo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C6A76"/>
                </a:solidFill>
                <a:latin typeface="Arial"/>
              </a:rPr>
              <a:t>one-way export, Polarion id attached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9408" y="3639312"/>
            <a:ext cx="256946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2908" y="3639312"/>
            <a:ext cx="2442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1A1F"/>
                </a:solidFill>
                <a:latin typeface="Arial"/>
              </a:rPr>
              <a:t>Traceability report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C6A76"/>
                </a:solidFill>
                <a:latin typeface="Arial"/>
              </a:rPr>
              <a:t>every work item: status, elements,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9408" y="4297680"/>
            <a:ext cx="256946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8A97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2908" y="4297680"/>
            <a:ext cx="2442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C6A76"/>
                </a:solidFill>
                <a:latin typeface="Arial"/>
              </a:rPr>
              <a:t>PowerPoint · Word · SharePoint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C6A76"/>
                </a:solidFill>
                <a:latin typeface="Arial"/>
              </a:rPr>
              <a:t>later phase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0122408" y="2761488"/>
            <a:ext cx="292608" cy="237744"/>
          </a:xfrm>
          <a:prstGeom prst="down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246120"/>
            <a:ext cx="21031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580" y="3246120"/>
            <a:ext cx="197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41A1F"/>
                </a:solidFill>
                <a:latin typeface="Arial"/>
              </a:rPr>
              <a:t>Existing Cameo model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C6A76"/>
                </a:solidFill>
                <a:latin typeface="Arial"/>
              </a:rPr>
              <a:t>harvested for grounding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761488" y="3474720"/>
            <a:ext cx="237744" cy="274320"/>
          </a:xfrm>
          <a:prstGeom prst="right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3246120"/>
            <a:ext cx="22402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81020" y="3246120"/>
            <a:ext cx="211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1A1F"/>
                </a:solidFill>
                <a:latin typeface="Arial"/>
              </a:rPr>
              <a:t>Entity registry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Arial"/>
              </a:rPr>
              <a:t>one component, one part — not four</a:t>
            </a:r>
          </a:p>
        </p:txBody>
      </p:sp>
      <p:sp>
        <p:nvSpPr>
          <p:cNvPr id="37" name="Up Arrow 36"/>
          <p:cNvSpPr/>
          <p:nvPr/>
        </p:nvSpPr>
        <p:spPr>
          <a:xfrm>
            <a:off x="4005072" y="2788920"/>
            <a:ext cx="274320" cy="402336"/>
          </a:xfrm>
          <a:prstGeom prst="up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32120" y="3246120"/>
            <a:ext cx="30632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5620" y="3246120"/>
            <a:ext cx="293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1A1F"/>
                </a:solidFill>
                <a:latin typeface="Arial"/>
              </a:rPr>
              <a:t>Validation · five layers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C6A76"/>
                </a:solidFill>
                <a:latin typeface="Arial"/>
              </a:rPr>
              <a:t>IR schema · SysML syntax · architecture consistency · extraction · update</a:t>
            </a:r>
          </a:p>
        </p:txBody>
      </p:sp>
      <p:sp>
        <p:nvSpPr>
          <p:cNvPr id="40" name="Up Arrow 39"/>
          <p:cNvSpPr/>
          <p:nvPr/>
        </p:nvSpPr>
        <p:spPr>
          <a:xfrm>
            <a:off x="6089904" y="2788920"/>
            <a:ext cx="274320" cy="402336"/>
          </a:xfrm>
          <a:prstGeom prst="upArrow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ft Arrow 40"/>
          <p:cNvSpPr/>
          <p:nvPr/>
        </p:nvSpPr>
        <p:spPr>
          <a:xfrm>
            <a:off x="4005072" y="4224528"/>
            <a:ext cx="3017520" cy="310896"/>
          </a:xfrm>
          <a:prstGeom prst="leftArrow">
            <a:avLst/>
          </a:prstGeom>
          <a:solidFill>
            <a:srgbClr val="4A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4224528"/>
            <a:ext cx="2578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ourier New"/>
              </a:rPr>
              <a:t>repair loop · agentic · capped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5072" y="459028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6F52"/>
                </a:solidFill>
                <a:latin typeface="Arial"/>
              </a:rPr>
              <a:t>findings go back for that one requirement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074920"/>
            <a:ext cx="1090879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074920"/>
            <a:ext cx="38100" cy="658368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19379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A1F"/>
                </a:solidFill>
                <a:latin typeface="Arial"/>
              </a:rPr>
              <a:t>Dataset · metrics · MLflow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23036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Every run measured against hand-written expected answers, attributable to a model and a prompt, and replayable without calling the model again.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09DA8"/>
                </a:solidFill>
                <a:latin typeface="Courier New"/>
              </a:rPr>
              <a:t>Solid: inside the 26-week programme.   Dashed: a later phase.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09DA8"/>
                </a:solidFill>
                <a:latin typeface="Courier New"/>
              </a:rPr>
              <a:t>26 weeks · 14 workstreams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71800" y="1207008"/>
            <a:ext cx="65723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252728"/>
            <a:ext cx="65977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1574" y="1207008"/>
            <a:ext cx="1646897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1574" y="1252728"/>
            <a:ext cx="164943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Nov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1011" y="1207008"/>
            <a:ext cx="131701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1011" y="1252728"/>
            <a:ext cx="131955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Dec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561" y="1207008"/>
            <a:ext cx="1317009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561" y="1252728"/>
            <a:ext cx="131954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Jan 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110" y="1207008"/>
            <a:ext cx="131701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110" y="1252728"/>
            <a:ext cx="131955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Feb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9660" y="1207008"/>
            <a:ext cx="1646897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9660" y="1252728"/>
            <a:ext cx="164943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Mar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89097" y="1207008"/>
            <a:ext cx="657235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9097" y="1252728"/>
            <a:ext cx="659775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C6A76"/>
                </a:solidFill>
                <a:latin typeface="Courier New"/>
              </a:rPr>
              <a:t>Apr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627632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Kickoff and 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600200"/>
            <a:ext cx="327347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1600200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947" y="1641348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Intermediate representation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01687" y="1901952"/>
            <a:ext cx="657234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01687" y="1901952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7887" y="1943100"/>
            <a:ext cx="65723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W2-3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231136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SysML transcription + consistency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1462" y="2203704"/>
            <a:ext cx="987122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61462" y="2203704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7662" y="2244852"/>
            <a:ext cx="9871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W4-6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53288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Dataset generation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1124" y="2505456"/>
            <a:ext cx="987122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51124" y="2505456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7324" y="2546604"/>
            <a:ext cx="9871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W7-9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834640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Christmas · experiment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0786" y="2807208"/>
            <a:ext cx="657234" cy="265176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0786" y="2807208"/>
            <a:ext cx="31750" cy="265176"/>
          </a:xfrm>
          <a:prstGeom prst="rect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16986" y="2848356"/>
            <a:ext cx="65723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A97A2"/>
                </a:solidFill>
                <a:latin typeface="Courier New"/>
              </a:rPr>
              <a:t>W10-11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136392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Metrics and 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0561" y="3108960"/>
            <a:ext cx="327347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00561" y="3108960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78708" y="3150108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438144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Extraction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30448" y="3410712"/>
            <a:ext cx="657234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30448" y="3410712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06648" y="3451860"/>
            <a:ext cx="65723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W13-14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739896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Repair loop + evaluation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90223" y="3712464"/>
            <a:ext cx="657234" cy="265176"/>
          </a:xfrm>
          <a:prstGeom prst="rect">
            <a:avLst/>
          </a:prstGeom>
          <a:solidFill>
            <a:srgbClr val="DD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90223" y="3712464"/>
            <a:ext cx="31750" cy="265176"/>
          </a:xfrm>
          <a:prstGeom prst="rect">
            <a:avLst/>
          </a:prstGeom>
          <a:solidFill>
            <a:srgbClr val="4A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6423" y="3753612"/>
            <a:ext cx="65723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A6F52"/>
                </a:solidFill>
                <a:latin typeface="Courier New"/>
              </a:rPr>
              <a:t>W15-16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04164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Polarion ingest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49998" y="4014216"/>
            <a:ext cx="987122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9998" y="4014216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6198" y="4055364"/>
            <a:ext cx="9871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W17-19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343400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Entity registry and resolution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9660" y="4315968"/>
            <a:ext cx="657234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9660" y="4315968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15860" y="4357116"/>
            <a:ext cx="65723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W20-21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645152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Model update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99435" y="4617720"/>
            <a:ext cx="327347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99435" y="4617720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77582" y="4658868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4946904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Cameo export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29322" y="4919472"/>
            <a:ext cx="327347" cy="265176"/>
          </a:xfrm>
          <a:prstGeom prst="rect">
            <a:avLst/>
          </a:prstGeom>
          <a:solidFill>
            <a:srgbClr val="F6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29322" y="4919472"/>
            <a:ext cx="31750" cy="265176"/>
          </a:xfrm>
          <a:prstGeom prst="rect">
            <a:avLst/>
          </a:prstGeom>
          <a:solidFill>
            <a:srgbClr val="B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07469" y="496062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06A1F"/>
                </a:solidFill>
                <a:latin typeface="Courier New"/>
              </a:rPr>
              <a:t>W23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248656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Hardening and pilot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59209" y="5221224"/>
            <a:ext cx="657234" cy="26517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59209" y="5221224"/>
            <a:ext cx="31750" cy="26517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35409" y="5262372"/>
            <a:ext cx="65723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F8F"/>
                </a:solidFill>
                <a:latin typeface="Courier New"/>
              </a:rPr>
              <a:t>W24-25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55040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141A1F"/>
                </a:solidFill>
                <a:latin typeface="Arial"/>
              </a:rPr>
              <a:t>Buffer and handover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18984" y="5522976"/>
            <a:ext cx="327347" cy="265176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218984" y="5522976"/>
            <a:ext cx="31750" cy="265176"/>
          </a:xfrm>
          <a:prstGeom prst="rect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87464" y="5564124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A97A2"/>
                </a:solidFill>
                <a:latin typeface="Courier New"/>
              </a:rPr>
              <a:t>W26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6062472"/>
            <a:ext cx="10908792" cy="9525"/>
          </a:xfrm>
          <a:prstGeom prst="rect">
            <a:avLst/>
          </a:prstGeom>
          <a:solidFill>
            <a:srgbClr val="D5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" y="6249924"/>
            <a:ext cx="237744" cy="128016"/>
          </a:xfrm>
          <a:prstGeom prst="rect">
            <a:avLst/>
          </a:prstGeom>
          <a:solidFill>
            <a:srgbClr val="DB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0080" y="6249924"/>
            <a:ext cx="31750" cy="12801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0976" y="6208776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6"/>
                </a:solidFill>
                <a:latin typeface="Courier New"/>
              </a:rPr>
              <a:t>pipeline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21408" y="6249924"/>
            <a:ext cx="237744" cy="128016"/>
          </a:xfrm>
          <a:prstGeom prst="rect">
            <a:avLst/>
          </a:prstGeom>
          <a:solidFill>
            <a:srgbClr val="DD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121408" y="6249924"/>
            <a:ext cx="31750" cy="128016"/>
          </a:xfrm>
          <a:prstGeom prst="rect">
            <a:avLst/>
          </a:prstGeom>
          <a:solidFill>
            <a:srgbClr val="4A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32304" y="6208776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6"/>
                </a:solidFill>
                <a:latin typeface="Courier New"/>
              </a:rPr>
              <a:t>agentic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02736" y="6249924"/>
            <a:ext cx="237744" cy="128016"/>
          </a:xfrm>
          <a:prstGeom prst="rect">
            <a:avLst/>
          </a:prstGeom>
          <a:solidFill>
            <a:srgbClr val="F6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02736" y="6249924"/>
            <a:ext cx="31750" cy="128016"/>
          </a:xfrm>
          <a:prstGeom prst="rect">
            <a:avLst/>
          </a:prstGeom>
          <a:solidFill>
            <a:srgbClr val="B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13632" y="6208776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6"/>
                </a:solidFill>
                <a:latin typeface="Courier New"/>
              </a:rPr>
              <a:t>Cameo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84064" y="6249924"/>
            <a:ext cx="237744" cy="128016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84064" y="6249924"/>
            <a:ext cx="31750" cy="128016"/>
          </a:xfrm>
          <a:prstGeom prst="rect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0" y="6208776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6"/>
                </a:solidFill>
                <a:latin typeface="Courier New"/>
              </a:rPr>
              <a:t>reduced capacity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6153912"/>
            <a:ext cx="5148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F6F8F"/>
                </a:solidFill>
                <a:latin typeface="Courier New"/>
              </a:rPr>
              <a:t>26 calendar weeks  →  23.7 engineer-weeks</a:t>
            </a:r>
          </a:p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A76"/>
                </a:solidFill>
                <a:latin typeface="Arial"/>
              </a:rPr>
              <a:t>Christmas ≈ half a week of capacity · Easter costs 26 and 29 March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F6F8F"/>
                </a:solidFill>
                <a:latin typeface="Courier New"/>
              </a:rPr>
              <a:t>PHASE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5720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41A1F"/>
                </a:solidFill>
                <a:latin typeface="Courier New"/>
              </a:rPr>
              <a:t>W1 - W6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A76"/>
                </a:solidFill>
                <a:latin typeface="Courier New"/>
              </a:rPr>
              <a:t>21 Oct - 27 Nov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6"/>
                </a:solidFill>
                <a:latin typeface="Arial"/>
              </a:rPr>
              <a:t>Nothing here involves an LLM. The schema is the contract; get it signed 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126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8100" cy="1267968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9397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21-23 Oct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93976"/>
            <a:ext cx="466344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Kickoff and scope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Pick the 20-50 requirements for the dataset; book the MBSE engineer.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093976"/>
            <a:ext cx="40233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Requirement ids written down, MBSE time in a calendar.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35096"/>
            <a:ext cx="10908792" cy="126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35096"/>
            <a:ext cx="38100" cy="1267968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31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W2-3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26 Oct - 6 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563112"/>
            <a:ext cx="466344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Intermediate representation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Pydantic schema, cross-reference validation, V1/V2 scope boundary — defined with the MBSE engineer. Same sessions: agree the architecture consistency rules. “What makes a model inconsistent in your world?” costs nothing extra while they are already in the 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563112"/>
            <a:ext cx="40233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The MBSE engineer has signed off the schema and a written list of consistency rules. It is the contract between extraction and rendering — everything downstream breaks if it changes later.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04232"/>
            <a:ext cx="10908792" cy="126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04232"/>
            <a:ext cx="38100" cy="1267968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322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W4-6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9 - 27 Nov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032248"/>
            <a:ext cx="466344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SysML transcription + consistency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IR → .sysml, deterministic output, the validator wired into CI, plus the architecture consistency rules agreed in W2-3.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032248"/>
            <a:ext cx="40233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A hand-built IR renders and validates with zero diagnostics, in CI, no LLM involved. A deliberately inconsistent IR is rejected with a named reason per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F6F8F"/>
                </a:solidFill>
                <a:latin typeface="Courier New"/>
              </a:rPr>
              <a:t>PHASE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Dataset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5720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41A1F"/>
                </a:solidFill>
                <a:latin typeface="Courier New"/>
              </a:rPr>
              <a:t>W7 - W12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A76"/>
                </a:solidFill>
                <a:latin typeface="Courier New"/>
              </a:rPr>
              <a:t>30 Nov - 8 Jan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6"/>
                </a:solidFill>
                <a:latin typeface="Arial"/>
              </a:rPr>
              <a:t>The expected answers, and the thing that scores them — both before anything generates.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126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8100" cy="1267968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9397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W7-9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30 Nov - 18 Dec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93976"/>
            <a:ext cx="466344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Dataset generation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Hand-written IR for the W1 requirements: limits, interfaces, ranges, negatives and non-modelables. Every entry rendered and validated as it is written.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093976"/>
            <a:ext cx="40233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30-50 requirements with reviewed expected IR, all validating, usable as a test fixture.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35096"/>
            <a:ext cx="10908792" cy="126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35096"/>
            <a:ext cx="38100" cy="1267968"/>
          </a:xfrm>
          <a:prstGeom prst="rect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31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A97A2"/>
                </a:solidFill>
                <a:latin typeface="Courier New"/>
              </a:rPr>
              <a:t>W10-11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21 Dec - 1 Jan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563112"/>
            <a:ext cx="466344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Christmas · experiment tracking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Budget half a week. MLflow, file-backed, plus langchain autolog. Self-contained, needs no LLM and no service — the right kind of holiday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563112"/>
            <a:ext cx="40233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A97A2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A run logs its params (model, prompt hash, dataset version, git SHA), its metrics and its artifacts, and the MLflow UI shows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04232"/>
            <a:ext cx="10908792" cy="126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04232"/>
            <a:ext cx="38100" cy="1267968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322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W12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4 - 8 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032248"/>
            <a:ext cx="466344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Metrics and evaluation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Subject accuracy, attribute and constraint precision/recall, modelable correctness, validation pass rate. Built against the dataset, before there is an extractor to flatter.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032248"/>
            <a:ext cx="40233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Scores the dataset against itself at 100%, a deliberately corrupted copy below that. Re-scoring an earlier run from its traces works without calling the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F6F8F"/>
                </a:solidFill>
                <a:latin typeface="Courier New"/>
              </a:rPr>
              <a:t>PHASE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5720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41A1F"/>
                </a:solidFill>
                <a:latin typeface="Courier New"/>
              </a:rPr>
              <a:t>W13 - W16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A76"/>
                </a:solidFill>
                <a:latin typeface="Courier New"/>
              </a:rPr>
              <a:t>11 Jan - 5 Feb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6"/>
                </a:solidFill>
                <a:latin typeface="Arial"/>
              </a:rPr>
              <a:t>How hard are our requirements, actually? First real answer, with nine weeks left to react.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8100" cy="200253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9397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W13-14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11 - 22 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93976"/>
            <a:ext cx="466344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Extraction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One structured-output LLM call per requirement.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093976"/>
            <a:ext cx="402336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The dataset runs end to end and produces IR without hand-editing. The W12 harness prints a baseline on the first run.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9664"/>
            <a:ext cx="10908792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9664"/>
            <a:ext cx="38100" cy="2002536"/>
          </a:xfrm>
          <a:prstGeom prst="rect">
            <a:avLst/>
          </a:prstGeom>
          <a:solidFill>
            <a:srgbClr val="4A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6F52"/>
                </a:solidFill>
                <a:latin typeface="Courier New"/>
              </a:rPr>
              <a:t>W15-16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25 Jan - 5 Feb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297680"/>
            <a:ext cx="466344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Repair loop + evaluation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The one agentic element: a conditional edge back to extraction, fed the IR validation errors and consistency findings for that one requirement, retry-capped. The second week is evaluation — does it help, and does it ever harm?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297680"/>
            <a:ext cx="402336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4A6F52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Pass rate and repair iterations before and after, on the dataset. The cap is never silently exceeded. No requirement scores worse after repair than before, measured against the expected 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F6F8F"/>
                </a:solidFill>
                <a:latin typeface="Courier New"/>
              </a:rPr>
              <a:t>PHASE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5720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41A1F"/>
                </a:solidFill>
                <a:latin typeface="Courier New"/>
              </a:rPr>
              <a:t>W17 - W23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A76"/>
                </a:solidFill>
                <a:latin typeface="Courier New"/>
              </a:rPr>
              <a:t>8 Feb - 26 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6"/>
                </a:solidFill>
                <a:latin typeface="Arial"/>
              </a:rPr>
              <a:t>Real requirements in, a model out, and the second run is an update rather than a replacement.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9006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8100" cy="90068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9397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W17-19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8 - 26 Feb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93976"/>
            <a:ext cx="466344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Polarion ingest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Auth, paging, caching, link roles, HTML stripping, work item → IR mapping. Populate Trace.revision, which W22 needs as its change 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093976"/>
            <a:ext cx="402336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Real work items produce a validated model with a hardcoded registry and no LLM. Every requirement carries its Polarion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7812"/>
            <a:ext cx="10908792" cy="9006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7812"/>
            <a:ext cx="38100" cy="90068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958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W20-21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1 - 12 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195828"/>
            <a:ext cx="466344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Entity registry and resolution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Seed from Polarion components or the product breakdown; merge “the pump” / “pump unit” / “P-101” into one part.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195828"/>
            <a:ext cx="402336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Subject resolution rate against an agreed target, no duplicate part def for a known entity, registry seeded rather than hand-written, and two runs produce identical names.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9664"/>
            <a:ext cx="10908792" cy="9006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69664"/>
            <a:ext cx="38100" cy="90068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W22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15 - 19 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297680"/>
            <a:ext cx="466344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Model update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Stable element identity, change detection against the previous run, and a diff report. Not a full merge into hand-edited models.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297680"/>
            <a:ext cx="402336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Running twice on unchanged input produces an empty diff. Changing one requirement produces a diff naming exactly that requirement and the elements it touches.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71516"/>
            <a:ext cx="10908792" cy="9006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271516"/>
            <a:ext cx="38100" cy="900684"/>
          </a:xfrm>
          <a:prstGeom prst="rect">
            <a:avLst/>
          </a:prstGeom>
          <a:solidFill>
            <a:srgbClr val="B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995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6A1F"/>
                </a:solidFill>
                <a:latin typeface="Courier New"/>
              </a:rPr>
              <a:t>W23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22 - 26 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399532"/>
            <a:ext cx="466344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Cameo export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One-way, whichever route the early spike picked. Manual import is an acceptable outcome. Karfreitag 26 Mar — four 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5399532"/>
            <a:ext cx="4023360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B06A1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Generated content opens in Cameo, correctly typed, with the Polarion id attached.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F6F8F"/>
                </a:solidFill>
                <a:latin typeface="Courier New"/>
              </a:rPr>
              <a:t>PHASE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A1F"/>
                </a:solidFill>
                <a:latin typeface="Arial"/>
              </a:rPr>
              <a:t>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5720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141A1F"/>
                </a:solidFill>
                <a:latin typeface="Courier New"/>
              </a:rPr>
              <a:t>W24 - W26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A76"/>
                </a:solidFill>
                <a:latin typeface="Courier New"/>
              </a:rPr>
              <a:t>29 Mar - 16 Apr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19050"/>
          </a:xfrm>
          <a:prstGeom prst="rect">
            <a:avLst/>
          </a:prstGeom>
          <a:solidFill>
            <a:srgbClr val="14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6"/>
                </a:solidFill>
                <a:latin typeface="Arial"/>
              </a:rPr>
              <a:t>Someone other than the author runs it, on the real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8100" cy="2002536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9397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8F"/>
                </a:solidFill>
                <a:latin typeface="Courier New"/>
              </a:rPr>
              <a:t>W24-25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29 Mar - 9 Apr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93976"/>
            <a:ext cx="466344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Hardening and pilot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Full real project, failure modes, run it with an engineer watching. Ostermontag 29 Mar — nine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093976"/>
            <a:ext cx="402336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2F6F8F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A full run completes, the report is trustworthy, and someone other than the author has used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9664"/>
            <a:ext cx="10908792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9664"/>
            <a:ext cx="38100" cy="2002536"/>
          </a:xfrm>
          <a:prstGeom prst="rect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A97A2"/>
                </a:solidFill>
                <a:latin typeface="Courier New"/>
              </a:rPr>
              <a:t>W26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909DA8"/>
                </a:solidFill>
                <a:latin typeface="Courier New"/>
              </a:rPr>
              <a:t>12 - 16 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297680"/>
            <a:ext cx="466344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A1F"/>
                </a:solidFill>
                <a:latin typeface="Arial"/>
              </a:rPr>
              <a:t>Buffer and handover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5C6A76"/>
                </a:solidFill>
                <a:latin typeface="Arial"/>
              </a:rPr>
              <a:t>Documentation, known limitations.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297680"/>
            <a:ext cx="402336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A97A2"/>
                </a:solidFill>
                <a:latin typeface="Courier New"/>
              </a:rPr>
              <a:t>DONE WHEN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41A1F"/>
                </a:solidFill>
                <a:latin typeface="Arial"/>
              </a:rPr>
              <a:t>Deliberately empty. If it is already spent by February, cut scope instead.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