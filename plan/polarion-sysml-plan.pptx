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41A1F"/>
                </a:solidFill>
                <a:latin typeface="Arial"/>
              </a:rPr>
              <a:t>Polarion → SysML v2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94760"/>
            <a:ext cx="2926080" cy="31750"/>
          </a:xfrm>
          <a:prstGeom prst="rect">
            <a:avLst/>
          </a:prstGeom>
          <a:solidFill>
            <a:srgbClr val="14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2F6F8F"/>
                </a:solidFill>
                <a:latin typeface="Courier New"/>
              </a:rPr>
              <a:t>21 October 2026  →  16 April 2027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A76"/>
                </a:solidFill>
                <a:latin typeface="Courier New"/>
              </a:rPr>
              <a:t>26 weeks  ·  one developer  ·  from a blank repository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A1F"/>
                </a:solidFill>
                <a:latin typeface="Arial"/>
              </a:rPr>
              <a:t>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217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09DA8"/>
                </a:solidFill>
                <a:latin typeface="Courier New"/>
              </a:rPr>
              <a:t>26 weeks · 14 workstreams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87552"/>
            <a:ext cx="10908792" cy="19050"/>
          </a:xfrm>
          <a:prstGeom prst="rect">
            <a:avLst/>
          </a:prstGeom>
          <a:solidFill>
            <a:srgbClr val="14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71800" y="1207008"/>
            <a:ext cx="65723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252728"/>
            <a:ext cx="65977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C6A76"/>
                </a:solidFill>
                <a:latin typeface="Courier New"/>
              </a:rPr>
              <a:t>Oct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31574" y="1207008"/>
            <a:ext cx="1646897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1574" y="1252728"/>
            <a:ext cx="1649437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C6A76"/>
                </a:solidFill>
                <a:latin typeface="Courier New"/>
              </a:rPr>
              <a:t>Nov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81011" y="1207008"/>
            <a:ext cx="131701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81011" y="1252728"/>
            <a:ext cx="13195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C6A76"/>
                </a:solidFill>
                <a:latin typeface="Courier New"/>
              </a:rPr>
              <a:t>Dec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561" y="1207008"/>
            <a:ext cx="1317009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0561" y="1252728"/>
            <a:ext cx="1319549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C6A76"/>
                </a:solidFill>
                <a:latin typeface="Courier New"/>
              </a:rPr>
              <a:t>Jan 2027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110" y="1207008"/>
            <a:ext cx="131701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110" y="1252728"/>
            <a:ext cx="13195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C6A76"/>
                </a:solidFill>
                <a:latin typeface="Courier New"/>
              </a:rPr>
              <a:t>Feb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9660" y="1207008"/>
            <a:ext cx="1646897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9660" y="1252728"/>
            <a:ext cx="1649437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C6A76"/>
                </a:solidFill>
                <a:latin typeface="Courier New"/>
              </a:rPr>
              <a:t>Mar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89097" y="1207008"/>
            <a:ext cx="657235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9097" y="1252728"/>
            <a:ext cx="659775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C6A76"/>
                </a:solidFill>
                <a:latin typeface="Courier New"/>
              </a:rPr>
              <a:t>Apr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627632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Kickoff and scope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1600200"/>
            <a:ext cx="327347" cy="26517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71800" y="1600200"/>
            <a:ext cx="31750" cy="26517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9947" y="1641348"/>
            <a:ext cx="6858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F6F8F"/>
                </a:solidFill>
                <a:latin typeface="Courier New"/>
              </a:rPr>
              <a:t>W1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1929384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Intermediate representation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01687" y="1901952"/>
            <a:ext cx="657234" cy="26517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01687" y="1901952"/>
            <a:ext cx="31750" cy="26517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77887" y="1943100"/>
            <a:ext cx="65723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F6F8F"/>
                </a:solidFill>
                <a:latin typeface="Courier New"/>
              </a:rPr>
              <a:t>W2-3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231136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SysML transcription + consistency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61462" y="2203704"/>
            <a:ext cx="987122" cy="26517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61462" y="2203704"/>
            <a:ext cx="31750" cy="26517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37662" y="2244852"/>
            <a:ext cx="98712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F6F8F"/>
                </a:solidFill>
                <a:latin typeface="Courier New"/>
              </a:rPr>
              <a:t>W4-6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532888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Dataset generation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51124" y="2505456"/>
            <a:ext cx="987122" cy="26517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51124" y="2505456"/>
            <a:ext cx="31750" cy="26517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7324" y="2546604"/>
            <a:ext cx="98712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F6F8F"/>
                </a:solidFill>
                <a:latin typeface="Courier New"/>
              </a:rPr>
              <a:t>W7-9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2834640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Christmas · experiment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0786" y="2807208"/>
            <a:ext cx="657234" cy="265176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40786" y="2807208"/>
            <a:ext cx="31750" cy="265176"/>
          </a:xfrm>
          <a:prstGeom prst="rect">
            <a:avLst/>
          </a:prstGeom>
          <a:solidFill>
            <a:srgbClr val="8A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16986" y="2848356"/>
            <a:ext cx="65723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A97A2"/>
                </a:solidFill>
                <a:latin typeface="Courier New"/>
              </a:rPr>
              <a:t>W10-11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136392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Metrics and evaluation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00561" y="3108960"/>
            <a:ext cx="327347" cy="26517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00561" y="3108960"/>
            <a:ext cx="31750" cy="26517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78708" y="3150108"/>
            <a:ext cx="6858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F6F8F"/>
                </a:solidFill>
                <a:latin typeface="Courier New"/>
              </a:rPr>
              <a:t>W12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438144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Extraction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30448" y="3410712"/>
            <a:ext cx="657234" cy="26517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930448" y="3410712"/>
            <a:ext cx="31750" cy="26517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06648" y="3451860"/>
            <a:ext cx="65723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F6F8F"/>
                </a:solidFill>
                <a:latin typeface="Courier New"/>
              </a:rPr>
              <a:t>W13-14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739896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Repair loop + evaluation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90223" y="3712464"/>
            <a:ext cx="657234" cy="265176"/>
          </a:xfrm>
          <a:prstGeom prst="rect">
            <a:avLst/>
          </a:prstGeom>
          <a:solidFill>
            <a:srgbClr val="DDE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590223" y="3712464"/>
            <a:ext cx="31750" cy="265176"/>
          </a:xfrm>
          <a:prstGeom prst="rect">
            <a:avLst/>
          </a:prstGeom>
          <a:solidFill>
            <a:srgbClr val="4A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66423" y="3753612"/>
            <a:ext cx="65723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4A6F52"/>
                </a:solidFill>
                <a:latin typeface="Courier New"/>
              </a:rPr>
              <a:t>W15-16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041648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Polarion ingest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49998" y="4014216"/>
            <a:ext cx="987122" cy="26517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49998" y="4014216"/>
            <a:ext cx="31750" cy="26517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26198" y="4055364"/>
            <a:ext cx="98712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F6F8F"/>
                </a:solidFill>
                <a:latin typeface="Courier New"/>
              </a:rPr>
              <a:t>W17-19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343400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Entity registry and resolution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39660" y="4315968"/>
            <a:ext cx="657234" cy="26517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39660" y="4315968"/>
            <a:ext cx="31750" cy="26517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15860" y="4357116"/>
            <a:ext cx="65723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F6F8F"/>
                </a:solidFill>
                <a:latin typeface="Courier New"/>
              </a:rPr>
              <a:t>W20-21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4645152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Model update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9435" y="4617720"/>
            <a:ext cx="327347" cy="26517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99435" y="4617720"/>
            <a:ext cx="31750" cy="26517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77582" y="4658868"/>
            <a:ext cx="6858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F6F8F"/>
                </a:solidFill>
                <a:latin typeface="Courier New"/>
              </a:rPr>
              <a:t>W22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4946904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Cameo export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229322" y="4919472"/>
            <a:ext cx="327347" cy="265176"/>
          </a:xfrm>
          <a:prstGeom prst="rect">
            <a:avLst/>
          </a:prstGeom>
          <a:solidFill>
            <a:srgbClr val="F6E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229322" y="4919472"/>
            <a:ext cx="31750" cy="265176"/>
          </a:xfrm>
          <a:prstGeom prst="rect">
            <a:avLst/>
          </a:prstGeom>
          <a:solidFill>
            <a:srgbClr val="B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607469" y="4960620"/>
            <a:ext cx="6858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06A1F"/>
                </a:solidFill>
                <a:latin typeface="Courier New"/>
              </a:rPr>
              <a:t>W23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248656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Hardening and pilot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59209" y="5221224"/>
            <a:ext cx="657234" cy="26517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59209" y="5221224"/>
            <a:ext cx="31750" cy="26517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35409" y="5262372"/>
            <a:ext cx="65723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F6F8F"/>
                </a:solidFill>
                <a:latin typeface="Courier New"/>
              </a:rPr>
              <a:t>W24-25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5550408"/>
            <a:ext cx="2240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141A1F"/>
                </a:solidFill>
                <a:latin typeface="Arial"/>
              </a:rPr>
              <a:t>Buffer and handover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218984" y="5522976"/>
            <a:ext cx="327347" cy="265176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218984" y="5522976"/>
            <a:ext cx="31750" cy="265176"/>
          </a:xfrm>
          <a:prstGeom prst="rect">
            <a:avLst/>
          </a:prstGeom>
          <a:solidFill>
            <a:srgbClr val="8A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87464" y="5564124"/>
            <a:ext cx="6583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8A97A2"/>
                </a:solidFill>
                <a:latin typeface="Courier New"/>
              </a:rPr>
              <a:t>W26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" y="6062472"/>
            <a:ext cx="10908792" cy="9525"/>
          </a:xfrm>
          <a:prstGeom prst="rect">
            <a:avLst/>
          </a:prstGeom>
          <a:solidFill>
            <a:srgbClr val="D5D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0080" y="6249924"/>
            <a:ext cx="237744" cy="128016"/>
          </a:xfrm>
          <a:prstGeom prst="rect">
            <a:avLst/>
          </a:prstGeom>
          <a:solidFill>
            <a:srgbClr val="DB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40080" y="6249924"/>
            <a:ext cx="31750" cy="12801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0976" y="6208776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A76"/>
                </a:solidFill>
                <a:latin typeface="Courier New"/>
              </a:rPr>
              <a:t>pipeline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121408" y="6249924"/>
            <a:ext cx="237744" cy="128016"/>
          </a:xfrm>
          <a:prstGeom prst="rect">
            <a:avLst/>
          </a:prstGeom>
          <a:solidFill>
            <a:srgbClr val="DDE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121408" y="6249924"/>
            <a:ext cx="31750" cy="128016"/>
          </a:xfrm>
          <a:prstGeom prst="rect">
            <a:avLst/>
          </a:prstGeom>
          <a:solidFill>
            <a:srgbClr val="4A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432304" y="6208776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A76"/>
                </a:solidFill>
                <a:latin typeface="Courier New"/>
              </a:rPr>
              <a:t>agentic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02736" y="6249924"/>
            <a:ext cx="237744" cy="128016"/>
          </a:xfrm>
          <a:prstGeom prst="rect">
            <a:avLst/>
          </a:prstGeom>
          <a:solidFill>
            <a:srgbClr val="F6E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602736" y="6249924"/>
            <a:ext cx="31750" cy="128016"/>
          </a:xfrm>
          <a:prstGeom prst="rect">
            <a:avLst/>
          </a:prstGeom>
          <a:solidFill>
            <a:srgbClr val="B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913632" y="6208776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A76"/>
                </a:solidFill>
                <a:latin typeface="Courier New"/>
              </a:rPr>
              <a:t>Cameo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84064" y="6249924"/>
            <a:ext cx="237744" cy="128016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84064" y="6249924"/>
            <a:ext cx="31750" cy="128016"/>
          </a:xfrm>
          <a:prstGeom prst="rect">
            <a:avLst/>
          </a:prstGeom>
          <a:solidFill>
            <a:srgbClr val="8A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394960" y="6208776"/>
            <a:ext cx="13716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6A76"/>
                </a:solidFill>
                <a:latin typeface="Courier New"/>
              </a:rPr>
              <a:t>reduced capacity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0" y="6153912"/>
            <a:ext cx="51480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F6F8F"/>
                </a:solidFill>
                <a:latin typeface="Courier New"/>
              </a:rPr>
              <a:t>26 calendar weeks  →  23.7 engineer-weeks</a:t>
            </a:r>
          </a:p>
          <a:p>
            <a:pPr algn="r">
              <a:lnSpc>
                <a:spcPct val="100000"/>
              </a:lnSpc>
            </a:pPr>
            <a:r>
              <a:rPr sz="950" b="0">
                <a:solidFill>
                  <a:srgbClr val="5C6A76"/>
                </a:solidFill>
                <a:latin typeface="Arial"/>
              </a:rPr>
              <a:t>Christmas ≈ half a week of capacity · Easter costs 26 and 29 March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2F6F8F"/>
                </a:solidFill>
                <a:latin typeface="Courier New"/>
              </a:rPr>
              <a:t>PHASE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A1F"/>
                </a:solidFill>
                <a:latin typeface="Arial"/>
              </a:rPr>
              <a:t>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57200"/>
            <a:ext cx="304495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141A1F"/>
                </a:solidFill>
                <a:latin typeface="Courier New"/>
              </a:rPr>
              <a:t>W1 - W6</a:t>
            </a:r>
          </a:p>
          <a:p>
            <a:pPr algn="r">
              <a:lnSpc>
                <a:spcPct val="100000"/>
              </a:lnSpc>
            </a:pPr>
            <a:r>
              <a:rPr sz="1050" b="0">
                <a:solidFill>
                  <a:srgbClr val="5C6A76"/>
                </a:solidFill>
                <a:latin typeface="Courier New"/>
              </a:rPr>
              <a:t>21 Oct - 27 Nov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908792" cy="19050"/>
          </a:xfrm>
          <a:prstGeom prst="rect">
            <a:avLst/>
          </a:prstGeom>
          <a:solidFill>
            <a:srgbClr val="14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C6A76"/>
                </a:solidFill>
                <a:latin typeface="Arial"/>
              </a:rPr>
              <a:t>Nothing here involves an LLM. The schema is the contract; get it signed 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908792" cy="12679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38100" cy="1267968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93976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F8F"/>
                </a:solidFill>
                <a:latin typeface="Courier New"/>
              </a:rPr>
              <a:t>W1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21-23 Oct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093976"/>
            <a:ext cx="466344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Kickoff and scope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Pick the 20-50 requirements for the dataset; book the MBSE engineer.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093976"/>
            <a:ext cx="402336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2F6F8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Requirement ids written down, MBSE time in a calendar.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35096"/>
            <a:ext cx="10908792" cy="12679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435096"/>
            <a:ext cx="38100" cy="1267968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3112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F8F"/>
                </a:solidFill>
                <a:latin typeface="Courier New"/>
              </a:rPr>
              <a:t>W2-3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26 Oct - 6 Nov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563112"/>
            <a:ext cx="466344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Intermediate representation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Pydantic schema, cross-reference validation, V1/V2 scope boundary — defined with the MBSE engineer. Same sessions: agree the architecture consistency rules. “What makes a model inconsistent in your world?” costs nothing extra while they are already in the room.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3563112"/>
            <a:ext cx="402336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2F6F8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The MBSE engineer has signed off the schema and a written list of consistency rules. It is the contract between extraction and rendering — everything downstream breaks if it changes later.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04232"/>
            <a:ext cx="10908792" cy="12679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04232"/>
            <a:ext cx="38100" cy="1267968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32248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F8F"/>
                </a:solidFill>
                <a:latin typeface="Courier New"/>
              </a:rPr>
              <a:t>W4-6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9 - 27 Nov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5032248"/>
            <a:ext cx="466344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SysML transcription + consistency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IR → .sysml, deterministic output, the validator wired into CI, plus the architecture consistency rules agreed in W2-3.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5032248"/>
            <a:ext cx="402336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2F6F8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A hand-built IR renders and validates with zero diagnostics, in CI, no LLM involved. A deliberately inconsistent IR is rejected with a named reason per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2F6F8F"/>
                </a:solidFill>
                <a:latin typeface="Courier New"/>
              </a:rPr>
              <a:t>PHASE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A1F"/>
                </a:solidFill>
                <a:latin typeface="Arial"/>
              </a:rPr>
              <a:t>Dataset and 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57200"/>
            <a:ext cx="304495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141A1F"/>
                </a:solidFill>
                <a:latin typeface="Courier New"/>
              </a:rPr>
              <a:t>W7 - W12</a:t>
            </a:r>
          </a:p>
          <a:p>
            <a:pPr algn="r">
              <a:lnSpc>
                <a:spcPct val="100000"/>
              </a:lnSpc>
            </a:pPr>
            <a:r>
              <a:rPr sz="1050" b="0">
                <a:solidFill>
                  <a:srgbClr val="5C6A76"/>
                </a:solidFill>
                <a:latin typeface="Courier New"/>
              </a:rPr>
              <a:t>30 Nov - 8 Jan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908792" cy="19050"/>
          </a:xfrm>
          <a:prstGeom prst="rect">
            <a:avLst/>
          </a:prstGeom>
          <a:solidFill>
            <a:srgbClr val="14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C6A76"/>
                </a:solidFill>
                <a:latin typeface="Arial"/>
              </a:rPr>
              <a:t>The expected answers, and the thing that scores them — both before anything generates.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908792" cy="12679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38100" cy="1267968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93976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F8F"/>
                </a:solidFill>
                <a:latin typeface="Courier New"/>
              </a:rPr>
              <a:t>W7-9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30 Nov - 18 Dec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093976"/>
            <a:ext cx="466344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Dataset generation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Hand-written IR for the W1 requirements: limits, interfaces, ranges, negatives and non-modelables. Every entry rendered and validated as it is written.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093976"/>
            <a:ext cx="402336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2F6F8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30-50 requirements with reviewed expected IR, all validating, usable as a test fixture.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35096"/>
            <a:ext cx="10908792" cy="12679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435096"/>
            <a:ext cx="38100" cy="1267968"/>
          </a:xfrm>
          <a:prstGeom prst="rect">
            <a:avLst/>
          </a:prstGeom>
          <a:solidFill>
            <a:srgbClr val="8A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3112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A97A2"/>
                </a:solidFill>
                <a:latin typeface="Courier New"/>
              </a:rPr>
              <a:t>W10-11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21 Dec - 1 Jan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563112"/>
            <a:ext cx="466344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Christmas · experiment tracking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Budget half a week. MLflow, file-backed, plus langchain autolog. Self-contained, needs no LLM and no service — the right kind of holiday 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3563112"/>
            <a:ext cx="402336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8A97A2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A run logs its params (model, prompt hash, dataset version, git SHA), its metrics and its artifacts, and the MLflow UI shows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04232"/>
            <a:ext cx="10908792" cy="12679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04232"/>
            <a:ext cx="38100" cy="1267968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32248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F8F"/>
                </a:solidFill>
                <a:latin typeface="Courier New"/>
              </a:rPr>
              <a:t>W12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4 - 8 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5032248"/>
            <a:ext cx="466344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Metrics and evaluation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Subject accuracy, attribute and constraint precision/recall, modelable correctness, validation pass rate. Built against the dataset, before there is an extractor to flatter.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5032248"/>
            <a:ext cx="402336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2F6F8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Scores the dataset against itself at 100%, a deliberately corrupted copy below that. Re-scoring an earlier run from its traces works without calling the LLM.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2F6F8F"/>
                </a:solidFill>
                <a:latin typeface="Courier New"/>
              </a:rPr>
              <a:t>PHASE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A1F"/>
                </a:solidFill>
                <a:latin typeface="Arial"/>
              </a:rPr>
              <a:t>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57200"/>
            <a:ext cx="304495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141A1F"/>
                </a:solidFill>
                <a:latin typeface="Courier New"/>
              </a:rPr>
              <a:t>W13 - W16</a:t>
            </a:r>
          </a:p>
          <a:p>
            <a:pPr algn="r">
              <a:lnSpc>
                <a:spcPct val="100000"/>
              </a:lnSpc>
            </a:pPr>
            <a:r>
              <a:rPr sz="1050" b="0">
                <a:solidFill>
                  <a:srgbClr val="5C6A76"/>
                </a:solidFill>
                <a:latin typeface="Courier New"/>
              </a:rPr>
              <a:t>11 Jan - 5 Feb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908792" cy="19050"/>
          </a:xfrm>
          <a:prstGeom prst="rect">
            <a:avLst/>
          </a:prstGeom>
          <a:solidFill>
            <a:srgbClr val="14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C6A76"/>
                </a:solidFill>
                <a:latin typeface="Arial"/>
              </a:rPr>
              <a:t>How hard are our requirements, actually? First real answer, with nine weeks left to react.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908792" cy="20025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38100" cy="200253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93976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F8F"/>
                </a:solidFill>
                <a:latin typeface="Courier New"/>
              </a:rPr>
              <a:t>W13-14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11 - 22 Jan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093976"/>
            <a:ext cx="4663440" cy="1801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Extraction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One structured-output LLM call per requirement.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093976"/>
            <a:ext cx="4023360" cy="1801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2F6F8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The dataset runs end to end and produces IR without hand-editing. The W12 harness prints a baseline on the first run.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169664"/>
            <a:ext cx="10908792" cy="20025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169664"/>
            <a:ext cx="38100" cy="2002536"/>
          </a:xfrm>
          <a:prstGeom prst="rect">
            <a:avLst/>
          </a:prstGeom>
          <a:solidFill>
            <a:srgbClr val="4A6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6F52"/>
                </a:solidFill>
                <a:latin typeface="Courier New"/>
              </a:rPr>
              <a:t>W15-16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25 Jan - 5 Feb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4297680"/>
            <a:ext cx="4663440" cy="1801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Repair loop + evaluation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The one agentic element: a conditional edge back to extraction, fed the IR validation errors and consistency findings for that one requirement, retry-capped. The second week is evaluation — does it help, and does it ever harm?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4297680"/>
            <a:ext cx="4023360" cy="1801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4A6F52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Pass rate and repair iterations before and after, on the dataset. The cap is never silently exceeded. No requirement scores worse after repair than before, measured against the expected 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2F6F8F"/>
                </a:solidFill>
                <a:latin typeface="Courier New"/>
              </a:rPr>
              <a:t>PHASE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A1F"/>
                </a:solidFill>
                <a:latin typeface="Arial"/>
              </a:rPr>
              <a:t>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57200"/>
            <a:ext cx="304495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141A1F"/>
                </a:solidFill>
                <a:latin typeface="Courier New"/>
              </a:rPr>
              <a:t>W17 - W23</a:t>
            </a:r>
          </a:p>
          <a:p>
            <a:pPr algn="r">
              <a:lnSpc>
                <a:spcPct val="100000"/>
              </a:lnSpc>
            </a:pPr>
            <a:r>
              <a:rPr sz="1050" b="0">
                <a:solidFill>
                  <a:srgbClr val="5C6A76"/>
                </a:solidFill>
                <a:latin typeface="Courier New"/>
              </a:rPr>
              <a:t>8 Feb - 26 Mar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908792" cy="19050"/>
          </a:xfrm>
          <a:prstGeom prst="rect">
            <a:avLst/>
          </a:prstGeom>
          <a:solidFill>
            <a:srgbClr val="14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C6A76"/>
                </a:solidFill>
                <a:latin typeface="Arial"/>
              </a:rPr>
              <a:t>Real requirements in, a model out, and the second run is an update rather than a replacement.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908792" cy="9006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38100" cy="90068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93976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F8F"/>
                </a:solidFill>
                <a:latin typeface="Courier New"/>
              </a:rPr>
              <a:t>W17-19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8 - 26 Feb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093976"/>
            <a:ext cx="4663440" cy="699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Polarion ingest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Auth, paging, caching, link roles, HTML stripping, work item → IR mapping. Populate Trace.revision, which W22 needs as its change signal.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093976"/>
            <a:ext cx="4023360" cy="699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2F6F8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Real work items produce a validated model with a hardcoded registry and no LLM. Every requirement carries its Polarion revision.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67812"/>
            <a:ext cx="10908792" cy="9006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67812"/>
            <a:ext cx="38100" cy="90068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195828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F8F"/>
                </a:solidFill>
                <a:latin typeface="Courier New"/>
              </a:rPr>
              <a:t>W20-21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1 - 12 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195828"/>
            <a:ext cx="4663440" cy="699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Entity registry and resolution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Seed from Polarion components or the product breakdown; merge “the pump” / “pump unit” / “P-101” into one part.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3195828"/>
            <a:ext cx="4023360" cy="699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2F6F8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Subject resolution rate against an agreed target, no duplicate part def for a known entity, registry seeded rather than hand-written, and two runs produce identical names.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69664"/>
            <a:ext cx="10908792" cy="9006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169664"/>
            <a:ext cx="38100" cy="900684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976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F8F"/>
                </a:solidFill>
                <a:latin typeface="Courier New"/>
              </a:rPr>
              <a:t>W22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15 - 19 Mar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297680"/>
            <a:ext cx="4663440" cy="699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Model update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Stable element identity, change detection against the previous run, and a diff report. Not a full merge into hand-edited models.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4297680"/>
            <a:ext cx="4023360" cy="699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2F6F8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Running twice on unchanged input produces an empty diff. Changing one requirement produces a diff naming exactly that requirement and the elements it touches.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271516"/>
            <a:ext cx="10908792" cy="9006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271516"/>
            <a:ext cx="38100" cy="900684"/>
          </a:xfrm>
          <a:prstGeom prst="rect">
            <a:avLst/>
          </a:prstGeom>
          <a:solidFill>
            <a:srgbClr val="B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99532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06A1F"/>
                </a:solidFill>
                <a:latin typeface="Courier New"/>
              </a:rPr>
              <a:t>W23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22 - 26 Mar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5399532"/>
            <a:ext cx="4663440" cy="699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Cameo export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One-way, whichever route the early spike picked. Manual import is an acceptable outcome. Karfreitag 26 Mar — four days.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5399532"/>
            <a:ext cx="4023360" cy="699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B06A1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Generated content opens in Cameo, correctly typed, with the Polarion id attached.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2F6F8F"/>
                </a:solidFill>
                <a:latin typeface="Courier New"/>
              </a:rPr>
              <a:t>PHASE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A1F"/>
                </a:solidFill>
                <a:latin typeface="Arial"/>
              </a:rPr>
              <a:t>Landing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57200"/>
            <a:ext cx="304495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141A1F"/>
                </a:solidFill>
                <a:latin typeface="Courier New"/>
              </a:rPr>
              <a:t>W24 - W26</a:t>
            </a:r>
          </a:p>
          <a:p>
            <a:pPr algn="r">
              <a:lnSpc>
                <a:spcPct val="100000"/>
              </a:lnSpc>
            </a:pPr>
            <a:r>
              <a:rPr sz="1050" b="0">
                <a:solidFill>
                  <a:srgbClr val="5C6A76"/>
                </a:solidFill>
                <a:latin typeface="Courier New"/>
              </a:rPr>
              <a:t>29 Mar - 16 Apr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908792" cy="19050"/>
          </a:xfrm>
          <a:prstGeom prst="rect">
            <a:avLst/>
          </a:prstGeom>
          <a:solidFill>
            <a:srgbClr val="141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C6A76"/>
                </a:solidFill>
                <a:latin typeface="Arial"/>
              </a:rPr>
              <a:t>Someone other than the author runs it, on the real project.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908792" cy="20025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38100" cy="2002536"/>
          </a:xfrm>
          <a:prstGeom prst="rect">
            <a:avLst/>
          </a:prstGeom>
          <a:solidFill>
            <a:srgbClr val="2F6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93976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F6F8F"/>
                </a:solidFill>
                <a:latin typeface="Courier New"/>
              </a:rPr>
              <a:t>W24-25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29 Mar - 9 Apr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093976"/>
            <a:ext cx="4663440" cy="1801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Hardening and pilot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Full real project, failure modes, run it with an engineer watching. Ostermontag 29 Mar — nine days.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093976"/>
            <a:ext cx="4023360" cy="1801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2F6F8F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A full run completes, the report is trustworthy, and someone other than the author has used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169664"/>
            <a:ext cx="10908792" cy="20025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169664"/>
            <a:ext cx="38100" cy="2002536"/>
          </a:xfrm>
          <a:prstGeom prst="rect">
            <a:avLst/>
          </a:prstGeom>
          <a:solidFill>
            <a:srgbClr val="8A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A97A2"/>
                </a:solidFill>
                <a:latin typeface="Courier New"/>
              </a:rPr>
              <a:t>W26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909DA8"/>
                </a:solidFill>
                <a:latin typeface="Courier New"/>
              </a:rPr>
              <a:t>12 - 16 Apr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4297680"/>
            <a:ext cx="4663440" cy="1801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41A1F"/>
                </a:solidFill>
                <a:latin typeface="Arial"/>
              </a:rPr>
              <a:t>Buffer and handover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5C6A76"/>
                </a:solidFill>
                <a:latin typeface="Arial"/>
              </a:rPr>
              <a:t>Documentation, known limitations.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4297680"/>
            <a:ext cx="4023360" cy="1801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8A97A2"/>
                </a:solidFill>
                <a:latin typeface="Courier New"/>
              </a:rPr>
              <a:t>DONE WHEN</a:t>
            </a:r>
          </a:p>
          <a:p>
            <a:pPr algn="l">
              <a:lnSpc>
                <a:spcPct val="108000"/>
              </a:lnSpc>
            </a:pPr>
            <a:r>
              <a:rPr sz="1000" b="0">
                <a:solidFill>
                  <a:srgbClr val="141A1F"/>
                </a:solidFill>
                <a:latin typeface="Arial"/>
              </a:rPr>
              <a:t>Deliberately empty. If it is already spent by February, cut scope instead.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