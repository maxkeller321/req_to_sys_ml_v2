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65" r:id="rId18"/>
    <p:sldId id="258" r:id="rId4"/>
    <p:sldId id="266" r:id="rId19"/>
    <p:sldId id="259" r:id="rId5"/>
    <p:sldId id="260" r:id="rId6"/>
    <p:sldId id="261" r:id="rId7"/>
    <p:sldId id="267" r:id="rId20"/>
    <p:sldId id="268" r:id="rId21"/>
    <p:sldId id="262" r:id="rId8"/>
    <p:sldId id="263" r:id="rId9"/>
    <p:sldId id="269" r:id="rId22"/>
    <p:sldId id="264" r:id="rId10"/>
  </p:sldIdLst>
  <p:notesMasterIdLst>
    <p:notesMasterId r:id="rId11"/>
  </p:notesMasterIdLst>
  <p:sldSz cx="12192000" cy="6858000"/>
  <p:notesSz cx="6858000" cy="12192000"/>
  <p:embeddedFontLst>
    <p:embeddedFont>
      <p:font typeface="JetBrains Mono" panose="02000009000000000000" pitchFamily="49"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generate and maintain SysML v2 architecture models from Polarion requirements, step by step, with a human approving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walks down the decomposition: functions first, then logical blocks, then technical blocks. Each step runs the same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never sees the whole model: only the requirements relevant to this level, each tagged with its change status, plus the current architecture of this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 names and requirement IDs in the code are placeholders. The human stays in control: nothing enters the model without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want to end up. The MVP section shows which of these six points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Target-state item 4. Keeps the LLM output small and structured; the SysML v2 syntax is produced in a separate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marked open are still to be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MVP covers exactly two levels and stops completely after L3.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hybrid is also possible: extend existing functions by default, and regroup only when a batch of new requirements does not fit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 context for one level Ly: what comes in from the level above, the three activities (derive, decompose, deploy), which Polarion links connect requirements and functions, and where the results are stored. The MVP automates the steps from R_Ly onwards.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MVP the only automatic check is SysML v2 validity: the generated code must parse. Parser errors go back to the LLM, which corrects only what is reported. The loop is capped; after N attempts the last version goes to human review together with the open errors. The other validators discussed (scope, grounding, refines consistency, conflicts) come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target architecture for the refines step on one level (R_Ly refines F_Ly) in an existing model. Steps 1-2 are deterministic. Step 3 handles requirements without a refines link or whose text changed: the LLM proposes; a human review is optional and can be limited to new functions or low-confidence proposals. The resulting link is written back to Polarion so Polarion stays the source of truth.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4-9 of the target process. Only step 5 uses the LLM; validation findings loop back to step 5. Step 9 turns the change into work for the next steps: decompose on this level, decompose on the level above for new functions, and tests via verified-by.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Realistic within two months if access is in place in week 1, the pilot is one subsystem whose model is already SysML v2, and an engineer can review about two hours per week. Weeks 1-2 build the deterministic read and compare part; weeks 3-4 build the generation and validity-check loop on the function view and end with the first reviewed diff (M1); weeks 5-6 reuse the same loop for the logical and technical views; week 7 measures end-to-end; week 8 is buffer and handover with a go/no-go for the target architecture (M2). The biggest schedule risk is IT access, since AI tools are blocked in the BSH network.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7223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60"/>
            <a:ext cx="10566400" cy="4460240"/>
          </a:xfrm>
          <a:prstGeom prst="rect">
            <a:avLst/>
          </a:prstGeom>
          <a:noFill/>
          <a:ln/>
        </p:spPr>
        <p:txBody>
          <a:bodyPr wrap="square" lIns="0" tIns="0" rIns="0" bIns="0" rtlCol="0" anchor="t"/>
          <a:lstStyle>
            <a:lvl1pPr algn="l" indent="0" marL="0">
              <a:lnSpc>
                <a:spcPct val="140000"/>
              </a:lnSpc>
              <a:buNone/>
              <a:defRPr lang="en-US" sz="1600" dirty="0">
                <a:solidFill>
                  <a:srgbClr val="17223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7223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60"/>
            <a:ext cx="10566400" cy="4460240"/>
          </a:xfrm>
          <a:prstGeom prst="rect">
            <a:avLst/>
          </a:prstGeom>
          <a:noFill/>
          <a:ln/>
        </p:spPr>
        <p:txBody>
          <a:bodyPr wrap="square" lIns="0" tIns="0" rIns="0" bIns="0" rtlCol="0" anchor="t"/>
          <a:lstStyle>
            <a:lvl1pPr algn="l" indent="0" marL="0">
              <a:lnSpc>
                <a:spcPct val="140000"/>
              </a:lnSpc>
              <a:buNone/>
              <a:defRPr lang="en-US" sz="1600" dirty="0">
                <a:solidFill>
                  <a:srgbClr val="17223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3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8FB0F0"/>
                </a:solidFill>
                <a:latin typeface="JetBrains Mono" pitchFamily="49" charset="0"/>
                <a:ea typeface="JetBrains Mono" pitchFamily="49" charset="-122"/>
                <a:cs typeface="JetBrains Mono" pitchFamily="49" charset="-120"/>
              </a:rPr>
              <a:t>POLARION → SYSML V2</a:t>
            </a:r>
            <a:endParaRPr lang="en-US" sz="1400" dirty="0"/>
          </a:p>
        </p:txBody>
      </p:sp>
      <p:sp>
        <p:nvSpPr>
          <p:cNvPr id="3" name="Text 1"/>
          <p:cNvSpPr/>
          <p:nvPr>
            <p:ph type="title"/>
          </p:nvPr>
        </p:nvSpPr>
        <p:spPr>
          <a:xfrm>
            <a:off x="812800" y="2491740"/>
            <a:ext cx="10883392" cy="141224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5F4EF"/>
                </a:solidFill>
                <a:latin typeface="IBM Plex Sans" pitchFamily="34" charset="0"/>
                <a:ea typeface="IBM Plex Sans" pitchFamily="34" charset="-122"/>
                <a:cs typeface="IBM Plex Sans" pitchFamily="34" charset="-120"/>
              </a:rPr>
              <a:t>LLM-assisted architecture decomposition</a:t>
            </a:r>
            <a:endParaRPr lang="en-US" sz="5200" dirty="0"/>
          </a:p>
        </p:txBody>
      </p:sp>
      <p:sp>
        <p:nvSpPr>
          <p:cNvPr id="4" name="Text 2"/>
          <p:cNvSpPr/>
          <p:nvPr/>
        </p:nvSpPr>
        <p:spPr>
          <a:xfrm>
            <a:off x="812800" y="408178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AC4D3"/>
                </a:solidFill>
                <a:latin typeface="IBM Plex Sans" pitchFamily="34" charset="0"/>
                <a:ea typeface="IBM Plex Sans" pitchFamily="34" charset="-122"/>
                <a:cs typeface="IBM Plex Sans" pitchFamily="34" charset="-120"/>
              </a:rPr>
              <a:t>Iterative process, target architecture and MVP scope</a:t>
            </a:r>
            <a:endParaRPr lang="en-US" sz="1800" dirty="0"/>
          </a:p>
        </p:txBody>
      </p:sp>
      <p:sp>
        <p:nvSpPr>
          <p:cNvPr id="5" name="Text 3"/>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8"/>
                </a:solidFill>
                <a:latin typeface="IBM Plex Sans" pitchFamily="34" charset="0"/>
                <a:ea typeface="IBM Plex Sans" pitchFamily="34" charset="-122"/>
                <a:cs typeface="IBM Plex Sans" pitchFamily="34" charset="-120"/>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231"/>
                </a:solidFill>
                <a:latin typeface="IBM Plex Sans" pitchFamily="34" charset="0"/>
                <a:ea typeface="IBM Plex Sans" pitchFamily="34" charset="-122"/>
                <a:cs typeface="IBM Plex Sans" pitchFamily="34" charset="-120"/>
              </a:rPr>
              <a:t>Decompose the architecture one view at a time</a:t>
            </a:r>
            <a:endParaRPr lang="en-US" sz="3200" dirty="0"/>
          </a:p>
        </p:txBody>
      </p:sp>
      <p:sp>
        <p:nvSpPr>
          <p:cNvPr id="3" name="Shape 1"/>
          <p:cNvSpPr/>
          <p:nvPr/>
        </p:nvSpPr>
        <p:spPr>
          <a:xfrm>
            <a:off x="815975" y="1638935"/>
            <a:ext cx="3041650" cy="1731010"/>
          </a:xfrm>
          <a:prstGeom prst="roundRect">
            <a:avLst>
              <a:gd name="adj" fmla="val 5686"/>
            </a:avLst>
          </a:prstGeom>
          <a:solidFill>
            <a:srgbClr val="FCFCFA"/>
          </a:solidFill>
          <a:ln w="6350">
            <a:solidFill>
              <a:srgbClr val="DEDCD3"/>
            </a:solidFill>
            <a:prstDash val="solid"/>
          </a:ln>
        </p:spPr>
      </p:sp>
      <p:sp>
        <p:nvSpPr>
          <p:cNvPr id="4" name="Text 2"/>
          <p:cNvSpPr/>
          <p:nvPr/>
        </p:nvSpPr>
        <p:spPr>
          <a:xfrm>
            <a:off x="1071880" y="1894840"/>
            <a:ext cx="26057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C9"/>
                </a:solidFill>
                <a:latin typeface="JetBrains Mono" pitchFamily="49" charset="0"/>
                <a:ea typeface="JetBrains Mono" pitchFamily="49" charset="-122"/>
                <a:cs typeface="JetBrains Mono" pitchFamily="49" charset="-120"/>
              </a:rPr>
              <a:t>STEP 1</a:t>
            </a:r>
            <a:endParaRPr lang="en-US" sz="1200" dirty="0"/>
          </a:p>
        </p:txBody>
      </p:sp>
      <p:sp>
        <p:nvSpPr>
          <p:cNvPr id="5" name="Text 3"/>
          <p:cNvSpPr/>
          <p:nvPr/>
        </p:nvSpPr>
        <p:spPr>
          <a:xfrm>
            <a:off x="1071880" y="2209800"/>
            <a:ext cx="26057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31"/>
                </a:solidFill>
                <a:latin typeface="IBM Plex Sans" pitchFamily="34" charset="0"/>
                <a:ea typeface="IBM Plex Sans" pitchFamily="34" charset="-122"/>
                <a:cs typeface="IBM Plex Sans" pitchFamily="34" charset="-120"/>
              </a:rPr>
              <a:t>Function view</a:t>
            </a:r>
            <a:endParaRPr lang="en-US" sz="2000" dirty="0"/>
          </a:p>
        </p:txBody>
      </p:sp>
      <p:sp>
        <p:nvSpPr>
          <p:cNvPr id="6" name="Text 4"/>
          <p:cNvSpPr/>
          <p:nvPr/>
        </p:nvSpPr>
        <p:spPr>
          <a:xfrm>
            <a:off x="1071880" y="2616200"/>
            <a:ext cx="260573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What the system must do, derived from the requirements</a:t>
            </a:r>
            <a:endParaRPr lang="en-US" sz="1400" dirty="0"/>
          </a:p>
        </p:txBody>
      </p:sp>
      <p:pic>
        <p:nvPicPr>
          <p:cNvPr id="7" name="Image 0" descr="arrow-right">    </p:cNvPr>
          <p:cNvPicPr>
            <a:picLocks noChangeAspect="1"/>
          </p:cNvPicPr>
          <p:nvPr/>
        </p:nvPicPr>
        <p:blipFill>
          <a:blip r:embed="rId1"/>
          <a:srcRect l="0" r="0" t="0" b="0"/>
          <a:stretch/>
        </p:blipFill>
        <p:spPr>
          <a:xfrm>
            <a:off x="4013200" y="2402840"/>
            <a:ext cx="406400" cy="203200"/>
          </a:xfrm>
          <a:prstGeom prst="rect">
            <a:avLst/>
          </a:prstGeom>
        </p:spPr>
      </p:pic>
      <p:sp>
        <p:nvSpPr>
          <p:cNvPr id="8" name="Shape 5"/>
          <p:cNvSpPr/>
          <p:nvPr/>
        </p:nvSpPr>
        <p:spPr>
          <a:xfrm>
            <a:off x="4575175" y="1638935"/>
            <a:ext cx="3041650" cy="1731010"/>
          </a:xfrm>
          <a:prstGeom prst="roundRect">
            <a:avLst>
              <a:gd name="adj" fmla="val 5686"/>
            </a:avLst>
          </a:prstGeom>
          <a:solidFill>
            <a:srgbClr val="FCFCFA"/>
          </a:solidFill>
          <a:ln w="6350">
            <a:solidFill>
              <a:srgbClr val="DEDCD3"/>
            </a:solidFill>
            <a:prstDash val="solid"/>
          </a:ln>
        </p:spPr>
      </p:sp>
      <p:sp>
        <p:nvSpPr>
          <p:cNvPr id="9" name="Text 6"/>
          <p:cNvSpPr/>
          <p:nvPr/>
        </p:nvSpPr>
        <p:spPr>
          <a:xfrm>
            <a:off x="4831080" y="1894840"/>
            <a:ext cx="26057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C9"/>
                </a:solidFill>
                <a:latin typeface="JetBrains Mono" pitchFamily="49" charset="0"/>
                <a:ea typeface="JetBrains Mono" pitchFamily="49" charset="-122"/>
                <a:cs typeface="JetBrains Mono" pitchFamily="49" charset="-120"/>
              </a:rPr>
              <a:t>STEP 2</a:t>
            </a:r>
            <a:endParaRPr lang="en-US" sz="1200" dirty="0"/>
          </a:p>
        </p:txBody>
      </p:sp>
      <p:sp>
        <p:nvSpPr>
          <p:cNvPr id="10" name="Text 7"/>
          <p:cNvSpPr/>
          <p:nvPr/>
        </p:nvSpPr>
        <p:spPr>
          <a:xfrm>
            <a:off x="4831080" y="2209800"/>
            <a:ext cx="26057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31"/>
                </a:solidFill>
                <a:latin typeface="IBM Plex Sans" pitchFamily="34" charset="0"/>
                <a:ea typeface="IBM Plex Sans" pitchFamily="34" charset="-122"/>
                <a:cs typeface="IBM Plex Sans" pitchFamily="34" charset="-120"/>
              </a:rPr>
              <a:t>Logical view</a:t>
            </a:r>
            <a:endParaRPr lang="en-US" sz="2000" dirty="0"/>
          </a:p>
        </p:txBody>
      </p:sp>
      <p:sp>
        <p:nvSpPr>
          <p:cNvPr id="11" name="Text 8"/>
          <p:cNvSpPr/>
          <p:nvPr/>
        </p:nvSpPr>
        <p:spPr>
          <a:xfrm>
            <a:off x="4831080" y="2616200"/>
            <a:ext cx="260573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Solution-neutral logical blocks that carry the functions</a:t>
            </a:r>
            <a:endParaRPr lang="en-US" sz="1400" dirty="0"/>
          </a:p>
        </p:txBody>
      </p:sp>
      <p:pic>
        <p:nvPicPr>
          <p:cNvPr id="12" name="Image 1" descr="arrow-right">    </p:cNvPr>
          <p:cNvPicPr>
            <a:picLocks noChangeAspect="1"/>
          </p:cNvPicPr>
          <p:nvPr/>
        </p:nvPicPr>
        <p:blipFill>
          <a:blip r:embed="rId2"/>
          <a:srcRect l="0" r="0" t="0" b="0"/>
          <a:stretch/>
        </p:blipFill>
        <p:spPr>
          <a:xfrm>
            <a:off x="7772400" y="2402840"/>
            <a:ext cx="406400" cy="203200"/>
          </a:xfrm>
          <a:prstGeom prst="rect">
            <a:avLst/>
          </a:prstGeom>
        </p:spPr>
      </p:pic>
      <p:sp>
        <p:nvSpPr>
          <p:cNvPr id="13" name="Shape 9"/>
          <p:cNvSpPr/>
          <p:nvPr/>
        </p:nvSpPr>
        <p:spPr>
          <a:xfrm>
            <a:off x="8334375" y="1638935"/>
            <a:ext cx="3041650" cy="1731010"/>
          </a:xfrm>
          <a:prstGeom prst="roundRect">
            <a:avLst>
              <a:gd name="adj" fmla="val 5686"/>
            </a:avLst>
          </a:prstGeom>
          <a:solidFill>
            <a:srgbClr val="FCFCFA"/>
          </a:solidFill>
          <a:ln w="6350">
            <a:solidFill>
              <a:srgbClr val="DEDCD3"/>
            </a:solidFill>
            <a:prstDash val="solid"/>
          </a:ln>
        </p:spPr>
      </p:sp>
      <p:sp>
        <p:nvSpPr>
          <p:cNvPr id="14" name="Text 10"/>
          <p:cNvSpPr/>
          <p:nvPr/>
        </p:nvSpPr>
        <p:spPr>
          <a:xfrm>
            <a:off x="8590280" y="1894840"/>
            <a:ext cx="26057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C9"/>
                </a:solidFill>
                <a:latin typeface="JetBrains Mono" pitchFamily="49" charset="0"/>
                <a:ea typeface="JetBrains Mono" pitchFamily="49" charset="-122"/>
                <a:cs typeface="JetBrains Mono" pitchFamily="49" charset="-120"/>
              </a:rPr>
              <a:t>STEP 3</a:t>
            </a:r>
            <a:endParaRPr lang="en-US" sz="1200" dirty="0"/>
          </a:p>
        </p:txBody>
      </p:sp>
      <p:sp>
        <p:nvSpPr>
          <p:cNvPr id="15" name="Text 11"/>
          <p:cNvSpPr/>
          <p:nvPr/>
        </p:nvSpPr>
        <p:spPr>
          <a:xfrm>
            <a:off x="8590280" y="2209800"/>
            <a:ext cx="26057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31"/>
                </a:solidFill>
                <a:latin typeface="IBM Plex Sans" pitchFamily="34" charset="0"/>
                <a:ea typeface="IBM Plex Sans" pitchFamily="34" charset="-122"/>
                <a:cs typeface="IBM Plex Sans" pitchFamily="34" charset="-120"/>
              </a:rPr>
              <a:t>Technical view</a:t>
            </a:r>
            <a:endParaRPr lang="en-US" sz="2000" dirty="0"/>
          </a:p>
        </p:txBody>
      </p:sp>
      <p:sp>
        <p:nvSpPr>
          <p:cNvPr id="16" name="Text 12"/>
          <p:cNvSpPr/>
          <p:nvPr/>
        </p:nvSpPr>
        <p:spPr>
          <a:xfrm>
            <a:off x="8590280" y="2616200"/>
            <a:ext cx="260573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Concrete technical blocks that realize the logical ones</a:t>
            </a:r>
            <a:endParaRPr lang="en-US" sz="1400" dirty="0"/>
          </a:p>
        </p:txBody>
      </p:sp>
      <p:sp>
        <p:nvSpPr>
          <p:cNvPr id="17" name="Shape 13"/>
          <p:cNvSpPr/>
          <p:nvPr/>
        </p:nvSpPr>
        <p:spPr>
          <a:xfrm>
            <a:off x="812800" y="3728720"/>
            <a:ext cx="10566400" cy="711200"/>
          </a:xfrm>
          <a:prstGeom prst="roundRect">
            <a:avLst>
              <a:gd name="adj" fmla="val 14286"/>
            </a:avLst>
          </a:prstGeom>
          <a:solidFill>
            <a:srgbClr val="E6ECF8"/>
          </a:solidFill>
          <a:ln/>
        </p:spPr>
      </p:sp>
      <p:pic>
        <p:nvPicPr>
          <p:cNvPr id="18" name="Image 2" descr="Settings">    </p:cNvPr>
          <p:cNvPicPr>
            <a:picLocks noChangeAspect="1"/>
          </p:cNvPicPr>
          <p:nvPr/>
        </p:nvPicPr>
        <p:blipFill>
          <a:blip r:embed="rId3"/>
          <a:srcRect l="0" r="0" t="0" b="0"/>
          <a:stretch/>
        </p:blipFill>
        <p:spPr>
          <a:xfrm>
            <a:off x="1066800" y="3931920"/>
            <a:ext cx="304800" cy="304800"/>
          </a:xfrm>
          <a:prstGeom prst="rect">
            <a:avLst/>
          </a:prstGeom>
        </p:spPr>
      </p:pic>
      <p:sp>
        <p:nvSpPr>
          <p:cNvPr id="19" name="Text 14"/>
          <p:cNvSpPr/>
          <p:nvPr/>
        </p:nvSpPr>
        <p:spPr>
          <a:xfrm>
            <a:off x="1524000" y="3950970"/>
            <a:ext cx="9855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31"/>
                </a:solidFill>
                <a:latin typeface="IBM Plex Sans" pitchFamily="34" charset="0"/>
                <a:ea typeface="IBM Plex Sans" pitchFamily="34" charset="-122"/>
                <a:cs typeface="IBM Plex Sans" pitchFamily="34" charset="-120"/>
              </a:rPr>
              <a:t>Same loop at every step:</a:t>
            </a:r>
            <a:r>
              <a:rPr lang="en-US" sz="1500" dirty="0">
                <a:solidFill>
                  <a:srgbClr val="172231"/>
                </a:solidFill>
                <a:latin typeface="IBM Plex Sans" pitchFamily="34" charset="0"/>
                <a:ea typeface="IBM Plex Sans" pitchFamily="34" charset="-122"/>
                <a:cs typeface="IBM Plex Sans" pitchFamily="34" charset="-120"/>
              </a:rPr>
              <a:t> requirements in → SysML v2 diff → validity check → review → approve → next step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231"/>
                </a:solidFill>
                <a:latin typeface="IBM Plex Sans" pitchFamily="34" charset="0"/>
                <a:ea typeface="IBM Plex Sans" pitchFamily="34" charset="-122"/>
                <a:cs typeface="IBM Plex Sans" pitchFamily="34" charset="-120"/>
              </a:rPr>
              <a:t>One step: what goes in, what comes out</a:t>
            </a:r>
            <a:endParaRPr lang="en-US" sz="3200" dirty="0"/>
          </a:p>
        </p:txBody>
      </p:sp>
      <p:sp>
        <p:nvSpPr>
          <p:cNvPr id="3" name="Shape 1"/>
          <p:cNvSpPr/>
          <p:nvPr/>
        </p:nvSpPr>
        <p:spPr>
          <a:xfrm>
            <a:off x="815975" y="1588136"/>
            <a:ext cx="4278233" cy="3779520"/>
          </a:xfrm>
          <a:prstGeom prst="roundRect">
            <a:avLst>
              <a:gd name="adj" fmla="val 2604"/>
            </a:avLst>
          </a:prstGeom>
          <a:solidFill>
            <a:srgbClr val="FCFCFA"/>
          </a:solidFill>
          <a:ln w="6350">
            <a:solidFill>
              <a:srgbClr val="DEDCD3"/>
            </a:solidFill>
            <a:prstDash val="solid"/>
          </a:ln>
        </p:spPr>
      </p:sp>
      <p:sp>
        <p:nvSpPr>
          <p:cNvPr id="4" name="Text 2"/>
          <p:cNvSpPr/>
          <p:nvPr/>
        </p:nvSpPr>
        <p:spPr>
          <a:xfrm>
            <a:off x="1071880" y="1844041"/>
            <a:ext cx="38794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C9"/>
                </a:solidFill>
                <a:latin typeface="JetBrains Mono" pitchFamily="49" charset="0"/>
                <a:ea typeface="JetBrains Mono" pitchFamily="49" charset="-122"/>
                <a:cs typeface="JetBrains Mono" pitchFamily="49" charset="-120"/>
              </a:rPr>
              <a:t>INPUT</a:t>
            </a:r>
            <a:endParaRPr lang="en-US" sz="1200" dirty="0"/>
          </a:p>
        </p:txBody>
      </p:sp>
      <p:sp>
        <p:nvSpPr>
          <p:cNvPr id="5" name="Text 3"/>
          <p:cNvSpPr/>
          <p:nvPr/>
        </p:nvSpPr>
        <p:spPr>
          <a:xfrm>
            <a:off x="1071880" y="2159000"/>
            <a:ext cx="387941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Requirements on this level</a:t>
            </a:r>
            <a:endParaRPr lang="en-US" sz="1700" dirty="0"/>
          </a:p>
        </p:txBody>
      </p:sp>
      <p:sp>
        <p:nvSpPr>
          <p:cNvPr id="6" name="Text 4"/>
          <p:cNvSpPr/>
          <p:nvPr/>
        </p:nvSpPr>
        <p:spPr>
          <a:xfrm>
            <a:off x="1071880" y="2519680"/>
            <a:ext cx="749300" cy="307340"/>
          </a:xfrm>
          <a:custGeom>
            <a:avLst/>
            <a:gdLst/>
            <a:ahLst/>
            <a:cxnLst/>
            <a:rect l="l" t="t" r="r" b="b"/>
            <a:pathLst>
              <a:path w="749300" h="307340">
                <a:moveTo>
                  <a:pt x="153670" y="0"/>
                </a:moveTo>
                <a:lnTo>
                  <a:pt x="595630" y="0"/>
                </a:lnTo>
                <a:arcTo hR="153670" wR="153670" stAng="16200000" swAng="5400000"/>
                <a:lnTo>
                  <a:pt x="749300" y="153670"/>
                </a:lnTo>
                <a:arcTo hR="153670" wR="153670" stAng="0" swAng="5400000"/>
                <a:lnTo>
                  <a:pt x="153670" y="307340"/>
                </a:lnTo>
                <a:arcTo hR="153670" wR="153670" stAng="5400000" swAng="5400000"/>
                <a:lnTo>
                  <a:pt x="0" y="153670"/>
                </a:lnTo>
                <a:arcTo hR="153670" wR="153670" stAng="10800000" swAng="5400000"/>
                <a:close/>
              </a:path>
            </a:pathLst>
          </a:custGeom>
          <a:solidFill>
            <a:srgbClr val="E3F1E8"/>
          </a:solidFill>
          <a:ln/>
        </p:spPr>
        <p:txBody>
          <a:bodyPr wrap="none" lIns="0" tIns="0" rIns="0" bIns="0" rtlCol="0" anchor="ctr">
            <a:normAutofit/>
          </a:bodyPr>
          <a:lstStyle/>
          <a:p>
            <a:pPr algn="ctr" indent="0" marL="0">
              <a:lnSpc>
                <a:spcPts val="1820"/>
              </a:lnSpc>
              <a:buNone/>
            </a:pPr>
            <a:r>
              <a:rPr lang="en-US" sz="1300" dirty="0">
                <a:solidFill>
                  <a:srgbClr val="1E5E3A"/>
                </a:solidFill>
                <a:latin typeface="JetBrains Mono" pitchFamily="49" charset="0"/>
                <a:ea typeface="JetBrains Mono" pitchFamily="49" charset="-122"/>
                <a:cs typeface="JetBrains Mono" pitchFamily="49" charset="-120"/>
              </a:rPr>
              <a:t>+ neu</a:t>
            </a:r>
            <a:endParaRPr lang="en-US" sz="1300" dirty="0"/>
          </a:p>
        </p:txBody>
      </p:sp>
      <p:sp>
        <p:nvSpPr>
          <p:cNvPr id="7" name="Text 5"/>
          <p:cNvSpPr/>
          <p:nvPr/>
        </p:nvSpPr>
        <p:spPr>
          <a:xfrm>
            <a:off x="1071880" y="2890520"/>
            <a:ext cx="1739900" cy="307340"/>
          </a:xfrm>
          <a:custGeom>
            <a:avLst/>
            <a:gdLst/>
            <a:ahLst/>
            <a:cxnLst/>
            <a:rect l="l" t="t" r="r" b="b"/>
            <a:pathLst>
              <a:path w="1739900" h="307340">
                <a:moveTo>
                  <a:pt x="153670" y="0"/>
                </a:moveTo>
                <a:lnTo>
                  <a:pt x="1586230" y="0"/>
                </a:lnTo>
                <a:arcTo hR="153670" wR="153670" stAng="16200000" swAng="5400000"/>
                <a:lnTo>
                  <a:pt x="1739900" y="153670"/>
                </a:lnTo>
                <a:arcTo hR="153670" wR="153670" stAng="0" swAng="5400000"/>
                <a:lnTo>
                  <a:pt x="153670" y="307340"/>
                </a:lnTo>
                <a:arcTo hR="153670" wR="153670" stAng="5400000" swAng="5400000"/>
                <a:lnTo>
                  <a:pt x="0" y="153670"/>
                </a:lnTo>
                <a:arcTo hR="153670" wR="153670" stAng="10800000" swAng="5400000"/>
                <a:close/>
              </a:path>
            </a:pathLst>
          </a:custGeom>
          <a:solidFill>
            <a:srgbClr val="FBEBDC"/>
          </a:solidFill>
          <a:ln/>
        </p:spPr>
        <p:txBody>
          <a:bodyPr wrap="none" lIns="0" tIns="0" rIns="0" bIns="0" rtlCol="0" anchor="ctr">
            <a:normAutofit/>
          </a:bodyPr>
          <a:lstStyle/>
          <a:p>
            <a:pPr algn="ctr" indent="0" marL="0">
              <a:lnSpc>
                <a:spcPts val="1820"/>
              </a:lnSpc>
              <a:buNone/>
            </a:pPr>
            <a:r>
              <a:rPr lang="en-US" sz="1300" dirty="0">
                <a:solidFill>
                  <a:srgbClr val="8A4510"/>
                </a:solidFill>
                <a:latin typeface="JetBrains Mono" pitchFamily="49" charset="0"/>
                <a:ea typeface="JetBrains Mono" pitchFamily="49" charset="-122"/>
                <a:cs typeface="JetBrains Mono" pitchFamily="49" charset="-120"/>
              </a:rPr>
              <a:t>~ Text geändert</a:t>
            </a:r>
            <a:endParaRPr lang="en-US" sz="1300" dirty="0"/>
          </a:p>
        </p:txBody>
      </p:sp>
      <p:sp>
        <p:nvSpPr>
          <p:cNvPr id="8" name="Text 6"/>
          <p:cNvSpPr/>
          <p:nvPr/>
        </p:nvSpPr>
        <p:spPr>
          <a:xfrm>
            <a:off x="1071880" y="3261361"/>
            <a:ext cx="1739979" cy="307340"/>
          </a:xfrm>
          <a:custGeom>
            <a:avLst/>
            <a:gdLst/>
            <a:ahLst/>
            <a:cxnLst/>
            <a:rect l="l" t="t" r="r" b="b"/>
            <a:pathLst>
              <a:path w="1739979" h="307340">
                <a:moveTo>
                  <a:pt x="153670" y="0"/>
                </a:moveTo>
                <a:lnTo>
                  <a:pt x="1586309" y="0"/>
                </a:lnTo>
                <a:arcTo hR="153670" wR="153670" stAng="16200000" swAng="5400000"/>
                <a:lnTo>
                  <a:pt x="1739979" y="153670"/>
                </a:lnTo>
                <a:arcTo hR="153670" wR="153670" stAng="0" swAng="5400000"/>
                <a:lnTo>
                  <a:pt x="153670" y="307340"/>
                </a:lnTo>
                <a:arcTo hR="153670" wR="153670" stAng="5400000" swAng="5400000"/>
                <a:lnTo>
                  <a:pt x="0" y="153670"/>
                </a:lnTo>
                <a:arcTo hR="153670" wR="153670" stAng="10800000" swAng="5400000"/>
                <a:close/>
              </a:path>
            </a:pathLst>
          </a:custGeom>
          <a:solidFill>
            <a:srgbClr val="E6ECF8"/>
          </a:solidFill>
          <a:ln/>
        </p:spPr>
        <p:txBody>
          <a:bodyPr wrap="none" lIns="0" tIns="0" rIns="0" bIns="0" rtlCol="0" anchor="ctr">
            <a:normAutofit/>
          </a:bodyPr>
          <a:lstStyle/>
          <a:p>
            <a:pPr algn="ctr" indent="0" marL="0">
              <a:lnSpc>
                <a:spcPts val="1820"/>
              </a:lnSpc>
              <a:buNone/>
            </a:pPr>
            <a:r>
              <a:rPr lang="en-US" sz="1300" dirty="0">
                <a:solidFill>
                  <a:srgbClr val="234A99"/>
                </a:solidFill>
                <a:latin typeface="JetBrains Mono" pitchFamily="49" charset="0"/>
                <a:ea typeface="JetBrains Mono" pitchFamily="49" charset="-122"/>
                <a:cs typeface="JetBrains Mono" pitchFamily="49" charset="-120"/>
              </a:rPr>
              <a:t>↔ Link geändert</a:t>
            </a:r>
            <a:endParaRPr lang="en-US" sz="1300" dirty="0"/>
          </a:p>
        </p:txBody>
      </p:sp>
      <p:sp>
        <p:nvSpPr>
          <p:cNvPr id="9" name="Text 7"/>
          <p:cNvSpPr/>
          <p:nvPr/>
        </p:nvSpPr>
        <p:spPr>
          <a:xfrm>
            <a:off x="1071880" y="3632200"/>
            <a:ext cx="2235200" cy="307340"/>
          </a:xfrm>
          <a:custGeom>
            <a:avLst/>
            <a:gdLst/>
            <a:ahLst/>
            <a:cxnLst/>
            <a:rect l="l" t="t" r="r" b="b"/>
            <a:pathLst>
              <a:path w="2235200" h="307340">
                <a:moveTo>
                  <a:pt x="153670" y="0"/>
                </a:moveTo>
                <a:lnTo>
                  <a:pt x="2081530" y="0"/>
                </a:lnTo>
                <a:arcTo hR="153670" wR="153670" stAng="16200000" swAng="5400000"/>
                <a:lnTo>
                  <a:pt x="2235200" y="153670"/>
                </a:lnTo>
                <a:arcTo hR="153670" wR="153670" stAng="0" swAng="5400000"/>
                <a:lnTo>
                  <a:pt x="153670" y="307340"/>
                </a:lnTo>
                <a:arcTo hR="153670" wR="153670" stAng="5400000" swAng="5400000"/>
                <a:lnTo>
                  <a:pt x="0" y="153670"/>
                </a:lnTo>
                <a:arcTo hR="153670" wR="153670" stAng="10800000" swAng="5400000"/>
                <a:close/>
              </a:path>
            </a:pathLst>
          </a:custGeom>
          <a:solidFill>
            <a:srgbClr val="F7E2DF"/>
          </a:solidFill>
          <a:ln/>
        </p:spPr>
        <p:txBody>
          <a:bodyPr wrap="none" lIns="0" tIns="0" rIns="0" bIns="0" rtlCol="0" anchor="ctr">
            <a:normAutofit/>
          </a:bodyPr>
          <a:lstStyle/>
          <a:p>
            <a:pPr algn="ctr" indent="0" marL="0">
              <a:lnSpc>
                <a:spcPts val="1820"/>
              </a:lnSpc>
              <a:buNone/>
            </a:pPr>
            <a:r>
              <a:rPr lang="en-US" sz="1300" dirty="0">
                <a:solidFill>
                  <a:srgbClr val="8E2A21"/>
                </a:solidFill>
                <a:latin typeface="JetBrains Mono" pitchFamily="49" charset="0"/>
                <a:ea typeface="JetBrains Mono" pitchFamily="49" charset="-122"/>
                <a:cs typeface="JetBrains Mono" pitchFamily="49" charset="-120"/>
              </a:rPr>
              <a:t>− gelöscht / obsolet</a:t>
            </a:r>
            <a:endParaRPr lang="en-US" sz="1300" dirty="0"/>
          </a:p>
        </p:txBody>
      </p:sp>
      <p:sp>
        <p:nvSpPr>
          <p:cNvPr id="10" name="Text 8"/>
          <p:cNvSpPr/>
          <p:nvPr/>
        </p:nvSpPr>
        <p:spPr>
          <a:xfrm>
            <a:off x="1071880" y="4003041"/>
            <a:ext cx="1541780" cy="307340"/>
          </a:xfrm>
          <a:custGeom>
            <a:avLst/>
            <a:gdLst/>
            <a:ahLst/>
            <a:cxnLst/>
            <a:rect l="l" t="t" r="r" b="b"/>
            <a:pathLst>
              <a:path w="1541780" h="307340">
                <a:moveTo>
                  <a:pt x="153670" y="0"/>
                </a:moveTo>
                <a:lnTo>
                  <a:pt x="1388110" y="0"/>
                </a:lnTo>
                <a:arcTo hR="153670" wR="153670" stAng="16200000" swAng="5400000"/>
                <a:lnTo>
                  <a:pt x="1541780" y="153670"/>
                </a:lnTo>
                <a:arcTo hR="153670" wR="153670" stAng="0" swAng="5400000"/>
                <a:lnTo>
                  <a:pt x="153670" y="307340"/>
                </a:lnTo>
                <a:arcTo hR="153670" wR="153670" stAng="5400000" swAng="5400000"/>
                <a:lnTo>
                  <a:pt x="0" y="153670"/>
                </a:lnTo>
                <a:arcTo hR="153670" wR="153670" stAng="10800000" swAng="5400000"/>
                <a:close/>
              </a:path>
            </a:pathLst>
          </a:custGeom>
          <a:solidFill>
            <a:srgbClr val="EFEDE6"/>
          </a:solidFill>
          <a:ln/>
        </p:spPr>
        <p:txBody>
          <a:bodyPr wrap="none" lIns="0" tIns="0" rIns="0" bIns="0" rtlCol="0" anchor="ctr">
            <a:normAutofit/>
          </a:bodyPr>
          <a:lstStyle/>
          <a:p>
            <a:pPr algn="ctr" indent="0" marL="0">
              <a:lnSpc>
                <a:spcPts val="1820"/>
              </a:lnSpc>
              <a:buNone/>
            </a:pPr>
            <a:r>
              <a:rPr lang="en-US" sz="1300" dirty="0">
                <a:solidFill>
                  <a:srgbClr val="4A5363"/>
                </a:solidFill>
                <a:latin typeface="JetBrains Mono" pitchFamily="49" charset="0"/>
                <a:ea typeface="JetBrains Mono" pitchFamily="49" charset="-122"/>
                <a:cs typeface="JetBrains Mono" pitchFamily="49" charset="-120"/>
              </a:rPr>
              <a:t>= unverändert</a:t>
            </a:r>
            <a:endParaRPr lang="en-US" sz="1300" dirty="0"/>
          </a:p>
        </p:txBody>
      </p:sp>
      <p:pic>
        <p:nvPicPr>
          <p:cNvPr id="11" name="Image 0" descr="line">    </p:cNvPr>
          <p:cNvPicPr>
            <a:picLocks noChangeAspect="1"/>
          </p:cNvPicPr>
          <p:nvPr/>
        </p:nvPicPr>
        <p:blipFill>
          <a:blip r:embed="rId1"/>
          <a:srcRect l="-8" r="-8" t="0" b="0"/>
          <a:stretch/>
        </p:blipFill>
        <p:spPr>
          <a:xfrm>
            <a:off x="1071880" y="4411980"/>
            <a:ext cx="3766423" cy="6350"/>
          </a:xfrm>
          <a:prstGeom prst="rect">
            <a:avLst/>
          </a:prstGeom>
        </p:spPr>
      </p:pic>
      <p:sp>
        <p:nvSpPr>
          <p:cNvPr id="12" name="Text 9"/>
          <p:cNvSpPr/>
          <p:nvPr/>
        </p:nvSpPr>
        <p:spPr>
          <a:xfrm>
            <a:off x="1071880" y="4519930"/>
            <a:ext cx="387941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Current architecture on this level</a:t>
            </a:r>
            <a:endParaRPr lang="en-US" sz="1700" dirty="0"/>
          </a:p>
        </p:txBody>
      </p:sp>
      <p:sp>
        <p:nvSpPr>
          <p:cNvPr id="13" name="Text 10"/>
          <p:cNvSpPr/>
          <p:nvPr/>
        </p:nvSpPr>
        <p:spPr>
          <a:xfrm>
            <a:off x="1071880" y="4880611"/>
            <a:ext cx="387941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The existing functions or blocks of this view</a:t>
            </a:r>
            <a:endParaRPr lang="en-US" sz="1300" dirty="0"/>
          </a:p>
        </p:txBody>
      </p:sp>
      <p:pic>
        <p:nvPicPr>
          <p:cNvPr id="14" name="Image 1" descr="arrow-right">    </p:cNvPr>
          <p:cNvPicPr>
            <a:picLocks noChangeAspect="1"/>
          </p:cNvPicPr>
          <p:nvPr/>
        </p:nvPicPr>
        <p:blipFill>
          <a:blip r:embed="rId2"/>
          <a:srcRect l="0" r="0" t="0" b="0"/>
          <a:stretch/>
        </p:blipFill>
        <p:spPr>
          <a:xfrm>
            <a:off x="5249783" y="3376295"/>
            <a:ext cx="406400" cy="203200"/>
          </a:xfrm>
          <a:prstGeom prst="rect">
            <a:avLst/>
          </a:prstGeom>
        </p:spPr>
      </p:pic>
      <p:sp>
        <p:nvSpPr>
          <p:cNvPr id="15" name="Shape 11"/>
          <p:cNvSpPr/>
          <p:nvPr/>
        </p:nvSpPr>
        <p:spPr>
          <a:xfrm>
            <a:off x="5808583" y="1584961"/>
            <a:ext cx="1651000" cy="3785870"/>
          </a:xfrm>
          <a:prstGeom prst="roundRect">
            <a:avLst>
              <a:gd name="adj" fmla="val 6154"/>
            </a:avLst>
          </a:prstGeom>
          <a:solidFill>
            <a:srgbClr val="172231"/>
          </a:solidFill>
          <a:ln/>
        </p:spPr>
      </p:sp>
      <p:pic>
        <p:nvPicPr>
          <p:cNvPr id="16" name="Image 2" descr="Lightbulb">    </p:cNvPr>
          <p:cNvPicPr>
            <a:picLocks noChangeAspect="1"/>
          </p:cNvPicPr>
          <p:nvPr/>
        </p:nvPicPr>
        <p:blipFill>
          <a:blip r:embed="rId3"/>
          <a:srcRect l="0" r="0" t="0" b="0"/>
          <a:stretch/>
        </p:blipFill>
        <p:spPr>
          <a:xfrm>
            <a:off x="6430883" y="2898775"/>
            <a:ext cx="406400" cy="406400"/>
          </a:xfrm>
          <a:prstGeom prst="rect">
            <a:avLst/>
          </a:prstGeom>
        </p:spPr>
      </p:pic>
      <p:sp>
        <p:nvSpPr>
          <p:cNvPr id="17" name="Text 12"/>
          <p:cNvSpPr/>
          <p:nvPr/>
        </p:nvSpPr>
        <p:spPr>
          <a:xfrm>
            <a:off x="6322243" y="3406775"/>
            <a:ext cx="623602" cy="360680"/>
          </a:xfrm>
          <a:prstGeom prst="rect">
            <a:avLst/>
          </a:prstGeom>
          <a:noFill/>
          <a:ln/>
        </p:spPr>
        <p:txBody>
          <a:bodyPr wrap="square" lIns="0" tIns="0" rIns="0" bIns="0" rtlCol="0" anchor="t">
            <a:normAutofit/>
          </a:bodyPr>
          <a:lstStyle/>
          <a:p>
            <a:pPr algn="ctr" indent="0" marL="0">
              <a:lnSpc>
                <a:spcPts val="2640"/>
              </a:lnSpc>
              <a:buNone/>
            </a:pPr>
            <a:r>
              <a:rPr lang="en-US" sz="2200" b="1" dirty="0">
                <a:solidFill>
                  <a:srgbClr val="F5F4EF"/>
                </a:solidFill>
                <a:latin typeface="IBM Plex Sans" pitchFamily="34" charset="0"/>
                <a:ea typeface="IBM Plex Sans" pitchFamily="34" charset="-122"/>
                <a:cs typeface="IBM Plex Sans" pitchFamily="34" charset="-120"/>
              </a:rPr>
              <a:t>LLM</a:t>
            </a:r>
            <a:endParaRPr lang="en-US" sz="2200" dirty="0"/>
          </a:p>
        </p:txBody>
      </p:sp>
      <p:sp>
        <p:nvSpPr>
          <p:cNvPr id="18" name="Text 13"/>
          <p:cNvSpPr/>
          <p:nvPr/>
        </p:nvSpPr>
        <p:spPr>
          <a:xfrm>
            <a:off x="5962864" y="3843655"/>
            <a:ext cx="134235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AC4D3"/>
                </a:solidFill>
                <a:latin typeface="IBM Plex Sans" pitchFamily="34" charset="0"/>
                <a:ea typeface="IBM Plex Sans" pitchFamily="34" charset="-122"/>
                <a:cs typeface="IBM Plex Sans" pitchFamily="34" charset="-120"/>
              </a:rPr>
              <a:t>one run per step</a:t>
            </a:r>
            <a:endParaRPr lang="en-US" sz="1200" dirty="0"/>
          </a:p>
        </p:txBody>
      </p:sp>
      <p:pic>
        <p:nvPicPr>
          <p:cNvPr id="19" name="Image 3" descr="arrow-right">    </p:cNvPr>
          <p:cNvPicPr>
            <a:picLocks noChangeAspect="1"/>
          </p:cNvPicPr>
          <p:nvPr/>
        </p:nvPicPr>
        <p:blipFill>
          <a:blip r:embed="rId4"/>
          <a:srcRect l="0" r="0" t="0" b="0"/>
          <a:stretch/>
        </p:blipFill>
        <p:spPr>
          <a:xfrm>
            <a:off x="7611983" y="3376295"/>
            <a:ext cx="406400" cy="203200"/>
          </a:xfrm>
          <a:prstGeom prst="rect">
            <a:avLst/>
          </a:prstGeom>
        </p:spPr>
      </p:pic>
      <p:sp>
        <p:nvSpPr>
          <p:cNvPr id="20" name="Shape 14"/>
          <p:cNvSpPr/>
          <p:nvPr/>
        </p:nvSpPr>
        <p:spPr>
          <a:xfrm>
            <a:off x="8173958" y="1588136"/>
            <a:ext cx="3202067" cy="3779520"/>
          </a:xfrm>
          <a:prstGeom prst="roundRect">
            <a:avLst>
              <a:gd name="adj" fmla="val 3074"/>
            </a:avLst>
          </a:prstGeom>
          <a:solidFill>
            <a:srgbClr val="FCFCFA"/>
          </a:solidFill>
          <a:ln w="6350">
            <a:solidFill>
              <a:srgbClr val="DEDCD3"/>
            </a:solidFill>
            <a:prstDash val="solid"/>
          </a:ln>
        </p:spPr>
      </p:sp>
      <p:sp>
        <p:nvSpPr>
          <p:cNvPr id="21" name="Text 15"/>
          <p:cNvSpPr/>
          <p:nvPr/>
        </p:nvSpPr>
        <p:spPr>
          <a:xfrm>
            <a:off x="8429863" y="1844041"/>
            <a:ext cx="27709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C9"/>
                </a:solidFill>
                <a:latin typeface="JetBrains Mono" pitchFamily="49" charset="0"/>
                <a:ea typeface="JetBrains Mono" pitchFamily="49" charset="-122"/>
                <a:cs typeface="JetBrains Mono" pitchFamily="49" charset="-120"/>
              </a:rPr>
              <a:t>OUTPUT</a:t>
            </a:r>
            <a:endParaRPr lang="en-US" sz="1200" dirty="0"/>
          </a:p>
        </p:txBody>
      </p:sp>
      <p:sp>
        <p:nvSpPr>
          <p:cNvPr id="22" name="Text 16"/>
          <p:cNvSpPr/>
          <p:nvPr/>
        </p:nvSpPr>
        <p:spPr>
          <a:xfrm>
            <a:off x="8429863" y="2159000"/>
            <a:ext cx="27709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SysML v2 code</a:t>
            </a:r>
            <a:endParaRPr lang="en-US" sz="1700" dirty="0"/>
          </a:p>
        </p:txBody>
      </p:sp>
      <p:sp>
        <p:nvSpPr>
          <p:cNvPr id="23" name="Text 17"/>
          <p:cNvSpPr/>
          <p:nvPr/>
        </p:nvSpPr>
        <p:spPr>
          <a:xfrm>
            <a:off x="8429863" y="2519680"/>
            <a:ext cx="27709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As a diff against the current model of this level</a:t>
            </a:r>
            <a:endParaRPr lang="en-US" sz="1300" dirty="0"/>
          </a:p>
        </p:txBody>
      </p:sp>
      <p:sp>
        <p:nvSpPr>
          <p:cNvPr id="24" name="Text 18"/>
          <p:cNvSpPr/>
          <p:nvPr/>
        </p:nvSpPr>
        <p:spPr>
          <a:xfrm>
            <a:off x="8429863" y="4880611"/>
            <a:ext cx="277096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2C9"/>
                </a:solidFill>
                <a:latin typeface="IBM Plex Sans" pitchFamily="34" charset="0"/>
                <a:ea typeface="IBM Plex Sans" pitchFamily="34" charset="-122"/>
                <a:cs typeface="IBM Plex Sans" pitchFamily="34" charset="-120"/>
              </a:rPr>
              <a:t>→ validity check → review</a:t>
            </a:r>
            <a:endParaRPr lang="en-US" sz="1300" dirty="0"/>
          </a:p>
        </p:txBody>
      </p:sp>
      <p:sp>
        <p:nvSpPr>
          <p:cNvPr id="25" name="TextBox 24"/>
          <p:cNvSpPr txBox="1"/>
          <p:nvPr/>
        </p:nvSpPr>
        <p:spPr>
          <a:xfrm>
            <a:off x="3017520" y="2542032"/>
            <a:ext cx="2011680" cy="548640"/>
          </a:xfrm>
          <a:prstGeom prst="rect">
            <a:avLst/>
          </a:prstGeom>
          <a:noFill/>
        </p:spPr>
        <p:txBody>
          <a:bodyPr wrap="square" lIns="0" rIns="0" tIns="0" bIns="0" anchor="t">
            <a:spAutoFit/>
          </a:bodyPr>
          <a:lstStyle/>
          <a:p>
            <a:pPr algn="l">
              <a:spcAft>
                <a:spcPts val="0"/>
              </a:spcAft>
            </a:pPr>
            <a:r>
              <a:rPr sz="1200" b="0">
                <a:solidFill>
                  <a:srgbClr val="5F6673"/>
                </a:solidFill>
                <a:latin typeface="IBM Plex Sans" pitchFamily="34"/>
                <a:ea typeface="IBM Plex Sans" pitchFamily="34"/>
                <a:cs typeface="IBM Plex Sans" pitchFamily="34"/>
              </a:rPr>
              <a:t>(change status:</a:t>
            </a:r>
          </a:p>
          <a:p>
            <a:pPr algn="l">
              <a:spcAft>
                <a:spcPts val="0"/>
              </a:spcAft>
            </a:pPr>
            <a:r>
              <a:rPr sz="1200" b="0">
                <a:solidFill>
                  <a:srgbClr val="5F6673"/>
                </a:solidFill>
                <a:latin typeface="IBM Plex Sans" pitchFamily="34"/>
                <a:ea typeface="IBM Plex Sans" pitchFamily="34"/>
                <a:cs typeface="IBM Plex Sans" pitchFamily="34"/>
              </a:rPr>
              <a:t>optional in the MVP)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231"/>
                </a:solidFill>
                <a:latin typeface="IBM Plex Sans" pitchFamily="34" charset="0"/>
                <a:ea typeface="IBM Plex Sans" pitchFamily="34" charset="-122"/>
                <a:cs typeface="IBM Plex Sans" pitchFamily="34" charset="-120"/>
              </a:rPr>
              <a:t>Human review: read the diff, edit, approve</a:t>
            </a:r>
            <a:endParaRPr lang="en-US" sz="3200" dirty="0"/>
          </a:p>
        </p:txBody>
      </p:sp>
      <p:sp>
        <p:nvSpPr>
          <p:cNvPr id="3" name="Shape 1"/>
          <p:cNvSpPr/>
          <p:nvPr/>
        </p:nvSpPr>
        <p:spPr>
          <a:xfrm>
            <a:off x="815975" y="1588136"/>
            <a:ext cx="6150610" cy="2584450"/>
          </a:xfrm>
          <a:prstGeom prst="roundRect">
            <a:avLst>
              <a:gd name="adj" fmla="val 3808"/>
            </a:avLst>
          </a:prstGeom>
          <a:solidFill>
            <a:srgbClr val="FCFCFA"/>
          </a:solidFill>
          <a:ln w="6350">
            <a:solidFill>
              <a:srgbClr val="DEDCD3"/>
            </a:solidFill>
            <a:prstDash val="solid"/>
          </a:ln>
        </p:spPr>
      </p:sp>
      <p:sp>
        <p:nvSpPr>
          <p:cNvPr id="4" name="Text 2"/>
          <p:cNvSpPr/>
          <p:nvPr/>
        </p:nvSpPr>
        <p:spPr>
          <a:xfrm>
            <a:off x="1122680" y="1793241"/>
            <a:ext cx="57033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JetBrains Mono" pitchFamily="49" charset="0"/>
                <a:ea typeface="JetBrains Mono" pitchFamily="49" charset="-122"/>
                <a:cs typeface="JetBrains Mono" pitchFamily="49" charset="-120"/>
              </a:rPr>
              <a:t>function-view.sysml · illustrative</a:t>
            </a:r>
            <a:endParaRPr lang="en-US" sz="1200" dirty="0"/>
          </a:p>
        </p:txBody>
      </p:sp>
      <p:sp>
        <p:nvSpPr>
          <p:cNvPr id="5" name="Text 3"/>
          <p:cNvSpPr/>
          <p:nvPr/>
        </p:nvSpPr>
        <p:spPr>
          <a:xfrm>
            <a:off x="1122680" y="2120900"/>
            <a:ext cx="5703316" cy="3098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72231"/>
                </a:solidFill>
                <a:latin typeface="JetBrains Mono" pitchFamily="49" charset="0"/>
                <a:ea typeface="JetBrains Mono" pitchFamily="49" charset="-122"/>
                <a:cs typeface="JetBrains Mono" pitchFamily="49" charset="-120"/>
              </a:rPr>
              <a:t>  package FunctionView {</a:t>
            </a:r>
            <a:endParaRPr lang="en-US" sz="1400" dirty="0"/>
          </a:p>
        </p:txBody>
      </p:sp>
      <p:sp>
        <p:nvSpPr>
          <p:cNvPr id="6" name="Text 4"/>
          <p:cNvSpPr/>
          <p:nvPr/>
        </p:nvSpPr>
        <p:spPr>
          <a:xfrm>
            <a:off x="1122680" y="2430780"/>
            <a:ext cx="5703316" cy="3098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72231"/>
                </a:solidFill>
                <a:latin typeface="JetBrains Mono" pitchFamily="49" charset="0"/>
                <a:ea typeface="JetBrains Mono" pitchFamily="49" charset="-122"/>
                <a:cs typeface="JetBrains Mono" pitchFamily="49" charset="-120"/>
              </a:rPr>
              <a:t>    action def HeatWater;</a:t>
            </a:r>
            <a:endParaRPr lang="en-US" sz="1400" dirty="0"/>
          </a:p>
        </p:txBody>
      </p:sp>
      <p:sp>
        <p:nvSpPr>
          <p:cNvPr id="7" name="Text 5"/>
          <p:cNvSpPr/>
          <p:nvPr/>
        </p:nvSpPr>
        <p:spPr>
          <a:xfrm>
            <a:off x="1021080" y="2727961"/>
            <a:ext cx="5740400" cy="309880"/>
          </a:xfrm>
          <a:prstGeom prst="rect">
            <a:avLst/>
          </a:prstGeom>
          <a:solidFill>
            <a:srgbClr val="E3F1E8"/>
          </a:solidFill>
          <a:ln/>
        </p:spPr>
        <p:txBody>
          <a:bodyPr wrap="square" lIns="101600" tIns="12700" rIns="0" bIns="0" rtlCol="0" anchor="t">
            <a:normAutofit/>
          </a:bodyPr>
          <a:lstStyle/>
          <a:p>
            <a:pPr algn="l" indent="0" marL="0">
              <a:lnSpc>
                <a:spcPts val="2240"/>
              </a:lnSpc>
              <a:buNone/>
            </a:pPr>
            <a:r>
              <a:rPr lang="en-US" sz="1400" dirty="0">
                <a:solidFill>
                  <a:srgbClr val="1E5E3A"/>
                </a:solidFill>
                <a:latin typeface="JetBrains Mono" pitchFamily="49" charset="0"/>
                <a:ea typeface="JetBrains Mono" pitchFamily="49" charset="-122"/>
                <a:cs typeface="JetBrains Mono" pitchFamily="49" charset="-120"/>
              </a:rPr>
              <a:t>+   action def DetectLoad;  // REQ-102 neu</a:t>
            </a:r>
            <a:endParaRPr lang="en-US" sz="1400" dirty="0"/>
          </a:p>
        </p:txBody>
      </p:sp>
      <p:sp>
        <p:nvSpPr>
          <p:cNvPr id="8" name="Text 6"/>
          <p:cNvSpPr/>
          <p:nvPr/>
        </p:nvSpPr>
        <p:spPr>
          <a:xfrm>
            <a:off x="1021080" y="3037841"/>
            <a:ext cx="5740400" cy="309880"/>
          </a:xfrm>
          <a:prstGeom prst="rect">
            <a:avLst/>
          </a:prstGeom>
          <a:solidFill>
            <a:srgbClr val="F7E2DF"/>
          </a:solidFill>
          <a:ln/>
        </p:spPr>
        <p:txBody>
          <a:bodyPr wrap="square" lIns="101600" tIns="12700" rIns="0" bIns="0" rtlCol="0" anchor="t">
            <a:normAutofit/>
          </a:bodyPr>
          <a:lstStyle/>
          <a:p>
            <a:pPr algn="l" indent="0" marL="0">
              <a:lnSpc>
                <a:spcPts val="2240"/>
              </a:lnSpc>
              <a:buNone/>
            </a:pPr>
            <a:r>
              <a:rPr lang="en-US" sz="1400" dirty="0">
                <a:solidFill>
                  <a:srgbClr val="8E2A21"/>
                </a:solidFill>
                <a:latin typeface="JetBrains Mono" pitchFamily="49" charset="0"/>
                <a:ea typeface="JetBrains Mono" pitchFamily="49" charset="-122"/>
                <a:cs typeface="JetBrains Mono" pitchFamily="49" charset="-120"/>
              </a:rPr>
              <a:t>−   action def ManualTimer; // REQ-087 obsolet</a:t>
            </a:r>
            <a:endParaRPr lang="en-US" sz="1400" dirty="0"/>
          </a:p>
        </p:txBody>
      </p:sp>
      <p:sp>
        <p:nvSpPr>
          <p:cNvPr id="9" name="Text 7"/>
          <p:cNvSpPr/>
          <p:nvPr/>
        </p:nvSpPr>
        <p:spPr>
          <a:xfrm>
            <a:off x="1122680" y="3360420"/>
            <a:ext cx="5703316" cy="3098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72231"/>
                </a:solidFill>
                <a:latin typeface="JetBrains Mono" pitchFamily="49" charset="0"/>
                <a:ea typeface="JetBrains Mono" pitchFamily="49" charset="-122"/>
                <a:cs typeface="JetBrains Mono" pitchFamily="49" charset="-120"/>
              </a:rPr>
              <a:t>    action def StartProgram;</a:t>
            </a:r>
            <a:endParaRPr lang="en-US" sz="1400" dirty="0"/>
          </a:p>
        </p:txBody>
      </p:sp>
      <p:sp>
        <p:nvSpPr>
          <p:cNvPr id="10" name="Text 8"/>
          <p:cNvSpPr/>
          <p:nvPr/>
        </p:nvSpPr>
        <p:spPr>
          <a:xfrm>
            <a:off x="1122680" y="3670300"/>
            <a:ext cx="5703316" cy="3098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72231"/>
                </a:solidFill>
                <a:latin typeface="JetBrains Mono" pitchFamily="49" charset="0"/>
                <a:ea typeface="JetBrains Mono" pitchFamily="49" charset="-122"/>
                <a:cs typeface="JetBrains Mono" pitchFamily="49" charset="-120"/>
              </a:rPr>
              <a:t>  }</a:t>
            </a:r>
            <a:endParaRPr lang="en-US" sz="1400" dirty="0"/>
          </a:p>
        </p:txBody>
      </p:sp>
      <p:sp>
        <p:nvSpPr>
          <p:cNvPr id="11" name="Text 9"/>
          <p:cNvSpPr/>
          <p:nvPr/>
        </p:nvSpPr>
        <p:spPr>
          <a:xfrm>
            <a:off x="812800" y="4302761"/>
            <a:ext cx="63416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Black = unchanged · green + = added · red − = removed</a:t>
            </a:r>
            <a:endParaRPr lang="en-US" sz="1200" dirty="0"/>
          </a:p>
        </p:txBody>
      </p:sp>
      <p:sp>
        <p:nvSpPr>
          <p:cNvPr id="12" name="Text 10"/>
          <p:cNvSpPr/>
          <p:nvPr/>
        </p:nvSpPr>
        <p:spPr>
          <a:xfrm>
            <a:off x="7274560" y="1584961"/>
            <a:ext cx="294640" cy="7975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62C9"/>
                </a:solidFill>
                <a:latin typeface="JetBrains Mono" pitchFamily="49" charset="0"/>
                <a:ea typeface="JetBrains Mono" pitchFamily="49" charset="-122"/>
                <a:cs typeface="JetBrains Mono" pitchFamily="49" charset="-120"/>
              </a:rPr>
              <a:t>01</a:t>
            </a:r>
            <a:endParaRPr lang="en-US" sz="1600" dirty="0"/>
          </a:p>
        </p:txBody>
      </p:sp>
      <p:sp>
        <p:nvSpPr>
          <p:cNvPr id="13" name="Text 11"/>
          <p:cNvSpPr/>
          <p:nvPr/>
        </p:nvSpPr>
        <p:spPr>
          <a:xfrm>
            <a:off x="7645400" y="1584961"/>
            <a:ext cx="384581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Review the diff</a:t>
            </a:r>
            <a:endParaRPr lang="en-US" sz="1700" dirty="0"/>
          </a:p>
        </p:txBody>
      </p:sp>
      <p:sp>
        <p:nvSpPr>
          <p:cNvPr id="14" name="Text 12"/>
          <p:cNvSpPr/>
          <p:nvPr/>
        </p:nvSpPr>
        <p:spPr>
          <a:xfrm>
            <a:off x="7645400" y="1894841"/>
            <a:ext cx="384581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Check each change against the requirement that caused it</a:t>
            </a:r>
            <a:endParaRPr lang="en-US" sz="1300" dirty="0"/>
          </a:p>
        </p:txBody>
      </p:sp>
      <p:sp>
        <p:nvSpPr>
          <p:cNvPr id="15" name="Text 13"/>
          <p:cNvSpPr/>
          <p:nvPr/>
        </p:nvSpPr>
        <p:spPr>
          <a:xfrm>
            <a:off x="7274560" y="2560320"/>
            <a:ext cx="294640" cy="5664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62C9"/>
                </a:solidFill>
                <a:latin typeface="JetBrains Mono" pitchFamily="49" charset="0"/>
                <a:ea typeface="JetBrains Mono" pitchFamily="49" charset="-122"/>
                <a:cs typeface="JetBrains Mono" pitchFamily="49" charset="-120"/>
              </a:rPr>
              <a:t>02</a:t>
            </a:r>
            <a:endParaRPr lang="en-US" sz="1600" dirty="0"/>
          </a:p>
        </p:txBody>
      </p:sp>
      <p:sp>
        <p:nvSpPr>
          <p:cNvPr id="16" name="Text 14"/>
          <p:cNvSpPr/>
          <p:nvPr/>
        </p:nvSpPr>
        <p:spPr>
          <a:xfrm>
            <a:off x="7645400" y="2560320"/>
            <a:ext cx="384581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Edit if needed</a:t>
            </a:r>
            <a:endParaRPr lang="en-US" sz="1700" dirty="0"/>
          </a:p>
        </p:txBody>
      </p:sp>
      <p:sp>
        <p:nvSpPr>
          <p:cNvPr id="17" name="Text 15"/>
          <p:cNvSpPr/>
          <p:nvPr/>
        </p:nvSpPr>
        <p:spPr>
          <a:xfrm>
            <a:off x="7645400" y="2870200"/>
            <a:ext cx="384581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Correct the generated SysML v2 directly</a:t>
            </a:r>
            <a:endParaRPr lang="en-US" sz="1300" dirty="0"/>
          </a:p>
        </p:txBody>
      </p:sp>
      <p:sp>
        <p:nvSpPr>
          <p:cNvPr id="18" name="Text 16"/>
          <p:cNvSpPr/>
          <p:nvPr/>
        </p:nvSpPr>
        <p:spPr>
          <a:xfrm>
            <a:off x="7274560" y="3304541"/>
            <a:ext cx="294640" cy="7975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62C9"/>
                </a:solidFill>
                <a:latin typeface="JetBrains Mono" pitchFamily="49" charset="0"/>
                <a:ea typeface="JetBrains Mono" pitchFamily="49" charset="-122"/>
                <a:cs typeface="JetBrains Mono" pitchFamily="49" charset="-120"/>
              </a:rPr>
              <a:t>03</a:t>
            </a:r>
            <a:endParaRPr lang="en-US" sz="1600" dirty="0"/>
          </a:p>
        </p:txBody>
      </p:sp>
      <p:sp>
        <p:nvSpPr>
          <p:cNvPr id="19" name="Text 17"/>
          <p:cNvSpPr/>
          <p:nvPr/>
        </p:nvSpPr>
        <p:spPr>
          <a:xfrm>
            <a:off x="7645400" y="3304541"/>
            <a:ext cx="384581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Approve</a:t>
            </a:r>
            <a:endParaRPr lang="en-US" sz="1700" dirty="0"/>
          </a:p>
        </p:txBody>
      </p:sp>
      <p:sp>
        <p:nvSpPr>
          <p:cNvPr id="20" name="Text 18"/>
          <p:cNvSpPr/>
          <p:nvPr/>
        </p:nvSpPr>
        <p:spPr>
          <a:xfrm>
            <a:off x="7645400" y="3614420"/>
            <a:ext cx="384581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The approved model is the input for the next iteration</a:t>
            </a:r>
            <a:endParaRPr lang="en-US" sz="1300" dirty="0"/>
          </a:p>
        </p:txBody>
      </p:sp>
      <p:sp>
        <p:nvSpPr>
          <p:cNvPr id="21" name="Text 19"/>
          <p:cNvSpPr/>
          <p:nvPr/>
        </p:nvSpPr>
        <p:spPr>
          <a:xfrm>
            <a:off x="7274560" y="4279900"/>
            <a:ext cx="4104640" cy="452120"/>
          </a:xfrm>
          <a:prstGeom prst="roundRect">
            <a:avLst>
              <a:gd name="adj" fmla="val 16854"/>
            </a:avLst>
          </a:prstGeom>
          <a:solidFill>
            <a:srgbClr val="E6ECF8"/>
          </a:solidFill>
          <a:ln/>
        </p:spPr>
        <p:txBody>
          <a:bodyPr wrap="square" lIns="130082" tIns="79282" rIns="16087" bIns="53882" rtlCol="0" anchor="t">
            <a:normAutofit/>
          </a:bodyPr>
          <a:lstStyle/>
          <a:p>
            <a:pPr algn="l" indent="0" marL="0">
              <a:lnSpc>
                <a:spcPts val="1960"/>
              </a:lnSpc>
              <a:buNone/>
            </a:pPr>
            <a:r>
              <a:rPr lang="en-US" sz="1400" b="1" dirty="0">
                <a:solidFill>
                  <a:srgbClr val="2F62C9"/>
                </a:solidFill>
                <a:latin typeface="IBM Plex Sans" pitchFamily="34" charset="0"/>
                <a:ea typeface="IBM Plex Sans" pitchFamily="34" charset="-122"/>
                <a:cs typeface="IBM Plex Sans" pitchFamily="34" charset="-120"/>
              </a:rPr>
              <a:t>↻ Continue with the next step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231"/>
                </a:solidFill>
                <a:latin typeface="IBM Plex Sans" pitchFamily="34" charset="0"/>
                <a:ea typeface="IBM Plex Sans" pitchFamily="34" charset="-122"/>
                <a:cs typeface="IBM Plex Sans" pitchFamily="34" charset="-120"/>
              </a:rPr>
              <a:t>Ideal target architecture</a:t>
            </a:r>
            <a:endParaRPr lang="en-US" sz="3200" dirty="0"/>
          </a:p>
        </p:txBody>
      </p:sp>
      <p:sp>
        <p:nvSpPr>
          <p:cNvPr id="3" name="Shape 1"/>
          <p:cNvSpPr/>
          <p:nvPr/>
        </p:nvSpPr>
        <p:spPr>
          <a:xfrm>
            <a:off x="815975" y="1551560"/>
            <a:ext cx="5200650" cy="1131570"/>
          </a:xfrm>
          <a:prstGeom prst="roundRect">
            <a:avLst>
              <a:gd name="adj" fmla="val 8698"/>
            </a:avLst>
          </a:prstGeom>
          <a:solidFill>
            <a:srgbClr val="FCFCFA"/>
          </a:solidFill>
          <a:ln w="6350">
            <a:solidFill>
              <a:srgbClr val="DEDCD3"/>
            </a:solidFill>
            <a:prstDash val="solid"/>
          </a:ln>
        </p:spPr>
      </p:sp>
      <p:sp>
        <p:nvSpPr>
          <p:cNvPr id="4" name="Text 2"/>
          <p:cNvSpPr/>
          <p:nvPr/>
        </p:nvSpPr>
        <p:spPr>
          <a:xfrm>
            <a:off x="1021080" y="1731263"/>
            <a:ext cx="264160" cy="7975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2C9"/>
                </a:solidFill>
                <a:latin typeface="JetBrains Mono" pitchFamily="49" charset="0"/>
                <a:ea typeface="JetBrains Mono" pitchFamily="49" charset="-122"/>
                <a:cs typeface="JetBrains Mono" pitchFamily="49" charset="-120"/>
              </a:rPr>
              <a:t>01</a:t>
            </a:r>
            <a:endParaRPr lang="en-US" sz="1400" dirty="0"/>
          </a:p>
        </p:txBody>
      </p:sp>
      <p:sp>
        <p:nvSpPr>
          <p:cNvPr id="5" name="Text 3"/>
          <p:cNvSpPr/>
          <p:nvPr/>
        </p:nvSpPr>
        <p:spPr>
          <a:xfrm>
            <a:off x="1386840" y="1731263"/>
            <a:ext cx="455742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Targeted retrieval</a:t>
            </a:r>
            <a:endParaRPr lang="en-US" sz="1700" dirty="0"/>
          </a:p>
        </p:txBody>
      </p:sp>
      <p:sp>
        <p:nvSpPr>
          <p:cNvPr id="6" name="Text 4"/>
          <p:cNvSpPr/>
          <p:nvPr/>
        </p:nvSpPr>
        <p:spPr>
          <a:xfrm>
            <a:off x="1386840" y="2041145"/>
            <a:ext cx="455742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Pull only the requirements and relations relevant to the current step from Polarion</a:t>
            </a:r>
            <a:endParaRPr lang="en-US" sz="1300" dirty="0"/>
          </a:p>
        </p:txBody>
      </p:sp>
      <p:sp>
        <p:nvSpPr>
          <p:cNvPr id="7" name="Shape 5"/>
          <p:cNvSpPr/>
          <p:nvPr/>
        </p:nvSpPr>
        <p:spPr>
          <a:xfrm>
            <a:off x="6175375" y="1551560"/>
            <a:ext cx="5200650" cy="1131570"/>
          </a:xfrm>
          <a:prstGeom prst="roundRect">
            <a:avLst>
              <a:gd name="adj" fmla="val 8698"/>
            </a:avLst>
          </a:prstGeom>
          <a:solidFill>
            <a:srgbClr val="FCFCFA"/>
          </a:solidFill>
          <a:ln w="6350">
            <a:solidFill>
              <a:srgbClr val="DEDCD3"/>
            </a:solidFill>
            <a:prstDash val="solid"/>
          </a:ln>
        </p:spPr>
      </p:sp>
      <p:sp>
        <p:nvSpPr>
          <p:cNvPr id="8" name="Text 6"/>
          <p:cNvSpPr/>
          <p:nvPr/>
        </p:nvSpPr>
        <p:spPr>
          <a:xfrm>
            <a:off x="6380480" y="1731263"/>
            <a:ext cx="264160" cy="7975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2C9"/>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6746240" y="1731263"/>
            <a:ext cx="455742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Visual, editable diff</a:t>
            </a:r>
            <a:endParaRPr lang="en-US" sz="1700" dirty="0"/>
          </a:p>
        </p:txBody>
      </p:sp>
      <p:sp>
        <p:nvSpPr>
          <p:cNvPr id="10" name="Text 8"/>
          <p:cNvSpPr/>
          <p:nvPr/>
        </p:nvSpPr>
        <p:spPr>
          <a:xfrm>
            <a:off x="6746240" y="2041145"/>
            <a:ext cx="455742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An architecture view that marks unchanged, added and removed elements like a code diff</a:t>
            </a:r>
            <a:endParaRPr lang="en-US" sz="1300" dirty="0"/>
          </a:p>
        </p:txBody>
      </p:sp>
      <p:sp>
        <p:nvSpPr>
          <p:cNvPr id="11" name="Shape 9"/>
          <p:cNvSpPr/>
          <p:nvPr/>
        </p:nvSpPr>
        <p:spPr>
          <a:xfrm>
            <a:off x="815975" y="2796161"/>
            <a:ext cx="5200650" cy="1131570"/>
          </a:xfrm>
          <a:prstGeom prst="roundRect">
            <a:avLst>
              <a:gd name="adj" fmla="val 8698"/>
            </a:avLst>
          </a:prstGeom>
          <a:solidFill>
            <a:srgbClr val="FCFCFA"/>
          </a:solidFill>
          <a:ln w="6350">
            <a:solidFill>
              <a:srgbClr val="DEDCD3"/>
            </a:solidFill>
            <a:prstDash val="solid"/>
          </a:ln>
        </p:spPr>
      </p:sp>
      <p:sp>
        <p:nvSpPr>
          <p:cNvPr id="12" name="Text 10"/>
          <p:cNvSpPr/>
          <p:nvPr/>
        </p:nvSpPr>
        <p:spPr>
          <a:xfrm>
            <a:off x="1021080" y="2975865"/>
            <a:ext cx="264160" cy="7975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2C9"/>
                </a:solidFill>
                <a:latin typeface="JetBrains Mono" pitchFamily="49" charset="0"/>
                <a:ea typeface="JetBrains Mono" pitchFamily="49" charset="-122"/>
                <a:cs typeface="JetBrains Mono" pitchFamily="49" charset="-120"/>
              </a:rPr>
              <a:t>03</a:t>
            </a:r>
            <a:endParaRPr lang="en-US" sz="1400" dirty="0"/>
          </a:p>
        </p:txBody>
      </p:sp>
      <p:sp>
        <p:nvSpPr>
          <p:cNvPr id="13" name="Text 11"/>
          <p:cNvSpPr/>
          <p:nvPr/>
        </p:nvSpPr>
        <p:spPr>
          <a:xfrm>
            <a:off x="1386840" y="2975865"/>
            <a:ext cx="455742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Bottom-up feedback</a:t>
            </a:r>
            <a:endParaRPr lang="en-US" sz="1700" dirty="0"/>
          </a:p>
        </p:txBody>
      </p:sp>
      <p:sp>
        <p:nvSpPr>
          <p:cNvPr id="14" name="Text 12"/>
          <p:cNvSpPr/>
          <p:nvPr/>
        </p:nvSpPr>
        <p:spPr>
          <a:xfrm>
            <a:off x="1386840" y="3285743"/>
            <a:ext cx="455742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Findings on lower levels flow back into higher levels, not only top-down refinement</a:t>
            </a:r>
            <a:endParaRPr lang="en-US" sz="1300" dirty="0"/>
          </a:p>
        </p:txBody>
      </p:sp>
      <p:sp>
        <p:nvSpPr>
          <p:cNvPr id="15" name="Shape 13"/>
          <p:cNvSpPr/>
          <p:nvPr/>
        </p:nvSpPr>
        <p:spPr>
          <a:xfrm>
            <a:off x="6175375" y="2796161"/>
            <a:ext cx="5200650" cy="1131570"/>
          </a:xfrm>
          <a:prstGeom prst="roundRect">
            <a:avLst>
              <a:gd name="adj" fmla="val 8698"/>
            </a:avLst>
          </a:prstGeom>
          <a:solidFill>
            <a:srgbClr val="FCFCFA"/>
          </a:solidFill>
          <a:ln w="6350">
            <a:solidFill>
              <a:srgbClr val="DEDCD3"/>
            </a:solidFill>
            <a:prstDash val="solid"/>
          </a:ln>
        </p:spPr>
      </p:sp>
      <p:sp>
        <p:nvSpPr>
          <p:cNvPr id="16" name="Text 14"/>
          <p:cNvSpPr/>
          <p:nvPr/>
        </p:nvSpPr>
        <p:spPr>
          <a:xfrm>
            <a:off x="6380480" y="2975865"/>
            <a:ext cx="264160" cy="7975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2C9"/>
                </a:solidFill>
                <a:latin typeface="JetBrains Mono" pitchFamily="49" charset="0"/>
                <a:ea typeface="JetBrains Mono" pitchFamily="49" charset="-122"/>
                <a:cs typeface="JetBrains Mono" pitchFamily="49" charset="-120"/>
              </a:rPr>
              <a:t>04</a:t>
            </a:r>
            <a:endParaRPr lang="en-US" sz="1400" dirty="0"/>
          </a:p>
        </p:txBody>
      </p:sp>
      <p:sp>
        <p:nvSpPr>
          <p:cNvPr id="17" name="Text 15"/>
          <p:cNvSpPr/>
          <p:nvPr/>
        </p:nvSpPr>
        <p:spPr>
          <a:xfrm>
            <a:off x="6746240" y="2975865"/>
            <a:ext cx="455742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Intermediate representation</a:t>
            </a:r>
            <a:endParaRPr lang="en-US" sz="1700" dirty="0"/>
          </a:p>
        </p:txBody>
      </p:sp>
      <p:sp>
        <p:nvSpPr>
          <p:cNvPr id="18" name="Text 16"/>
          <p:cNvSpPr/>
          <p:nvPr/>
        </p:nvSpPr>
        <p:spPr>
          <a:xfrm>
            <a:off x="6746240" y="3285743"/>
            <a:ext cx="455742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Functions, requirements, logical and technical blocks as a model before SysML v2</a:t>
            </a:r>
            <a:endParaRPr lang="en-US" sz="1300" dirty="0"/>
          </a:p>
        </p:txBody>
      </p:sp>
      <p:sp>
        <p:nvSpPr>
          <p:cNvPr id="19" name="Shape 17"/>
          <p:cNvSpPr/>
          <p:nvPr/>
        </p:nvSpPr>
        <p:spPr>
          <a:xfrm>
            <a:off x="815975" y="4040759"/>
            <a:ext cx="5200650" cy="1131570"/>
          </a:xfrm>
          <a:prstGeom prst="roundRect">
            <a:avLst>
              <a:gd name="adj" fmla="val 8698"/>
            </a:avLst>
          </a:prstGeom>
          <a:solidFill>
            <a:srgbClr val="FCFCFA"/>
          </a:solidFill>
          <a:ln w="6350">
            <a:solidFill>
              <a:srgbClr val="DEDCD3"/>
            </a:solidFill>
            <a:prstDash val="solid"/>
          </a:ln>
        </p:spPr>
      </p:sp>
      <p:sp>
        <p:nvSpPr>
          <p:cNvPr id="20" name="Text 18"/>
          <p:cNvSpPr/>
          <p:nvPr/>
        </p:nvSpPr>
        <p:spPr>
          <a:xfrm>
            <a:off x="1021080" y="4220466"/>
            <a:ext cx="264160" cy="7975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2C9"/>
                </a:solidFill>
                <a:latin typeface="JetBrains Mono" pitchFamily="49" charset="0"/>
                <a:ea typeface="JetBrains Mono" pitchFamily="49" charset="-122"/>
                <a:cs typeface="JetBrains Mono" pitchFamily="49" charset="-120"/>
              </a:rPr>
              <a:t>05</a:t>
            </a:r>
            <a:endParaRPr lang="en-US" sz="1400" dirty="0"/>
          </a:p>
        </p:txBody>
      </p:sp>
      <p:sp>
        <p:nvSpPr>
          <p:cNvPr id="21" name="Text 19"/>
          <p:cNvSpPr/>
          <p:nvPr/>
        </p:nvSpPr>
        <p:spPr>
          <a:xfrm>
            <a:off x="1386840" y="4220466"/>
            <a:ext cx="455742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Non-functional requirements</a:t>
            </a:r>
            <a:endParaRPr lang="en-US" sz="1700" dirty="0"/>
          </a:p>
        </p:txBody>
      </p:sp>
      <p:sp>
        <p:nvSpPr>
          <p:cNvPr id="22" name="Text 20"/>
          <p:cNvSpPr/>
          <p:nvPr/>
        </p:nvSpPr>
        <p:spPr>
          <a:xfrm>
            <a:off x="1386840" y="4530345"/>
            <a:ext cx="455742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Include them as well, after checking whether they are ever needed</a:t>
            </a:r>
            <a:endParaRPr lang="en-US" sz="1300" dirty="0"/>
          </a:p>
        </p:txBody>
      </p:sp>
      <p:sp>
        <p:nvSpPr>
          <p:cNvPr id="23" name="Shape 21"/>
          <p:cNvSpPr/>
          <p:nvPr/>
        </p:nvSpPr>
        <p:spPr>
          <a:xfrm>
            <a:off x="6175375" y="4040759"/>
            <a:ext cx="5200650" cy="1131570"/>
          </a:xfrm>
          <a:prstGeom prst="roundRect">
            <a:avLst>
              <a:gd name="adj" fmla="val 8698"/>
            </a:avLst>
          </a:prstGeom>
          <a:solidFill>
            <a:srgbClr val="FCFCFA"/>
          </a:solidFill>
          <a:ln w="6350">
            <a:solidFill>
              <a:srgbClr val="DEDCD3"/>
            </a:solidFill>
            <a:prstDash val="solid"/>
          </a:ln>
        </p:spPr>
      </p:sp>
      <p:sp>
        <p:nvSpPr>
          <p:cNvPr id="24" name="Text 22"/>
          <p:cNvSpPr/>
          <p:nvPr/>
        </p:nvSpPr>
        <p:spPr>
          <a:xfrm>
            <a:off x="6380480" y="4220466"/>
            <a:ext cx="264160" cy="7975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2C9"/>
                </a:solidFill>
                <a:latin typeface="JetBrains Mono" pitchFamily="49" charset="0"/>
                <a:ea typeface="JetBrains Mono" pitchFamily="49" charset="-122"/>
                <a:cs typeface="JetBrains Mono" pitchFamily="49" charset="-120"/>
              </a:rPr>
              <a:t>06</a:t>
            </a:r>
            <a:endParaRPr lang="en-US" sz="1400" dirty="0"/>
          </a:p>
        </p:txBody>
      </p:sp>
      <p:sp>
        <p:nvSpPr>
          <p:cNvPr id="25" name="Text 23"/>
          <p:cNvSpPr/>
          <p:nvPr/>
        </p:nvSpPr>
        <p:spPr>
          <a:xfrm>
            <a:off x="6746240" y="4220466"/>
            <a:ext cx="455742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Own implementation</a:t>
            </a:r>
            <a:endParaRPr lang="en-US" sz="1700" dirty="0"/>
          </a:p>
        </p:txBody>
      </p:sp>
      <p:sp>
        <p:nvSpPr>
          <p:cNvPr id="26" name="Text 24"/>
          <p:cNvSpPr/>
          <p:nvPr/>
        </p:nvSpPr>
        <p:spPr>
          <a:xfrm>
            <a:off x="6746240" y="4530345"/>
            <a:ext cx="45574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A dedicated tool instead of a coding-assistant setup</a:t>
            </a:r>
            <a:endParaRPr lang="en-US" sz="1300" dirty="0"/>
          </a:p>
        </p:txBody>
      </p:sp>
      <p:sp>
        <p:nvSpPr>
          <p:cNvPr id="61" name="Shape 17"/>
          <p:cNvSpPr/>
          <p:nvPr/>
        </p:nvSpPr>
        <p:spPr>
          <a:xfrm>
            <a:off x="815975" y="5284343"/>
            <a:ext cx="5200650" cy="1131570"/>
          </a:xfrm>
          <a:prstGeom prst="roundRect">
            <a:avLst>
              <a:gd name="adj" fmla="val 8698"/>
            </a:avLst>
          </a:prstGeom>
          <a:solidFill>
            <a:srgbClr val="FCFCFA"/>
          </a:solidFill>
          <a:ln w="6350">
            <a:solidFill>
              <a:srgbClr val="DEDCD3"/>
            </a:solidFill>
            <a:prstDash val="solid"/>
          </a:ln>
        </p:spPr>
        <p:txBody>
          <a:bodyPr/>
          <a:p/>
        </p:txBody>
      </p:sp>
      <p:sp>
        <p:nvSpPr>
          <p:cNvPr id="62" name="Text 18"/>
          <p:cNvSpPr/>
          <p:nvPr/>
        </p:nvSpPr>
        <p:spPr>
          <a:xfrm>
            <a:off x="1021080" y="5464050"/>
            <a:ext cx="264160" cy="7975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2C9"/>
                </a:solidFill>
                <a:latin typeface="JetBrains Mono" pitchFamily="49" charset="0"/>
                <a:ea typeface="JetBrains Mono" pitchFamily="49" charset="-122"/>
                <a:cs typeface="JetBrains Mono" pitchFamily="49" charset="-120"/>
              </a:rPr>
              <a:t>07</a:t>
            </a:r>
            <a:endParaRPr lang="en-US" sz="1400" dirty="0"/>
          </a:p>
        </p:txBody>
      </p:sp>
      <p:sp>
        <p:nvSpPr>
          <p:cNvPr id="63" name="Text 19"/>
          <p:cNvSpPr/>
          <p:nvPr/>
        </p:nvSpPr>
        <p:spPr>
          <a:xfrm>
            <a:off x="1386840" y="5464050"/>
            <a:ext cx="455742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Change status detection</a:t>
            </a:r>
            <a:endParaRPr lang="en-US" sz="1700" dirty="0"/>
          </a:p>
        </p:txBody>
      </p:sp>
      <p:sp>
        <p:nvSpPr>
          <p:cNvPr id="64" name="Text 20"/>
          <p:cNvSpPr/>
          <p:nvPr/>
        </p:nvSpPr>
        <p:spPr>
          <a:xfrm>
            <a:off x="1386840" y="5773929"/>
            <a:ext cx="4557420" cy="4846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Tag each requirement (neu, Text geändert, Link geändert, gelöscht, unverändert); process only changes</a:t>
            </a:r>
            <a:endParaRPr lang="en-US" sz="1300" dirty="0"/>
          </a:p>
        </p:txBody>
      </p:sp>
      <p:sp>
        <p:nvSpPr>
          <p:cNvPr id="65" name="Shape 21"/>
          <p:cNvSpPr/>
          <p:nvPr/>
        </p:nvSpPr>
        <p:spPr>
          <a:xfrm>
            <a:off x="6175375" y="5284343"/>
            <a:ext cx="5200650" cy="1131570"/>
          </a:xfrm>
          <a:prstGeom prst="roundRect">
            <a:avLst>
              <a:gd name="adj" fmla="val 8698"/>
            </a:avLst>
          </a:prstGeom>
          <a:solidFill>
            <a:srgbClr val="FCFCFA"/>
          </a:solidFill>
          <a:ln w="6350">
            <a:solidFill>
              <a:srgbClr val="DEDCD3"/>
            </a:solidFill>
            <a:prstDash val="solid"/>
          </a:ln>
        </p:spPr>
        <p:txBody>
          <a:bodyPr/>
          <a:p/>
        </p:txBody>
      </p:sp>
      <p:sp>
        <p:nvSpPr>
          <p:cNvPr id="66" name="Text 22"/>
          <p:cNvSpPr/>
          <p:nvPr/>
        </p:nvSpPr>
        <p:spPr>
          <a:xfrm>
            <a:off x="6380480" y="5464050"/>
            <a:ext cx="264160" cy="7975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2C9"/>
                </a:solidFill>
                <a:latin typeface="JetBrains Mono" pitchFamily="49" charset="0"/>
                <a:ea typeface="JetBrains Mono" pitchFamily="49" charset="-122"/>
                <a:cs typeface="JetBrains Mono" pitchFamily="49" charset="-120"/>
              </a:rPr>
              <a:t>08</a:t>
            </a:r>
            <a:endParaRPr lang="en-US" sz="1400" dirty="0"/>
          </a:p>
        </p:txBody>
      </p:sp>
      <p:sp>
        <p:nvSpPr>
          <p:cNvPr id="67" name="Text 23"/>
          <p:cNvSpPr/>
          <p:nvPr/>
        </p:nvSpPr>
        <p:spPr>
          <a:xfrm>
            <a:off x="6746240" y="5464050"/>
            <a:ext cx="455742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231"/>
                </a:solidFill>
                <a:latin typeface="IBM Plex Sans" pitchFamily="34" charset="0"/>
                <a:ea typeface="IBM Plex Sans" pitchFamily="34" charset="-122"/>
                <a:cs typeface="IBM Plex Sans" pitchFamily="34" charset="-120"/>
              </a:rPr>
              <a:t>Layered validation</a:t>
            </a:r>
            <a:endParaRPr lang="en-US" sz="1700" dirty="0"/>
          </a:p>
        </p:txBody>
      </p:sp>
      <p:sp>
        <p:nvSpPr>
          <p:cNvPr id="68" name="Text 24"/>
          <p:cNvSpPr/>
          <p:nvPr/>
        </p:nvSpPr>
        <p:spPr>
          <a:xfrm>
            <a:off x="6746240" y="5773929"/>
            <a:ext cx="4557420" cy="4846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Schema, scope, grounding and refines consistency on top of the SysML v2 validity check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231"/>
                </a:solidFill>
                <a:latin typeface="IBM Plex Sans" pitchFamily="34" charset="0"/>
                <a:ea typeface="IBM Plex Sans" pitchFamily="34" charset="-122"/>
                <a:cs typeface="IBM Plex Sans" pitchFamily="34" charset="-120"/>
              </a:rPr>
              <a:t>An intermediate representation before SysML v2</a:t>
            </a:r>
            <a:endParaRPr lang="en-US" sz="3200" dirty="0"/>
          </a:p>
        </p:txBody>
      </p:sp>
      <p:sp>
        <p:nvSpPr>
          <p:cNvPr id="3" name="Shape 1"/>
          <p:cNvSpPr/>
          <p:nvPr/>
        </p:nvSpPr>
        <p:spPr>
          <a:xfrm>
            <a:off x="815975" y="1638936"/>
            <a:ext cx="2617232" cy="2137410"/>
          </a:xfrm>
          <a:prstGeom prst="roundRect">
            <a:avLst>
              <a:gd name="adj" fmla="val 4605"/>
            </a:avLst>
          </a:prstGeom>
          <a:solidFill>
            <a:srgbClr val="FCFCFA"/>
          </a:solidFill>
          <a:ln w="6350">
            <a:solidFill>
              <a:srgbClr val="DEDCD3"/>
            </a:solidFill>
            <a:prstDash val="solid"/>
          </a:ln>
        </p:spPr>
      </p:sp>
      <p:sp>
        <p:nvSpPr>
          <p:cNvPr id="4" name="Text 2"/>
          <p:cNvSpPr/>
          <p:nvPr/>
        </p:nvSpPr>
        <p:spPr>
          <a:xfrm>
            <a:off x="1071880" y="1894839"/>
            <a:ext cx="21685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C9"/>
                </a:solidFill>
                <a:latin typeface="JetBrains Mono" pitchFamily="49" charset="0"/>
                <a:ea typeface="JetBrains Mono" pitchFamily="49" charset="-122"/>
                <a:cs typeface="JetBrains Mono" pitchFamily="49" charset="-120"/>
              </a:rPr>
              <a:t>SOURCE</a:t>
            </a:r>
            <a:endParaRPr lang="en-US" sz="1200" dirty="0"/>
          </a:p>
        </p:txBody>
      </p:sp>
      <p:sp>
        <p:nvSpPr>
          <p:cNvPr id="5" name="Text 3"/>
          <p:cNvSpPr/>
          <p:nvPr/>
        </p:nvSpPr>
        <p:spPr>
          <a:xfrm>
            <a:off x="1071880" y="2209800"/>
            <a:ext cx="216858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31"/>
                </a:solidFill>
                <a:latin typeface="IBM Plex Sans" pitchFamily="34" charset="0"/>
                <a:ea typeface="IBM Plex Sans" pitchFamily="34" charset="-122"/>
                <a:cs typeface="IBM Plex Sans" pitchFamily="34" charset="-120"/>
              </a:rPr>
              <a:t>Polarion</a:t>
            </a:r>
            <a:endParaRPr lang="en-US" sz="2000" dirty="0"/>
          </a:p>
        </p:txBody>
      </p:sp>
      <p:sp>
        <p:nvSpPr>
          <p:cNvPr id="6" name="Text 4"/>
          <p:cNvSpPr/>
          <p:nvPr/>
        </p:nvSpPr>
        <p:spPr>
          <a:xfrm>
            <a:off x="1071880" y="2616200"/>
            <a:ext cx="216858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Requirements, links and their change status</a:t>
            </a:r>
            <a:endParaRPr lang="en-US" sz="1300" dirty="0"/>
          </a:p>
        </p:txBody>
      </p:sp>
      <p:pic>
        <p:nvPicPr>
          <p:cNvPr id="7" name="Image 0" descr="arrow-right">    </p:cNvPr>
          <p:cNvPicPr>
            <a:picLocks noChangeAspect="1"/>
          </p:cNvPicPr>
          <p:nvPr/>
        </p:nvPicPr>
        <p:blipFill>
          <a:blip r:embed="rId1"/>
          <a:srcRect l="0" r="0" t="0" b="0"/>
          <a:stretch/>
        </p:blipFill>
        <p:spPr>
          <a:xfrm>
            <a:off x="3588782" y="2606039"/>
            <a:ext cx="406400" cy="203200"/>
          </a:xfrm>
          <a:prstGeom prst="rect">
            <a:avLst/>
          </a:prstGeom>
        </p:spPr>
      </p:pic>
      <p:sp>
        <p:nvSpPr>
          <p:cNvPr id="8" name="Shape 5"/>
          <p:cNvSpPr/>
          <p:nvPr/>
        </p:nvSpPr>
        <p:spPr>
          <a:xfrm>
            <a:off x="4153932" y="1642111"/>
            <a:ext cx="3884216" cy="2131060"/>
          </a:xfrm>
          <a:prstGeom prst="roundRect">
            <a:avLst>
              <a:gd name="adj" fmla="val 4470"/>
            </a:avLst>
          </a:prstGeom>
          <a:solidFill>
            <a:srgbClr val="E6ECF8"/>
          </a:solidFill>
          <a:ln w="12700">
            <a:solidFill>
              <a:srgbClr val="2F62C9"/>
            </a:solidFill>
            <a:prstDash val="solid"/>
          </a:ln>
        </p:spPr>
      </p:sp>
      <p:sp>
        <p:nvSpPr>
          <p:cNvPr id="9" name="Text 6"/>
          <p:cNvSpPr/>
          <p:nvPr/>
        </p:nvSpPr>
        <p:spPr>
          <a:xfrm>
            <a:off x="4411742" y="1899921"/>
            <a:ext cx="34696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C9"/>
                </a:solidFill>
                <a:latin typeface="JetBrains Mono" pitchFamily="49" charset="0"/>
                <a:ea typeface="JetBrains Mono" pitchFamily="49" charset="-122"/>
                <a:cs typeface="JetBrains Mono" pitchFamily="49" charset="-120"/>
              </a:rPr>
              <a:t>INTERMEDIATE</a:t>
            </a:r>
            <a:endParaRPr lang="en-US" sz="1200" dirty="0"/>
          </a:p>
        </p:txBody>
      </p:sp>
      <p:sp>
        <p:nvSpPr>
          <p:cNvPr id="10" name="Text 7"/>
          <p:cNvSpPr/>
          <p:nvPr/>
        </p:nvSpPr>
        <p:spPr>
          <a:xfrm>
            <a:off x="4411742" y="2240282"/>
            <a:ext cx="346965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31"/>
                </a:solidFill>
                <a:latin typeface="IBM Plex Sans" pitchFamily="34" charset="0"/>
                <a:ea typeface="IBM Plex Sans" pitchFamily="34" charset="-122"/>
                <a:cs typeface="IBM Plex Sans" pitchFamily="34" charset="-120"/>
              </a:rPr>
              <a:t>Typed model</a:t>
            </a:r>
            <a:endParaRPr lang="en-US" sz="2000" dirty="0"/>
          </a:p>
        </p:txBody>
      </p:sp>
      <p:sp>
        <p:nvSpPr>
          <p:cNvPr id="11" name="Text 8"/>
          <p:cNvSpPr/>
          <p:nvPr/>
        </p:nvSpPr>
        <p:spPr>
          <a:xfrm>
            <a:off x="4411742" y="2672082"/>
            <a:ext cx="1646158" cy="383540"/>
          </a:xfrm>
          <a:prstGeom prst="roundRect">
            <a:avLst>
              <a:gd name="adj" fmla="val 16556"/>
            </a:avLst>
          </a:prstGeom>
          <a:solidFill>
            <a:srgbClr val="FCFCFA"/>
          </a:solidFill>
          <a:ln/>
        </p:spPr>
        <p:txBody>
          <a:bodyPr wrap="square" lIns="108401" tIns="57601" rIns="57601" bIns="32201" rtlCol="0" anchor="t">
            <a:normAutofit/>
          </a:bodyPr>
          <a:lstStyle/>
          <a:p>
            <a:pPr algn="l"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Function</a:t>
            </a:r>
            <a:endParaRPr lang="en-US" sz="1300" dirty="0"/>
          </a:p>
        </p:txBody>
      </p:sp>
      <p:sp>
        <p:nvSpPr>
          <p:cNvPr id="12" name="Text 9"/>
          <p:cNvSpPr/>
          <p:nvPr/>
        </p:nvSpPr>
        <p:spPr>
          <a:xfrm>
            <a:off x="6134100" y="2672082"/>
            <a:ext cx="1646238" cy="383540"/>
          </a:xfrm>
          <a:prstGeom prst="roundRect">
            <a:avLst>
              <a:gd name="adj" fmla="val 16556"/>
            </a:avLst>
          </a:prstGeom>
          <a:solidFill>
            <a:srgbClr val="FCFCFA"/>
          </a:solidFill>
          <a:ln/>
        </p:spPr>
        <p:txBody>
          <a:bodyPr wrap="square" lIns="108401" tIns="57601" rIns="57601" bIns="32201" rtlCol="0" anchor="t">
            <a:normAutofit/>
          </a:bodyPr>
          <a:lstStyle/>
          <a:p>
            <a:pPr algn="l"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Requirement</a:t>
            </a:r>
            <a:endParaRPr lang="en-US" sz="1300" dirty="0"/>
          </a:p>
        </p:txBody>
      </p:sp>
      <p:sp>
        <p:nvSpPr>
          <p:cNvPr id="13" name="Text 10"/>
          <p:cNvSpPr/>
          <p:nvPr/>
        </p:nvSpPr>
        <p:spPr>
          <a:xfrm>
            <a:off x="4411742" y="3131821"/>
            <a:ext cx="1646158" cy="383540"/>
          </a:xfrm>
          <a:prstGeom prst="roundRect">
            <a:avLst>
              <a:gd name="adj" fmla="val 16556"/>
            </a:avLst>
          </a:prstGeom>
          <a:solidFill>
            <a:srgbClr val="FCFCFA"/>
          </a:solidFill>
          <a:ln/>
        </p:spPr>
        <p:txBody>
          <a:bodyPr wrap="square" lIns="108401" tIns="57601" rIns="57601" bIns="32201" rtlCol="0" anchor="t">
            <a:normAutofit/>
          </a:bodyPr>
          <a:lstStyle/>
          <a:p>
            <a:pPr algn="l"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Logical block</a:t>
            </a:r>
            <a:endParaRPr lang="en-US" sz="1300" dirty="0"/>
          </a:p>
        </p:txBody>
      </p:sp>
      <p:sp>
        <p:nvSpPr>
          <p:cNvPr id="14" name="Text 11"/>
          <p:cNvSpPr/>
          <p:nvPr/>
        </p:nvSpPr>
        <p:spPr>
          <a:xfrm>
            <a:off x="6134100" y="3131821"/>
            <a:ext cx="1646238" cy="383540"/>
          </a:xfrm>
          <a:prstGeom prst="roundRect">
            <a:avLst>
              <a:gd name="adj" fmla="val 16556"/>
            </a:avLst>
          </a:prstGeom>
          <a:solidFill>
            <a:srgbClr val="FCFCFA"/>
          </a:solidFill>
          <a:ln/>
        </p:spPr>
        <p:txBody>
          <a:bodyPr wrap="square" lIns="108401" tIns="57601" rIns="57601" bIns="32201" rtlCol="0" anchor="t">
            <a:normAutofit/>
          </a:bodyPr>
          <a:lstStyle/>
          <a:p>
            <a:pPr algn="l"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Technical block</a:t>
            </a:r>
            <a:endParaRPr lang="en-US" sz="1300" dirty="0"/>
          </a:p>
        </p:txBody>
      </p:sp>
      <p:pic>
        <p:nvPicPr>
          <p:cNvPr id="15" name="Image 1" descr="arrow-right">    </p:cNvPr>
          <p:cNvPicPr>
            <a:picLocks noChangeAspect="1"/>
          </p:cNvPicPr>
          <p:nvPr/>
        </p:nvPicPr>
        <p:blipFill>
          <a:blip r:embed="rId2"/>
          <a:srcRect l="0" r="0" t="0" b="0"/>
          <a:stretch/>
        </p:blipFill>
        <p:spPr>
          <a:xfrm>
            <a:off x="8196897" y="2606039"/>
            <a:ext cx="406400" cy="203200"/>
          </a:xfrm>
          <a:prstGeom prst="rect">
            <a:avLst/>
          </a:prstGeom>
        </p:spPr>
      </p:pic>
      <p:sp>
        <p:nvSpPr>
          <p:cNvPr id="16" name="Shape 12"/>
          <p:cNvSpPr/>
          <p:nvPr/>
        </p:nvSpPr>
        <p:spPr>
          <a:xfrm>
            <a:off x="8758872" y="1638936"/>
            <a:ext cx="2617152" cy="2137410"/>
          </a:xfrm>
          <a:prstGeom prst="roundRect">
            <a:avLst>
              <a:gd name="adj" fmla="val 4605"/>
            </a:avLst>
          </a:prstGeom>
          <a:solidFill>
            <a:srgbClr val="FCFCFA"/>
          </a:solidFill>
          <a:ln w="6350">
            <a:solidFill>
              <a:srgbClr val="DEDCD3"/>
            </a:solidFill>
            <a:prstDash val="solid"/>
          </a:ln>
        </p:spPr>
      </p:sp>
      <p:sp>
        <p:nvSpPr>
          <p:cNvPr id="17" name="Text 13"/>
          <p:cNvSpPr/>
          <p:nvPr/>
        </p:nvSpPr>
        <p:spPr>
          <a:xfrm>
            <a:off x="9014778" y="1894839"/>
            <a:ext cx="21685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C9"/>
                </a:solidFill>
                <a:latin typeface="JetBrains Mono" pitchFamily="49" charset="0"/>
                <a:ea typeface="JetBrains Mono" pitchFamily="49" charset="-122"/>
                <a:cs typeface="JetBrains Mono" pitchFamily="49" charset="-120"/>
              </a:rPr>
              <a:t>OUTPUT</a:t>
            </a:r>
            <a:endParaRPr lang="en-US" sz="1200" dirty="0"/>
          </a:p>
        </p:txBody>
      </p:sp>
      <p:sp>
        <p:nvSpPr>
          <p:cNvPr id="18" name="Text 14"/>
          <p:cNvSpPr/>
          <p:nvPr/>
        </p:nvSpPr>
        <p:spPr>
          <a:xfrm>
            <a:off x="9014778" y="2209800"/>
            <a:ext cx="21685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31"/>
                </a:solidFill>
                <a:latin typeface="IBM Plex Sans" pitchFamily="34" charset="0"/>
                <a:ea typeface="IBM Plex Sans" pitchFamily="34" charset="-122"/>
                <a:cs typeface="IBM Plex Sans" pitchFamily="34" charset="-120"/>
              </a:rPr>
              <a:t>SysML v2</a:t>
            </a:r>
            <a:endParaRPr lang="en-US" sz="2000" dirty="0"/>
          </a:p>
        </p:txBody>
      </p:sp>
      <p:sp>
        <p:nvSpPr>
          <p:cNvPr id="19" name="Text 15"/>
          <p:cNvSpPr/>
          <p:nvPr/>
        </p:nvSpPr>
        <p:spPr>
          <a:xfrm>
            <a:off x="9014778" y="2616200"/>
            <a:ext cx="216850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Generated code, reviewed as a diff</a:t>
            </a:r>
            <a:endParaRPr lang="en-US" sz="1300" dirty="0"/>
          </a:p>
        </p:txBody>
      </p:sp>
      <p:sp>
        <p:nvSpPr>
          <p:cNvPr id="20" name="Text 16"/>
          <p:cNvSpPr/>
          <p:nvPr/>
        </p:nvSpPr>
        <p:spPr>
          <a:xfrm>
            <a:off x="812800" y="413512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363"/>
                </a:solidFill>
                <a:latin typeface="IBM Plex Sans" pitchFamily="34" charset="0"/>
                <a:ea typeface="IBM Plex Sans" pitchFamily="34" charset="-122"/>
                <a:cs typeface="IBM Plex Sans" pitchFamily="34" charset="-120"/>
              </a:rPr>
              <a:t>The LLM works on a compact model of four element types; the SysML v2 text is generated from that model.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231"/>
                </a:solidFill>
                <a:latin typeface="IBM Plex Sans" pitchFamily="34" charset="0"/>
                <a:ea typeface="IBM Plex Sans" pitchFamily="34" charset="-122"/>
                <a:cs typeface="IBM Plex Sans" pitchFamily="34" charset="-120"/>
              </a:rPr>
              <a:t>MVP compared with the target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44321"/>
          <a:ext cx="10556240" cy="3799840"/>
        </p:xfrm>
        <a:graphic>
          <a:graphicData uri="http://schemas.openxmlformats.org/drawingml/2006/table">
            <a:tbl>
              <a:tblPr/>
              <a:tblGrid>
                <a:gridCol w="3166872"/>
                <a:gridCol w="3166872"/>
                <a:gridCol w="4222496"/>
              </a:tblGrid>
              <a:tr h="356870">
                <a:tc>
                  <a:txBody>
                    <a:bodyPr/>
                    <a:lstStyle/>
                    <a:p>
                      <a:pPr indent="0" marL="0">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Topic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61F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F2A"/>
                      </a:solidFill>
                      <a:prstDash val="solid"/>
                      <a:round/>
                      <a:headEnd type="none" w="med" len="med"/>
                      <a:tailEnd type="none" w="med" len="med"/>
                    </a:lnB>
                    <a:solidFill>
                      <a:srgbClr val="172231"/>
                    </a:solidFill>
                  </a:tcPr>
                </a:tc>
                <a:tc>
                  <a:txBody>
                    <a:bodyPr/>
                    <a:lstStyle/>
                    <a:p>
                      <a:pPr indent="0" marL="0">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Target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F2A"/>
                      </a:solidFill>
                      <a:prstDash val="solid"/>
                      <a:round/>
                      <a:headEnd type="none" w="med" len="med"/>
                      <a:tailEnd type="none" w="med" len="med"/>
                    </a:lnL>
                    <a:lnR w="12700" cap="flat" cmpd="sng" algn="ctr">
                      <a:solidFill>
                        <a:srgbClr val="161F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F2A"/>
                      </a:solidFill>
                      <a:prstDash val="solid"/>
                      <a:round/>
                      <a:headEnd type="none" w="med" len="med"/>
                      <a:tailEnd type="none" w="med" len="med"/>
                    </a:lnB>
                    <a:solidFill>
                      <a:srgbClr val="172231"/>
                    </a:solidFill>
                  </a:tcPr>
                </a:tc>
                <a:tc>
                  <a:txBody>
                    <a:bodyPr/>
                    <a:lstStyle/>
                    <a:p>
                      <a:pPr indent="0" marL="0">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MVP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F2A"/>
                      </a:solidFill>
                      <a:prstDash val="solid"/>
                      <a:round/>
                      <a:headEnd type="none" w="med" len="med"/>
                      <a:tailEnd type="none" w="med" len="med"/>
                    </a:lnL>
                    <a:lnR w="12700" cap="flat" cmpd="sng" algn="ctr">
                      <a:solidFill>
                        <a:srgbClr val="161F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F2A"/>
                      </a:solidFill>
                      <a:prstDash val="solid"/>
                      <a:round/>
                      <a:headEnd type="none" w="med" len="med"/>
                      <a:tailEnd type="none" w="med" len="med"/>
                    </a:lnB>
                    <a:solidFill>
                      <a:srgbClr val="172231"/>
                    </a:solidFill>
                  </a:tcPr>
                </a:tc>
              </a:tr>
              <a:tr h="356870">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Tooling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61F2A"/>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Own implementation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61F2A"/>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Claude Code skills and tools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61F2A"/>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56870">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Diff view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Editable visual diff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Git diff only, unless Polarion already offers a view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6870">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Validation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Layered validators: schema, scope, grounding, consistency, conflicts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SysML v2 validity check only; LLM repairs until valid (capped)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6870">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Change status detection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Per requirement: neu, Text geändert, Link geändert, gelöscht, unverändert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(Optional) – regenerating the step from all requirements is enough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6870">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Feedback from lower levels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Flows back up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Not included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56870">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Non-functional requirements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Included, if ever needed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Probably not included (open)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6870">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Function assignment step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Part of the process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Possibly dropped (open)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588010">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Functions with only a parent (hasParent)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Supported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Excluded: only functions derived from requirements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6870">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Levels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Full decomposition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indent="0" marL="0">
                        <a:lnSpc>
                          <a:spcPts val="1820"/>
                        </a:lnSpc>
                        <a:buNone/>
                      </a:pPr>
                      <a:r>
                        <a:rPr lang="en-US" sz="1300" dirty="0">
                          <a:solidFill>
                            <a:srgbClr val="172231"/>
                          </a:solidFill>
                          <a:latin typeface="IBM Plex Sans" pitchFamily="34" charset="0"/>
                          <a:ea typeface="IBM Plex Sans" pitchFamily="34" charset="-122"/>
                          <a:cs typeface="IBM Plex Sans" pitchFamily="34" charset="-120"/>
                        </a:rPr>
                        <a:t>Start with L2 requirements, stop after L3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231"/>
                </a:solidFill>
                <a:latin typeface="IBM Plex Sans" pitchFamily="34" charset="0"/>
                <a:ea typeface="IBM Plex Sans" pitchFamily="34" charset="-122"/>
                <a:cs typeface="IBM Plex Sans" pitchFamily="34" charset="-120"/>
              </a:rPr>
              <a:t>MVP scope: from L2 requirements to the technical view</a:t>
            </a:r>
            <a:endParaRPr lang="en-US" sz="3200" dirty="0"/>
          </a:p>
        </p:txBody>
      </p:sp>
      <p:sp>
        <p:nvSpPr>
          <p:cNvPr id="3" name="Shape 1"/>
          <p:cNvSpPr/>
          <p:nvPr/>
        </p:nvSpPr>
        <p:spPr>
          <a:xfrm>
            <a:off x="812800" y="1635761"/>
            <a:ext cx="5207000" cy="589280"/>
          </a:xfrm>
          <a:prstGeom prst="roundRect">
            <a:avLst>
              <a:gd name="adj" fmla="val 12931"/>
            </a:avLst>
          </a:prstGeom>
          <a:solidFill>
            <a:srgbClr val="EFEDE6"/>
          </a:solidFill>
          <a:ln/>
        </p:spPr>
      </p:sp>
      <p:sp>
        <p:nvSpPr>
          <p:cNvPr id="4" name="Text 2"/>
          <p:cNvSpPr/>
          <p:nvPr/>
        </p:nvSpPr>
        <p:spPr>
          <a:xfrm>
            <a:off x="1016000" y="1788161"/>
            <a:ext cx="660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F6673"/>
                </a:solidFill>
                <a:latin typeface="JetBrains Mono" pitchFamily="49" charset="0"/>
                <a:ea typeface="JetBrains Mono" pitchFamily="49" charset="-122"/>
                <a:cs typeface="JetBrains Mono" pitchFamily="49" charset="-120"/>
              </a:rPr>
              <a:t>L1</a:t>
            </a:r>
            <a:endParaRPr lang="en-US" sz="1600" dirty="0"/>
          </a:p>
        </p:txBody>
      </p:sp>
      <p:sp>
        <p:nvSpPr>
          <p:cNvPr id="5" name="Text 3"/>
          <p:cNvSpPr/>
          <p:nvPr/>
        </p:nvSpPr>
        <p:spPr>
          <a:xfrm>
            <a:off x="1778000" y="1805939"/>
            <a:ext cx="14165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3"/>
                </a:solidFill>
                <a:latin typeface="IBM Plex Sans" pitchFamily="34" charset="0"/>
                <a:ea typeface="IBM Plex Sans" pitchFamily="34" charset="-122"/>
                <a:cs typeface="IBM Plex Sans" pitchFamily="34" charset="-120"/>
              </a:rPr>
              <a:t>Not in the MVP</a:t>
            </a:r>
            <a:endParaRPr lang="en-US" sz="1400" dirty="0"/>
          </a:p>
        </p:txBody>
      </p:sp>
      <p:sp>
        <p:nvSpPr>
          <p:cNvPr id="6" name="Shape 4"/>
          <p:cNvSpPr/>
          <p:nvPr/>
        </p:nvSpPr>
        <p:spPr>
          <a:xfrm>
            <a:off x="819150" y="2307589"/>
            <a:ext cx="5194300" cy="596900"/>
          </a:xfrm>
          <a:prstGeom prst="roundRect">
            <a:avLst>
              <a:gd name="adj" fmla="val 11702"/>
            </a:avLst>
          </a:prstGeom>
          <a:solidFill>
            <a:srgbClr val="E6ECF8"/>
          </a:solidFill>
          <a:ln w="12700">
            <a:solidFill>
              <a:srgbClr val="2F62C9"/>
            </a:solidFill>
            <a:prstDash val="solid"/>
          </a:ln>
        </p:spPr>
      </p:sp>
      <p:sp>
        <p:nvSpPr>
          <p:cNvPr id="7" name="Text 5"/>
          <p:cNvSpPr/>
          <p:nvPr/>
        </p:nvSpPr>
        <p:spPr>
          <a:xfrm>
            <a:off x="1026160" y="2463800"/>
            <a:ext cx="660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62C9"/>
                </a:solidFill>
                <a:latin typeface="JetBrains Mono" pitchFamily="49" charset="0"/>
                <a:ea typeface="JetBrains Mono" pitchFamily="49" charset="-122"/>
                <a:cs typeface="JetBrains Mono" pitchFamily="49" charset="-120"/>
              </a:rPr>
              <a:t>L2</a:t>
            </a:r>
            <a:endParaRPr lang="en-US" sz="1600" dirty="0"/>
          </a:p>
        </p:txBody>
      </p:sp>
      <p:sp>
        <p:nvSpPr>
          <p:cNvPr id="8" name="Text 6"/>
          <p:cNvSpPr/>
          <p:nvPr/>
        </p:nvSpPr>
        <p:spPr>
          <a:xfrm>
            <a:off x="1788160" y="2481582"/>
            <a:ext cx="218713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231"/>
                </a:solidFill>
                <a:latin typeface="IBM Plex Sans" pitchFamily="34" charset="0"/>
                <a:ea typeface="IBM Plex Sans" pitchFamily="34" charset="-122"/>
                <a:cs typeface="IBM Plex Sans" pitchFamily="34" charset="-120"/>
              </a:rPr>
              <a:t>Start:</a:t>
            </a:r>
            <a:r>
              <a:rPr lang="en-US" sz="1400" dirty="0">
                <a:solidFill>
                  <a:srgbClr val="172231"/>
                </a:solidFill>
                <a:latin typeface="IBM Plex Sans" pitchFamily="34" charset="0"/>
                <a:ea typeface="IBM Plex Sans" pitchFamily="34" charset="-122"/>
                <a:cs typeface="IBM Plex Sans" pitchFamily="34" charset="-120"/>
              </a:rPr>
              <a:t> L2 requirements</a:t>
            </a:r>
            <a:endParaRPr lang="en-US" sz="1400" dirty="0"/>
          </a:p>
        </p:txBody>
      </p:sp>
      <p:sp>
        <p:nvSpPr>
          <p:cNvPr id="9" name="Shape 7"/>
          <p:cNvSpPr/>
          <p:nvPr/>
        </p:nvSpPr>
        <p:spPr>
          <a:xfrm>
            <a:off x="819150" y="2993389"/>
            <a:ext cx="5194300" cy="596900"/>
          </a:xfrm>
          <a:prstGeom prst="roundRect">
            <a:avLst>
              <a:gd name="adj" fmla="val 11702"/>
            </a:avLst>
          </a:prstGeom>
          <a:solidFill>
            <a:srgbClr val="E6ECF8"/>
          </a:solidFill>
          <a:ln w="12700">
            <a:solidFill>
              <a:srgbClr val="2F62C9"/>
            </a:solidFill>
            <a:prstDash val="solid"/>
          </a:ln>
        </p:spPr>
      </p:sp>
      <p:sp>
        <p:nvSpPr>
          <p:cNvPr id="10" name="Text 8"/>
          <p:cNvSpPr/>
          <p:nvPr/>
        </p:nvSpPr>
        <p:spPr>
          <a:xfrm>
            <a:off x="1026160" y="3149600"/>
            <a:ext cx="660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62C9"/>
                </a:solidFill>
                <a:latin typeface="JetBrains Mono" pitchFamily="49" charset="0"/>
                <a:ea typeface="JetBrains Mono" pitchFamily="49" charset="-122"/>
                <a:cs typeface="JetBrains Mono" pitchFamily="49" charset="-120"/>
              </a:rPr>
              <a:t>L3</a:t>
            </a:r>
            <a:endParaRPr lang="en-US" sz="1600" dirty="0"/>
          </a:p>
        </p:txBody>
      </p:sp>
      <p:sp>
        <p:nvSpPr>
          <p:cNvPr id="11" name="Text 9"/>
          <p:cNvSpPr/>
          <p:nvPr/>
        </p:nvSpPr>
        <p:spPr>
          <a:xfrm>
            <a:off x="1788160" y="3167382"/>
            <a:ext cx="366388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231"/>
                </a:solidFill>
                <a:latin typeface="IBM Plex Sans" pitchFamily="34" charset="0"/>
                <a:ea typeface="IBM Plex Sans" pitchFamily="34" charset="-122"/>
                <a:cs typeface="IBM Plex Sans" pitchFamily="34" charset="-120"/>
              </a:rPr>
              <a:t>End:</a:t>
            </a:r>
            <a:r>
              <a:rPr lang="en-US" sz="1400" dirty="0">
                <a:solidFill>
                  <a:srgbClr val="172231"/>
                </a:solidFill>
                <a:latin typeface="IBM Plex Sans" pitchFamily="34" charset="0"/>
                <a:ea typeface="IBM Plex Sans" pitchFamily="34" charset="-122"/>
                <a:cs typeface="IBM Plex Sans" pitchFamily="34" charset="-120"/>
              </a:rPr>
              <a:t> the technical view is the last step</a:t>
            </a:r>
            <a:endParaRPr lang="en-US" sz="1400" dirty="0"/>
          </a:p>
        </p:txBody>
      </p:sp>
      <p:sp>
        <p:nvSpPr>
          <p:cNvPr id="12" name="Shape 10"/>
          <p:cNvSpPr/>
          <p:nvPr/>
        </p:nvSpPr>
        <p:spPr>
          <a:xfrm>
            <a:off x="812800" y="3672839"/>
            <a:ext cx="5207000" cy="589280"/>
          </a:xfrm>
          <a:prstGeom prst="roundRect">
            <a:avLst>
              <a:gd name="adj" fmla="val 12931"/>
            </a:avLst>
          </a:prstGeom>
          <a:solidFill>
            <a:srgbClr val="EFEDE6"/>
          </a:solidFill>
          <a:ln/>
        </p:spPr>
      </p:sp>
      <p:sp>
        <p:nvSpPr>
          <p:cNvPr id="13" name="Text 11"/>
          <p:cNvSpPr/>
          <p:nvPr/>
        </p:nvSpPr>
        <p:spPr>
          <a:xfrm>
            <a:off x="1016000" y="3825239"/>
            <a:ext cx="660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F6673"/>
                </a:solidFill>
                <a:latin typeface="JetBrains Mono" pitchFamily="49" charset="0"/>
                <a:ea typeface="JetBrains Mono" pitchFamily="49" charset="-122"/>
                <a:cs typeface="JetBrains Mono" pitchFamily="49" charset="-120"/>
              </a:rPr>
              <a:t>L4+</a:t>
            </a:r>
            <a:endParaRPr lang="en-US" sz="1600" dirty="0"/>
          </a:p>
        </p:txBody>
      </p:sp>
      <p:sp>
        <p:nvSpPr>
          <p:cNvPr id="14" name="Text 12"/>
          <p:cNvSpPr/>
          <p:nvPr/>
        </p:nvSpPr>
        <p:spPr>
          <a:xfrm>
            <a:off x="1778000" y="3843021"/>
            <a:ext cx="14165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3"/>
                </a:solidFill>
                <a:latin typeface="IBM Plex Sans" pitchFamily="34" charset="0"/>
                <a:ea typeface="IBM Plex Sans" pitchFamily="34" charset="-122"/>
                <a:cs typeface="IBM Plex Sans" pitchFamily="34" charset="-120"/>
              </a:rPr>
              <a:t>Not in the MVP</a:t>
            </a:r>
            <a:endParaRPr lang="en-US" sz="1400" dirty="0"/>
          </a:p>
        </p:txBody>
      </p:sp>
      <p:sp>
        <p:nvSpPr>
          <p:cNvPr id="15" name="Text 13"/>
          <p:cNvSpPr/>
          <p:nvPr/>
        </p:nvSpPr>
        <p:spPr>
          <a:xfrm>
            <a:off x="6426200" y="1635761"/>
            <a:ext cx="510159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231"/>
                </a:solidFill>
                <a:latin typeface="IBM Plex Sans" pitchFamily="34" charset="0"/>
                <a:ea typeface="IBM Plex Sans" pitchFamily="34" charset="-122"/>
                <a:cs typeface="IBM Plex Sans" pitchFamily="34" charset="-120"/>
              </a:rPr>
              <a:t>Top-down only.</a:t>
            </a:r>
            <a:r>
              <a:rPr lang="en-US" sz="1400" dirty="0">
                <a:solidFill>
                  <a:srgbClr val="4A5363"/>
                </a:solidFill>
                <a:latin typeface="IBM Plex Sans" pitchFamily="34" charset="0"/>
                <a:ea typeface="IBM Plex Sans" pitchFamily="34" charset="-122"/>
                <a:cs typeface="IBM Plex Sans" pitchFamily="34" charset="-120"/>
              </a:rPr>
              <a:t> No feedback from lower levels.</a:t>
            </a:r>
            <a:endParaRPr lang="en-US" sz="1400" dirty="0"/>
          </a:p>
        </p:txBody>
      </p:sp>
      <p:sp>
        <p:nvSpPr>
          <p:cNvPr id="16" name="Text 14"/>
          <p:cNvSpPr/>
          <p:nvPr/>
        </p:nvSpPr>
        <p:spPr>
          <a:xfrm>
            <a:off x="6426200" y="2087882"/>
            <a:ext cx="510159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231"/>
                </a:solidFill>
                <a:latin typeface="IBM Plex Sans" pitchFamily="34" charset="0"/>
                <a:ea typeface="IBM Plex Sans" pitchFamily="34" charset="-122"/>
                <a:cs typeface="IBM Plex Sans" pitchFamily="34" charset="-120"/>
              </a:rPr>
              <a:t>Requirement-derived functions only.</a:t>
            </a:r>
            <a:r>
              <a:rPr lang="en-US" sz="1400" dirty="0">
                <a:solidFill>
                  <a:srgbClr val="4A5363"/>
                </a:solidFill>
                <a:latin typeface="IBM Plex Sans" pitchFamily="34" charset="0"/>
                <a:ea typeface="IBM Plex Sans" pitchFamily="34" charset="-122"/>
                <a:cs typeface="IBM Plex Sans" pitchFamily="34" charset="-120"/>
              </a:rPr>
              <a:t> Functions that exist only through hasParent are left out.</a:t>
            </a:r>
            <a:endParaRPr lang="en-US" sz="1400" dirty="0"/>
          </a:p>
        </p:txBody>
      </p:sp>
      <p:sp>
        <p:nvSpPr>
          <p:cNvPr id="17" name="Text 15"/>
          <p:cNvSpPr/>
          <p:nvPr/>
        </p:nvSpPr>
        <p:spPr>
          <a:xfrm>
            <a:off x="6426200" y="2788921"/>
            <a:ext cx="510159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231"/>
                </a:solidFill>
                <a:latin typeface="IBM Plex Sans" pitchFamily="34" charset="0"/>
                <a:ea typeface="IBM Plex Sans" pitchFamily="34" charset="-122"/>
                <a:cs typeface="IBM Plex Sans" pitchFamily="34" charset="-120"/>
              </a:rPr>
              <a:t>Review via Git diff.</a:t>
            </a:r>
            <a:r>
              <a:rPr lang="en-US" sz="1400" dirty="0">
                <a:solidFill>
                  <a:srgbClr val="4A5363"/>
                </a:solidFill>
                <a:latin typeface="IBM Plex Sans" pitchFamily="34" charset="0"/>
                <a:ea typeface="IBM Plex Sans" pitchFamily="34" charset="-122"/>
                <a:cs typeface="IBM Plex Sans" pitchFamily="34" charset="-120"/>
              </a:rPr>
              <a:t> No visualization UI.</a:t>
            </a:r>
            <a:endParaRPr lang="en-US" sz="1400" dirty="0"/>
          </a:p>
        </p:txBody>
      </p:sp>
      <p:sp>
        <p:nvSpPr>
          <p:cNvPr id="40" name="Text 16"/>
          <p:cNvSpPr/>
          <p:nvPr/>
        </p:nvSpPr>
        <p:spPr>
          <a:xfrm>
            <a:off x="6426200" y="3227832"/>
            <a:ext cx="5101590" cy="5212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231"/>
                </a:solidFill>
                <a:latin typeface="IBM Plex Sans" pitchFamily="34" charset="0"/>
                <a:ea typeface="IBM Plex Sans" pitchFamily="34" charset="-122"/>
                <a:cs typeface="IBM Plex Sans" pitchFamily="34" charset="-120"/>
              </a:rPr>
              <a:t>SysML v2 validity check only.</a:t>
            </a:r>
            <a:r>
              <a:rPr lang="en-US" sz="1400" dirty="0">
                <a:solidFill>
                  <a:srgbClr val="4A5363"/>
                </a:solidFill>
                <a:latin typeface="IBM Plex Sans" pitchFamily="34" charset="0"/>
                <a:ea typeface="IBM Plex Sans" pitchFamily="34" charset="-122"/>
                <a:cs typeface="IBM Plex Sans" pitchFamily="34" charset="-120"/>
              </a:rPr>
              <a:t> The LLM repairs its output until it parses.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223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4EF"/>
                </a:solidFill>
                <a:latin typeface="IBM Plex Sans" pitchFamily="34" charset="0"/>
                <a:ea typeface="IBM Plex Sans" pitchFamily="34" charset="-122"/>
                <a:cs typeface="IBM Plex Sans" pitchFamily="34" charset="-120"/>
              </a:rPr>
              <a:t>Open question: how do new requirements reach functions?</a:t>
            </a:r>
            <a:endParaRPr lang="en-US" sz="3200" dirty="0"/>
          </a:p>
        </p:txBody>
      </p:sp>
      <p:sp>
        <p:nvSpPr>
          <p:cNvPr id="3" name="Shape 1"/>
          <p:cNvSpPr/>
          <p:nvPr/>
        </p:nvSpPr>
        <p:spPr>
          <a:xfrm>
            <a:off x="812800" y="2001521"/>
            <a:ext cx="5181600" cy="2762250"/>
          </a:xfrm>
          <a:prstGeom prst="roundRect">
            <a:avLst>
              <a:gd name="adj" fmla="val 3678"/>
            </a:avLst>
          </a:prstGeom>
          <a:solidFill>
            <a:srgbClr val="22314A"/>
          </a:solidFill>
          <a:ln/>
        </p:spPr>
      </p:sp>
      <p:sp>
        <p:nvSpPr>
          <p:cNvPr id="4" name="Text 2"/>
          <p:cNvSpPr/>
          <p:nvPr/>
        </p:nvSpPr>
        <p:spPr>
          <a:xfrm>
            <a:off x="1066800" y="2255521"/>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B0F0"/>
                </a:solidFill>
                <a:latin typeface="JetBrains Mono" pitchFamily="49" charset="0"/>
                <a:ea typeface="JetBrains Mono" pitchFamily="49" charset="-122"/>
                <a:cs typeface="JetBrains Mono" pitchFamily="49" charset="-120"/>
              </a:rPr>
              <a:t>OPTION A</a:t>
            </a:r>
            <a:endParaRPr lang="en-US" sz="1300" dirty="0"/>
          </a:p>
        </p:txBody>
      </p:sp>
      <p:sp>
        <p:nvSpPr>
          <p:cNvPr id="5" name="Text 3"/>
          <p:cNvSpPr/>
          <p:nvPr/>
        </p:nvSpPr>
        <p:spPr>
          <a:xfrm>
            <a:off x="1066800" y="2588264"/>
            <a:ext cx="4813808"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4EF"/>
                </a:solidFill>
                <a:latin typeface="IBM Plex Sans" pitchFamily="34" charset="0"/>
                <a:ea typeface="IBM Plex Sans" pitchFamily="34" charset="-122"/>
                <a:cs typeface="IBM Plex Sans" pitchFamily="34" charset="-120"/>
              </a:rPr>
              <a:t>Group requirements first, then assign functions</a:t>
            </a:r>
            <a:endParaRPr lang="en-US" sz="1800" dirty="0"/>
          </a:p>
        </p:txBody>
      </p:sp>
      <p:sp>
        <p:nvSpPr>
          <p:cNvPr id="6" name="Text 4"/>
          <p:cNvSpPr/>
          <p:nvPr/>
        </p:nvSpPr>
        <p:spPr>
          <a:xfrm>
            <a:off x="1066800" y="3238500"/>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AC4D3"/>
                </a:solidFill>
                <a:latin typeface="IBM Plex Sans" pitchFamily="34" charset="0"/>
                <a:ea typeface="IBM Plex Sans" pitchFamily="34" charset="-122"/>
                <a:cs typeface="IBM Plex Sans" pitchFamily="34" charset="-120"/>
              </a:rPr>
              <a:t>Cluster the requirements of a level, then derive or assign one function per group.</a:t>
            </a:r>
            <a:endParaRPr lang="en-US" sz="1400" dirty="0"/>
          </a:p>
        </p:txBody>
      </p:sp>
      <p:pic>
        <p:nvPicPr>
          <p:cNvPr id="7" name="Image 0" descr="line">    </p:cNvPr>
          <p:cNvPicPr>
            <a:picLocks noChangeAspect="1"/>
          </p:cNvPicPr>
          <p:nvPr/>
        </p:nvPicPr>
        <p:blipFill>
          <a:blip r:embed="rId1"/>
          <a:srcRect l="0" r="0" t="0" b="0"/>
          <a:stretch/>
        </p:blipFill>
        <p:spPr>
          <a:xfrm>
            <a:off x="1066800" y="3837942"/>
            <a:ext cx="4673600" cy="6350"/>
          </a:xfrm>
          <a:prstGeom prst="rect">
            <a:avLst/>
          </a:prstGeom>
        </p:spPr>
      </p:pic>
      <p:sp>
        <p:nvSpPr>
          <p:cNvPr id="8" name="Text 5"/>
          <p:cNvSpPr/>
          <p:nvPr/>
        </p:nvSpPr>
        <p:spPr>
          <a:xfrm>
            <a:off x="1066800" y="3945892"/>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AC4D3"/>
                </a:solidFill>
                <a:latin typeface="IBM Plex Sans" pitchFamily="34" charset="0"/>
                <a:ea typeface="IBM Plex Sans" pitchFamily="34" charset="-122"/>
                <a:cs typeface="IBM Plex Sans" pitchFamily="34" charset="-120"/>
              </a:rPr>
              <a:t>+ Clean structure when a view is built up from scratch</a:t>
            </a:r>
            <a:endParaRPr lang="en-US" sz="1300" dirty="0"/>
          </a:p>
        </p:txBody>
      </p:sp>
      <p:sp>
        <p:nvSpPr>
          <p:cNvPr id="9" name="Text 6"/>
          <p:cNvSpPr/>
          <p:nvPr/>
        </p:nvSpPr>
        <p:spPr>
          <a:xfrm>
            <a:off x="1066800" y="4278629"/>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AC4D3"/>
                </a:solidFill>
                <a:latin typeface="IBM Plex Sans" pitchFamily="34" charset="0"/>
                <a:ea typeface="IBM Plex Sans" pitchFamily="34" charset="-122"/>
                <a:cs typeface="IBM Plex Sans" pitchFamily="34" charset="-120"/>
              </a:rPr>
              <a:t>− Can reshuffle functions that already exist</a:t>
            </a:r>
            <a:endParaRPr lang="en-US" sz="1300" dirty="0"/>
          </a:p>
        </p:txBody>
      </p:sp>
      <p:sp>
        <p:nvSpPr>
          <p:cNvPr id="10" name="Shape 7"/>
          <p:cNvSpPr/>
          <p:nvPr/>
        </p:nvSpPr>
        <p:spPr>
          <a:xfrm>
            <a:off x="6197600" y="2001521"/>
            <a:ext cx="5181600" cy="2762250"/>
          </a:xfrm>
          <a:prstGeom prst="roundRect">
            <a:avLst>
              <a:gd name="adj" fmla="val 3678"/>
            </a:avLst>
          </a:prstGeom>
          <a:solidFill>
            <a:srgbClr val="22314A"/>
          </a:solidFill>
          <a:ln/>
        </p:spPr>
      </p:sp>
      <p:sp>
        <p:nvSpPr>
          <p:cNvPr id="11" name="Text 8"/>
          <p:cNvSpPr/>
          <p:nvPr/>
        </p:nvSpPr>
        <p:spPr>
          <a:xfrm>
            <a:off x="6451600" y="2255521"/>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B0F0"/>
                </a:solidFill>
                <a:latin typeface="JetBrains Mono" pitchFamily="49" charset="0"/>
                <a:ea typeface="JetBrains Mono" pitchFamily="49" charset="-122"/>
                <a:cs typeface="JetBrains Mono" pitchFamily="49" charset="-120"/>
              </a:rPr>
              <a:t>OPTION B</a:t>
            </a:r>
            <a:endParaRPr lang="en-US" sz="1300" dirty="0"/>
          </a:p>
        </p:txBody>
      </p:sp>
      <p:sp>
        <p:nvSpPr>
          <p:cNvPr id="12" name="Text 9"/>
          <p:cNvSpPr/>
          <p:nvPr/>
        </p:nvSpPr>
        <p:spPr>
          <a:xfrm>
            <a:off x="6451600" y="2588264"/>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4EF"/>
                </a:solidFill>
                <a:latin typeface="IBM Plex Sans" pitchFamily="34" charset="0"/>
                <a:ea typeface="IBM Plex Sans" pitchFamily="34" charset="-122"/>
                <a:cs typeface="IBM Plex Sans" pitchFamily="34" charset="-120"/>
              </a:rPr>
              <a:t>Extend the existing functions</a:t>
            </a:r>
            <a:endParaRPr lang="en-US" sz="1800" dirty="0"/>
          </a:p>
        </p:txBody>
      </p:sp>
      <p:sp>
        <p:nvSpPr>
          <p:cNvPr id="13" name="Text 10"/>
          <p:cNvSpPr/>
          <p:nvPr/>
        </p:nvSpPr>
        <p:spPr>
          <a:xfrm>
            <a:off x="6451600" y="2964179"/>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AC4D3"/>
                </a:solidFill>
                <a:latin typeface="IBM Plex Sans" pitchFamily="34" charset="0"/>
                <a:ea typeface="IBM Plex Sans" pitchFamily="34" charset="-122"/>
                <a:cs typeface="IBM Plex Sans" pitchFamily="34" charset="-120"/>
              </a:rPr>
              <a:t>Attach each new requirement to an existing function; create a new one only when none fits.</a:t>
            </a:r>
            <a:endParaRPr lang="en-US" sz="1400" dirty="0"/>
          </a:p>
        </p:txBody>
      </p:sp>
      <p:pic>
        <p:nvPicPr>
          <p:cNvPr id="14" name="Image 1" descr="line">    </p:cNvPr>
          <p:cNvPicPr>
            <a:picLocks noChangeAspect="1"/>
          </p:cNvPicPr>
          <p:nvPr/>
        </p:nvPicPr>
        <p:blipFill>
          <a:blip r:embed="rId2"/>
          <a:srcRect l="0" r="0" t="0" b="0"/>
          <a:stretch/>
        </p:blipFill>
        <p:spPr>
          <a:xfrm>
            <a:off x="6451600" y="3563621"/>
            <a:ext cx="4673600" cy="6350"/>
          </a:xfrm>
          <a:prstGeom prst="rect">
            <a:avLst/>
          </a:prstGeom>
        </p:spPr>
      </p:pic>
      <p:sp>
        <p:nvSpPr>
          <p:cNvPr id="15" name="Text 11"/>
          <p:cNvSpPr/>
          <p:nvPr/>
        </p:nvSpPr>
        <p:spPr>
          <a:xfrm>
            <a:off x="6451600" y="3671571"/>
            <a:ext cx="481380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AC4D3"/>
                </a:solidFill>
                <a:latin typeface="IBM Plex Sans" pitchFamily="34" charset="0"/>
                <a:ea typeface="IBM Plex Sans" pitchFamily="34" charset="-122"/>
                <a:cs typeface="IBM Plex Sans" pitchFamily="34" charset="-120"/>
              </a:rPr>
              <a:t>+ Fits the main case: existing models changed by a few requirements</a:t>
            </a:r>
            <a:endParaRPr lang="en-US" sz="1300" dirty="0"/>
          </a:p>
        </p:txBody>
      </p:sp>
      <p:sp>
        <p:nvSpPr>
          <p:cNvPr id="16" name="Text 12"/>
          <p:cNvSpPr/>
          <p:nvPr/>
        </p:nvSpPr>
        <p:spPr>
          <a:xfrm>
            <a:off x="6451600" y="4235450"/>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AC4D3"/>
                </a:solidFill>
                <a:latin typeface="IBM Plex Sans" pitchFamily="34" charset="0"/>
                <a:ea typeface="IBM Plex Sans" pitchFamily="34" charset="-122"/>
                <a:cs typeface="IBM Plex Sans" pitchFamily="34" charset="-120"/>
              </a:rPr>
              <a:t>− Structure can drift over many small increments</a:t>
            </a:r>
            <a:endParaRPr lang="en-US" sz="13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4EF"/>
        </a:solidFill>
      </p:bgPr>
    </p:bg>
    <p:spTree>
      <p:nvGrpSpPr>
        <p:cNvPr id="1" name=""/>
        <p:cNvGrpSpPr/>
        <p:nvPr/>
      </p:nvGrpSpPr>
      <p:grpSpPr/>
      <p:sp>
        <p:nvSpPr>
          <p:cNvPr id="2" name="Text 0"/>
          <p:cNvSpPr/>
          <p:nvPr>
            <p:ph type="title"/>
          </p:nvPr>
        </p:nvSpPr>
        <p:spPr>
          <a:xfrm>
            <a:off x="812800" y="812800"/>
            <a:ext cx="11375136" cy="492760"/>
          </a:xfrm>
          <a:prstGeom prst="rect">
            <a:avLst/>
          </a:prstGeom>
          <a:noFill/>
          <a:ln/>
        </p:spPr>
        <p:txBody>
          <a:bodyPr wrap="square" lIns="0" tIns="0" rIns="0" bIns="0" rtlCol="0" anchor="t">
            <a:noAutofit/>
          </a:bodyPr>
          <a:lstStyle/>
          <a:p>
            <a:pPr algn="l" indent="0" marL="0">
              <a:lnSpc>
                <a:spcPts val="3680"/>
              </a:lnSpc>
              <a:buNone/>
            </a:pPr>
            <a:r>
              <a:rPr lang="en-US" sz="3000" b="1" i="0" dirty="0">
                <a:solidFill>
                  <a:srgbClr val="172231"/>
                </a:solidFill>
                <a:latin typeface="IBM Plex Sans" pitchFamily="34" charset="0"/>
                <a:ea typeface="IBM Plex Sans" pitchFamily="34" charset="-122"/>
                <a:cs typeface="IBM Plex Sans" pitchFamily="34" charset="-120"/>
              </a:rPr>
              <a:t>Requirements drive functions, logical &amp; technical blocks</a:t>
            </a:r>
            <a:endParaRPr lang="en-US" sz="3200" dirty="0"/>
          </a:p>
        </p:txBody>
      </p:sp>
      <p:sp>
        <p:nvSpPr>
          <p:cNvPr id="3" name="Rounded Rectangle 2"/>
          <p:cNvSpPr/>
          <p:nvPr/>
        </p:nvSpPr>
        <p:spPr>
          <a:xfrm>
            <a:off x="813816" y="1481328"/>
            <a:ext cx="10570464" cy="2926080"/>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69848" y="1664208"/>
            <a:ext cx="10058400" cy="237744"/>
          </a:xfrm>
          <a:prstGeom prst="rect">
            <a:avLst/>
          </a:prstGeom>
          <a:noFill/>
        </p:spPr>
        <p:txBody>
          <a:bodyPr wrap="square" lIns="0" rIns="0" tIns="0" bIns="0" anchor="t">
            <a:spAutoFit/>
          </a:bodyPr>
          <a:lstStyle/>
          <a:p>
            <a:pPr algn="l">
              <a:spcAft>
                <a:spcPts val="0"/>
              </a:spcAft>
            </a:pPr>
            <a:r>
              <a:rPr sz="1200" b="0">
                <a:solidFill>
                  <a:srgbClr val="2F62C9"/>
                </a:solidFill>
                <a:latin typeface="JetBrains Mono" pitchFamily="49"/>
                <a:ea typeface="JetBrains Mono" pitchFamily="49"/>
                <a:cs typeface="JetBrains Mono" pitchFamily="49"/>
              </a:rPr>
              <a:t>PROCESS CHAIN · ONE LEVEL Ly</a:t>
            </a:r>
          </a:p>
        </p:txBody>
      </p:sp>
      <p:sp>
        <p:nvSpPr>
          <p:cNvPr id="5" name="TextBox 4"/>
          <p:cNvSpPr txBox="1"/>
          <p:nvPr/>
        </p:nvSpPr>
        <p:spPr>
          <a:xfrm>
            <a:off x="1069848" y="1938528"/>
            <a:ext cx="10058400" cy="2377440"/>
          </a:xfrm>
          <a:prstGeom prst="rect">
            <a:avLst/>
          </a:prstGeom>
          <a:noFill/>
        </p:spPr>
        <p:txBody>
          <a:bodyPr wrap="square" lIns="0" rIns="0" tIns="0" bIns="0" anchor="t">
            <a:spAutoFit/>
          </a:bodyPr>
          <a:lstStyle/>
          <a:p>
            <a:pPr algn="l">
              <a:lnSpc>
                <a:spcPct val="100000"/>
              </a:lnSpc>
              <a:spcAft>
                <a:spcPts val="0"/>
              </a:spcAft>
            </a:pPr>
            <a:r>
              <a:rPr sz="1100" b="0">
                <a:solidFill>
                  <a:srgbClr val="172231"/>
                </a:solidFill>
                <a:latin typeface="JetBrains Mono" pitchFamily="49"/>
                <a:ea typeface="JetBrains Mono" pitchFamily="49"/>
                <a:cs typeface="JetBrains Mono" pitchFamily="49"/>
              </a:rPr>
              <a:t>Ebene x:  R_Lx ──derive──▶ R_Ly</a:t>
            </a:r>
            <a:r>
              <a:rPr sz="1100" b="0">
                <a:solidFill>
                  <a:srgbClr val="5F6673"/>
                </a:solidFill>
                <a:latin typeface="JetBrains Mono" pitchFamily="49"/>
                <a:ea typeface="JetBrains Mono" pitchFamily="49"/>
                <a:cs typeface="JetBrains Mono" pitchFamily="49"/>
              </a:rPr>
              <a:t>                          (Anforderungen werden abgeleitet)</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Ebene y:  F_Ly ◀── refines ── R_Ly</a:t>
            </a:r>
            <a:r>
              <a:rPr sz="1100" b="0">
                <a:solidFill>
                  <a:srgbClr val="5F6673"/>
                </a:solidFill>
                <a:latin typeface="JetBrains Mono" pitchFamily="49"/>
                <a:ea typeface="JetBrains Mono" pitchFamily="49"/>
                <a:cs typeface="JetBrains Mono" pitchFamily="49"/>
              </a:rPr>
              <a:t>                       (Anforderungen präzisieren die Funktion)</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          F_Ly + Pn_Ly + R_Ly ──decompose──▶ F_Lz + Pn_Lz</a:t>
            </a:r>
            <a:r>
              <a:rPr sz="1100" b="0">
                <a:solidFill>
                  <a:srgbClr val="5F6673"/>
                </a:solidFill>
                <a:latin typeface="JetBrains Mono" pitchFamily="49"/>
                <a:ea typeface="JetBrains Mono" pitchFamily="49"/>
                <a:cs typeface="JetBrains Mono" pitchFamily="49"/>
              </a:rPr>
              <a:t> (Anforderungen steuern die Zerlegung)</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Ebene z:  F_Lz ── satisfies ──▶ R_Ly</a:t>
            </a:r>
            <a:r>
              <a:rPr sz="1100" b="0">
                <a:solidFill>
                  <a:srgbClr val="5F6673"/>
                </a:solidFill>
                <a:latin typeface="JetBrains Mono" pitchFamily="49"/>
                <a:ea typeface="JetBrains Mono" pitchFamily="49"/>
                <a:cs typeface="JetBrains Mono" pitchFamily="49"/>
              </a:rPr>
              <a:t>                     (Unterfunktionen erfüllen sie)</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          F_Lz + L_Ly + IL_Ly ──deploy logical──▶ L_Lz + IL_Lz</a:t>
            </a:r>
          </a:p>
          <a:p>
            <a:pPr algn="l">
              <a:lnSpc>
                <a:spcPct val="100000"/>
              </a:lnSpc>
              <a:spcAft>
                <a:spcPts val="0"/>
              </a:spcAft>
            </a:pPr>
            <a:r>
              <a:rPr sz="1100" b="0">
                <a:solidFill>
                  <a:srgbClr val="5F6673"/>
                </a:solidFill>
                <a:latin typeface="JetBrains Mono" pitchFamily="49"/>
                <a:ea typeface="JetBrains Mono" pitchFamily="49"/>
                <a:cs typeface="JetBrains Mono" pitchFamily="49"/>
              </a:rPr>
              <a:t>                                                         (Funktionen auf logische Architektur verteilt)</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          L_Lz + IL_Lz + T_Ly + IT_Ly ──deploy physical──▶ T_Lz + IT_Lz</a:t>
            </a:r>
          </a:p>
          <a:p>
            <a:pPr algn="l">
              <a:lnSpc>
                <a:spcPct val="100000"/>
              </a:lnSpc>
              <a:spcAft>
                <a:spcPts val="0"/>
              </a:spcAft>
            </a:pPr>
            <a:r>
              <a:rPr sz="1100" b="0">
                <a:solidFill>
                  <a:srgbClr val="5F6673"/>
                </a:solidFill>
                <a:latin typeface="JetBrains Mono" pitchFamily="49"/>
                <a:ea typeface="JetBrains Mono" pitchFamily="49"/>
                <a:cs typeface="JetBrains Mono" pitchFamily="49"/>
              </a:rPr>
              <a:t>                                                         (logische Blöcke auf technische Architektur abgebildet)</a:t>
            </a:r>
          </a:p>
          <a:p>
            <a:pPr algn="l">
              <a:lnSpc>
                <a:spcPct val="100000"/>
              </a:lnSpc>
              <a:spcAft>
                <a:spcPts val="0"/>
              </a:spcAft>
            </a:pPr>
            <a:r>
              <a:rPr sz="500" b="0">
                <a:solidFill>
                  <a:srgbClr val="172231"/>
                </a:solidFill>
                <a:latin typeface="JetBrains Mono" pitchFamily="49"/>
                <a:ea typeface="JetBrains Mono" pitchFamily="49"/>
                <a:cs typeface="JetBrains Mono" pitchFamily="49"/>
              </a:rPr>
              <a:t> </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Ablage:   R_Ly                       ──▶ SyRS / MoRS (Polarion)</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          F_Lz, Pn_Lz, L_Lz, IL_Lz,</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          T_Lz, IT_Lz                ──▶ Model (Cameo)</a:t>
            </a:r>
          </a:p>
          <a:p>
            <a:pPr algn="l">
              <a:lnSpc>
                <a:spcPct val="100000"/>
              </a:lnSpc>
              <a:spcAft>
                <a:spcPts val="0"/>
              </a:spcAft>
            </a:pPr>
            <a:r>
              <a:rPr sz="500" b="0">
                <a:solidFill>
                  <a:srgbClr val="172231"/>
                </a:solidFill>
                <a:latin typeface="JetBrains Mono" pitchFamily="49"/>
                <a:ea typeface="JetBrains Mono" pitchFamily="49"/>
                <a:cs typeface="JetBrains Mono" pitchFamily="49"/>
              </a:rPr>
              <a:t> </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Feedback: decompose, deploy logical, deploy physical ──feedback──▶ derive requirements</a:t>
            </a:r>
          </a:p>
          <a:p>
            <a:pPr algn="l">
              <a:lnSpc>
                <a:spcPct val="100000"/>
              </a:lnSpc>
              <a:spcAft>
                <a:spcPts val="0"/>
              </a:spcAft>
            </a:pPr>
            <a:r>
              <a:rPr sz="1100" b="0">
                <a:solidFill>
                  <a:srgbClr val="5F6673"/>
                </a:solidFill>
                <a:latin typeface="JetBrains Mono" pitchFamily="49"/>
                <a:ea typeface="JetBrains Mono" pitchFamily="49"/>
                <a:cs typeface="JetBrains Mono" pitchFamily="49"/>
              </a:rPr>
              <a:t>          (sowie jeweils an die vorherigen Schritte; [new input OR feedback] ⇒ Schritt erneut)</a:t>
            </a:r>
          </a:p>
        </p:txBody>
      </p:sp>
      <p:sp>
        <p:nvSpPr>
          <p:cNvPr id="6" name="Rounded Rectangle 5"/>
          <p:cNvSpPr/>
          <p:nvPr/>
        </p:nvSpPr>
        <p:spPr>
          <a:xfrm>
            <a:off x="813816" y="4517136"/>
            <a:ext cx="10570464" cy="1792224"/>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69848" y="4700016"/>
            <a:ext cx="10058400" cy="237744"/>
          </a:xfrm>
          <a:prstGeom prst="rect">
            <a:avLst/>
          </a:prstGeom>
          <a:noFill/>
        </p:spPr>
        <p:txBody>
          <a:bodyPr wrap="square" lIns="0" rIns="0" tIns="0" bIns="0" anchor="t">
            <a:spAutoFit/>
          </a:bodyPr>
          <a:lstStyle/>
          <a:p>
            <a:pPr algn="l">
              <a:spcAft>
                <a:spcPts val="0"/>
              </a:spcAft>
            </a:pPr>
            <a:r>
              <a:rPr sz="1200" b="0">
                <a:solidFill>
                  <a:srgbClr val="2F62C9"/>
                </a:solidFill>
                <a:latin typeface="JetBrains Mono" pitchFamily="49"/>
                <a:ea typeface="JetBrains Mono" pitchFamily="49"/>
                <a:cs typeface="JetBrains Mono" pitchFamily="49"/>
              </a:rPr>
              <a:t>LEGENDE</a:t>
            </a:r>
          </a:p>
        </p:txBody>
      </p:sp>
      <p:sp>
        <p:nvSpPr>
          <p:cNvPr id="8" name="TextBox 7"/>
          <p:cNvSpPr txBox="1"/>
          <p:nvPr/>
        </p:nvSpPr>
        <p:spPr>
          <a:xfrm>
            <a:off x="1069848" y="4992624"/>
            <a:ext cx="10058400" cy="1234440"/>
          </a:xfrm>
          <a:prstGeom prst="rect">
            <a:avLst/>
          </a:prstGeom>
          <a:noFill/>
        </p:spPr>
        <p:txBody>
          <a:bodyPr wrap="square" lIns="0" rIns="0" tIns="0" bIns="0" anchor="t">
            <a:spAutoFit/>
          </a:bodyPr>
          <a:lstStyle/>
          <a:p>
            <a:pPr algn="l">
              <a:lnSpc>
                <a:spcPct val="100000"/>
              </a:lnSpc>
              <a:spcAft>
                <a:spcPts val="0"/>
              </a:spcAft>
            </a:pPr>
            <a:r>
              <a:rPr sz="1100" b="0">
                <a:solidFill>
                  <a:srgbClr val="172231"/>
                </a:solidFill>
                <a:latin typeface="JetBrains Mono" pitchFamily="49"/>
                <a:ea typeface="JetBrains Mono" pitchFamily="49"/>
                <a:cs typeface="JetBrains Mono" pitchFamily="49"/>
              </a:rPr>
              <a:t>R   = Requirement                 L   = Logical Block</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F   = System Function             IL  = Logical Interface Block</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Pn  = Pin (Ein-/Ausgang einer F)  T   = Technical Block</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                                  IT  = Technical Interface Block</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X_Lx / X_Ly / X_Lz  mit  y = aktuelle Ebene,  x = y−1 (darüber),  z = y+1 (darunter)</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──a──▶  Aktivität a erzeugt rechts aus links</a:t>
            </a:r>
          </a:p>
          <a:p>
            <a:pPr algn="l">
              <a:lnSpc>
                <a:spcPct val="100000"/>
              </a:lnSpc>
              <a:spcAft>
                <a:spcPts val="0"/>
              </a:spcAft>
            </a:pPr>
            <a:r>
              <a:rPr sz="1100" b="0">
                <a:solidFill>
                  <a:srgbClr val="172231"/>
                </a:solidFill>
                <a:latin typeface="JetBrains Mono" pitchFamily="49"/>
                <a:ea typeface="JetBrains Mono" pitchFamily="49"/>
                <a:cs typeface="JetBrains Mono" pitchFamily="49"/>
              </a:rPr>
              <a:t>◀── b ──, ── b ──▶  Polarion-Link b (Pfeil zeigt zum Ziel des Links)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4EF"/>
        </a:solidFill>
      </p:bgPr>
    </p:bg>
    <p:spTree>
      <p:nvGrpSpPr>
        <p:cNvPr id="1" name=""/>
        <p:cNvGrpSpPr/>
        <p:nvPr/>
      </p:nvGrpSpPr>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231"/>
                </a:solidFill>
                <a:latin typeface="IBM Plex Sans" pitchFamily="34" charset="0"/>
                <a:ea typeface="IBM Plex Sans" pitchFamily="34" charset="-122"/>
                <a:cs typeface="IBM Plex Sans" pitchFamily="34" charset="-120"/>
              </a:rPr>
              <a:t>MVP validation: check, repair, repeat</a:t>
            </a:r>
            <a:endParaRPr lang="en-US" sz="3200" dirty="0"/>
          </a:p>
        </p:txBody>
      </p:sp>
      <p:sp>
        <p:nvSpPr>
          <p:cNvPr id="3" name="Rounded Rectangle 2"/>
          <p:cNvSpPr/>
          <p:nvPr/>
        </p:nvSpPr>
        <p:spPr>
          <a:xfrm>
            <a:off x="813816" y="1591056"/>
            <a:ext cx="1737360" cy="1700784"/>
          </a:xfrm>
          <a:prstGeom prst="roundRect">
            <a:avLst>
              <a:gd name="adj" fmla="val 3000"/>
            </a:avLst>
          </a:prstGeom>
          <a:solidFill>
            <a:srgbClr val="17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13816" y="2048256"/>
            <a:ext cx="1737360" cy="365760"/>
          </a:xfrm>
          <a:prstGeom prst="rect">
            <a:avLst/>
          </a:prstGeom>
          <a:noFill/>
        </p:spPr>
        <p:txBody>
          <a:bodyPr wrap="square" lIns="0" rIns="0" tIns="0" bIns="0" anchor="t">
            <a:spAutoFit/>
          </a:bodyPr>
          <a:lstStyle/>
          <a:p>
            <a:pPr algn="ctr">
              <a:spcAft>
                <a:spcPts val="0"/>
              </a:spcAft>
            </a:pPr>
            <a:r>
              <a:rPr sz="2000" b="1">
                <a:solidFill>
                  <a:srgbClr val="F5F4EF"/>
                </a:solidFill>
                <a:latin typeface="IBM Plex Sans" pitchFamily="34"/>
                <a:ea typeface="IBM Plex Sans" pitchFamily="34"/>
                <a:cs typeface="IBM Plex Sans" pitchFamily="34"/>
              </a:rPr>
              <a:t>LLM</a:t>
            </a:r>
          </a:p>
        </p:txBody>
      </p:sp>
      <p:sp>
        <p:nvSpPr>
          <p:cNvPr id="5" name="TextBox 4"/>
          <p:cNvSpPr txBox="1"/>
          <p:nvPr/>
        </p:nvSpPr>
        <p:spPr>
          <a:xfrm>
            <a:off x="950976" y="2487168"/>
            <a:ext cx="1463039" cy="548640"/>
          </a:xfrm>
          <a:prstGeom prst="rect">
            <a:avLst/>
          </a:prstGeom>
          <a:noFill/>
        </p:spPr>
        <p:txBody>
          <a:bodyPr wrap="square" lIns="0" rIns="0" tIns="0" bIns="0" anchor="t">
            <a:spAutoFit/>
          </a:bodyPr>
          <a:lstStyle/>
          <a:p>
            <a:pPr algn="ctr">
              <a:spcAft>
                <a:spcPts val="0"/>
              </a:spcAft>
            </a:pPr>
            <a:r>
              <a:rPr sz="1200" b="0">
                <a:solidFill>
                  <a:srgbClr val="BAC4D3"/>
                </a:solidFill>
                <a:latin typeface="IBM Plex Sans" pitchFamily="34"/>
                <a:ea typeface="IBM Plex Sans" pitchFamily="34"/>
                <a:cs typeface="IBM Plex Sans" pitchFamily="34"/>
              </a:rPr>
              <a:t>generates, then repairs the code</a:t>
            </a:r>
          </a:p>
        </p:txBody>
      </p:sp>
      <p:sp>
        <p:nvSpPr>
          <p:cNvPr id="6" name="Rounded Rectangle 5"/>
          <p:cNvSpPr/>
          <p:nvPr/>
        </p:nvSpPr>
        <p:spPr>
          <a:xfrm>
            <a:off x="2990088" y="1591056"/>
            <a:ext cx="2377440" cy="1700784"/>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227832" y="1828800"/>
            <a:ext cx="1920240" cy="237744"/>
          </a:xfrm>
          <a:prstGeom prst="rect">
            <a:avLst/>
          </a:prstGeom>
          <a:noFill/>
        </p:spPr>
        <p:txBody>
          <a:bodyPr wrap="square" lIns="0" rIns="0" tIns="0" bIns="0" anchor="t">
            <a:spAutoFit/>
          </a:bodyPr>
          <a:lstStyle/>
          <a:p>
            <a:pPr algn="l">
              <a:spcAft>
                <a:spcPts val="0"/>
              </a:spcAft>
            </a:pPr>
            <a:r>
              <a:rPr sz="1200" b="0">
                <a:solidFill>
                  <a:srgbClr val="2F62C9"/>
                </a:solidFill>
                <a:latin typeface="JetBrains Mono" pitchFamily="49"/>
                <a:ea typeface="JetBrains Mono" pitchFamily="49"/>
                <a:cs typeface="JetBrains Mono" pitchFamily="49"/>
              </a:rPr>
              <a:t>OUTPUT</a:t>
            </a:r>
          </a:p>
        </p:txBody>
      </p:sp>
      <p:sp>
        <p:nvSpPr>
          <p:cNvPr id="8" name="TextBox 7"/>
          <p:cNvSpPr txBox="1"/>
          <p:nvPr/>
        </p:nvSpPr>
        <p:spPr>
          <a:xfrm>
            <a:off x="3227832" y="2139696"/>
            <a:ext cx="1920240" cy="329184"/>
          </a:xfrm>
          <a:prstGeom prst="rect">
            <a:avLst/>
          </a:prstGeom>
          <a:noFill/>
        </p:spPr>
        <p:txBody>
          <a:bodyPr wrap="square" lIns="0" rIns="0" tIns="0" bIns="0" anchor="t">
            <a:spAutoFit/>
          </a:bodyPr>
          <a:lstStyle/>
          <a:p>
            <a:pPr algn="l">
              <a:spcAft>
                <a:spcPts val="0"/>
              </a:spcAft>
            </a:pPr>
            <a:r>
              <a:rPr sz="1700" b="1">
                <a:solidFill>
                  <a:srgbClr val="172231"/>
                </a:solidFill>
                <a:latin typeface="IBM Plex Sans" pitchFamily="34"/>
                <a:ea typeface="IBM Plex Sans" pitchFamily="34"/>
                <a:cs typeface="IBM Plex Sans" pitchFamily="34"/>
              </a:rPr>
              <a:t>SysML v2 code</a:t>
            </a:r>
          </a:p>
        </p:txBody>
      </p:sp>
      <p:sp>
        <p:nvSpPr>
          <p:cNvPr id="9" name="TextBox 8"/>
          <p:cNvSpPr txBox="1"/>
          <p:nvPr/>
        </p:nvSpPr>
        <p:spPr>
          <a:xfrm>
            <a:off x="3227832" y="2523744"/>
            <a:ext cx="1920240" cy="640080"/>
          </a:xfrm>
          <a:prstGeom prst="rect">
            <a:avLst/>
          </a:prstGeom>
          <a:noFill/>
        </p:spPr>
        <p:txBody>
          <a:bodyPr wrap="square" lIns="0" rIns="0" tIns="0" bIns="0" anchor="t">
            <a:spAutoFit/>
          </a:bodyPr>
          <a:lstStyle/>
          <a:p>
            <a:pPr algn="l">
              <a:spcAft>
                <a:spcPts val="0"/>
              </a:spcAft>
            </a:pPr>
            <a:r>
              <a:rPr sz="1300" b="0">
                <a:solidFill>
                  <a:srgbClr val="4A5363"/>
                </a:solidFill>
                <a:latin typeface="IBM Plex Sans" pitchFamily="34"/>
                <a:ea typeface="IBM Plex Sans" pitchFamily="34"/>
                <a:cs typeface="IBM Plex Sans" pitchFamily="34"/>
              </a:rPr>
              <a:t>Diff against the current model of this level</a:t>
            </a:r>
          </a:p>
        </p:txBody>
      </p:sp>
      <p:sp>
        <p:nvSpPr>
          <p:cNvPr id="10" name="Rounded Rectangle 9"/>
          <p:cNvSpPr/>
          <p:nvPr/>
        </p:nvSpPr>
        <p:spPr>
          <a:xfrm>
            <a:off x="5806440" y="1591056"/>
            <a:ext cx="2743200" cy="1700784"/>
          </a:xfrm>
          <a:prstGeom prst="roundRect">
            <a:avLst>
              <a:gd name="adj" fmla="val 3000"/>
            </a:avLst>
          </a:prstGeom>
          <a:solidFill>
            <a:srgbClr val="E6ECF8"/>
          </a:solidFill>
          <a:ln w="15875">
            <a:solidFill>
              <a:srgbClr val="2F62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44183" y="1828800"/>
            <a:ext cx="2286000" cy="237744"/>
          </a:xfrm>
          <a:prstGeom prst="rect">
            <a:avLst/>
          </a:prstGeom>
          <a:noFill/>
        </p:spPr>
        <p:txBody>
          <a:bodyPr wrap="square" lIns="0" rIns="0" tIns="0" bIns="0" anchor="t">
            <a:spAutoFit/>
          </a:bodyPr>
          <a:lstStyle/>
          <a:p>
            <a:pPr algn="l">
              <a:spcAft>
                <a:spcPts val="0"/>
              </a:spcAft>
            </a:pPr>
            <a:r>
              <a:rPr sz="1200" b="0">
                <a:solidFill>
                  <a:srgbClr val="2F62C9"/>
                </a:solidFill>
                <a:latin typeface="JetBrains Mono" pitchFamily="49"/>
                <a:ea typeface="JetBrains Mono" pitchFamily="49"/>
                <a:cs typeface="JetBrains Mono" pitchFamily="49"/>
              </a:rPr>
              <a:t>MVP CHECK</a:t>
            </a:r>
          </a:p>
        </p:txBody>
      </p:sp>
      <p:sp>
        <p:nvSpPr>
          <p:cNvPr id="12" name="TextBox 11"/>
          <p:cNvSpPr txBox="1"/>
          <p:nvPr/>
        </p:nvSpPr>
        <p:spPr>
          <a:xfrm>
            <a:off x="6044183" y="2139696"/>
            <a:ext cx="2286000" cy="329184"/>
          </a:xfrm>
          <a:prstGeom prst="rect">
            <a:avLst/>
          </a:prstGeom>
          <a:noFill/>
        </p:spPr>
        <p:txBody>
          <a:bodyPr wrap="square" lIns="0" rIns="0" tIns="0" bIns="0" anchor="t">
            <a:spAutoFit/>
          </a:bodyPr>
          <a:lstStyle/>
          <a:p>
            <a:pPr algn="l">
              <a:spcAft>
                <a:spcPts val="0"/>
              </a:spcAft>
            </a:pPr>
            <a:r>
              <a:rPr sz="1700" b="1">
                <a:solidFill>
                  <a:srgbClr val="172231"/>
                </a:solidFill>
                <a:latin typeface="IBM Plex Sans" pitchFamily="34"/>
                <a:ea typeface="IBM Plex Sans" pitchFamily="34"/>
                <a:cs typeface="IBM Plex Sans" pitchFamily="34"/>
              </a:rPr>
              <a:t>Validity check</a:t>
            </a:r>
          </a:p>
        </p:txBody>
      </p:sp>
      <p:sp>
        <p:nvSpPr>
          <p:cNvPr id="13" name="TextBox 12"/>
          <p:cNvSpPr txBox="1"/>
          <p:nvPr/>
        </p:nvSpPr>
        <p:spPr>
          <a:xfrm>
            <a:off x="6044183" y="2523744"/>
            <a:ext cx="2286000" cy="640080"/>
          </a:xfrm>
          <a:prstGeom prst="rect">
            <a:avLst/>
          </a:prstGeom>
          <a:noFill/>
        </p:spPr>
        <p:txBody>
          <a:bodyPr wrap="square" lIns="0" rIns="0" tIns="0" bIns="0" anchor="t">
            <a:spAutoFit/>
          </a:bodyPr>
          <a:lstStyle/>
          <a:p>
            <a:pPr algn="l">
              <a:spcAft>
                <a:spcPts val="0"/>
              </a:spcAft>
            </a:pPr>
            <a:r>
              <a:rPr sz="1300" b="0">
                <a:solidFill>
                  <a:srgbClr val="4A5363"/>
                </a:solidFill>
                <a:latin typeface="IBM Plex Sans" pitchFamily="34"/>
                <a:ea typeface="IBM Plex Sans" pitchFamily="34"/>
                <a:cs typeface="IBM Plex Sans" pitchFamily="34"/>
              </a:rPr>
              <a:t>SysML v2 parser: syntax, names, types</a:t>
            </a:r>
          </a:p>
        </p:txBody>
      </p:sp>
      <p:sp>
        <p:nvSpPr>
          <p:cNvPr id="14" name="Rounded Rectangle 13"/>
          <p:cNvSpPr/>
          <p:nvPr/>
        </p:nvSpPr>
        <p:spPr>
          <a:xfrm>
            <a:off x="8988552" y="1591056"/>
            <a:ext cx="2395728" cy="1700784"/>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226296" y="1828800"/>
            <a:ext cx="1938528" cy="237744"/>
          </a:xfrm>
          <a:prstGeom prst="rect">
            <a:avLst/>
          </a:prstGeom>
          <a:noFill/>
        </p:spPr>
        <p:txBody>
          <a:bodyPr wrap="square" lIns="0" rIns="0" tIns="0" bIns="0" anchor="t">
            <a:spAutoFit/>
          </a:bodyPr>
          <a:lstStyle/>
          <a:p>
            <a:pPr algn="l">
              <a:spcAft>
                <a:spcPts val="0"/>
              </a:spcAft>
            </a:pPr>
            <a:r>
              <a:rPr sz="1200" b="0">
                <a:solidFill>
                  <a:srgbClr val="2F62C9"/>
                </a:solidFill>
                <a:latin typeface="JetBrains Mono" pitchFamily="49"/>
                <a:ea typeface="JetBrains Mono" pitchFamily="49"/>
                <a:cs typeface="JetBrains Mono" pitchFamily="49"/>
              </a:rPr>
              <a:t>ONLY IF VALID</a:t>
            </a:r>
          </a:p>
        </p:txBody>
      </p:sp>
      <p:sp>
        <p:nvSpPr>
          <p:cNvPr id="16" name="TextBox 15"/>
          <p:cNvSpPr txBox="1"/>
          <p:nvPr/>
        </p:nvSpPr>
        <p:spPr>
          <a:xfrm>
            <a:off x="9226296" y="2139696"/>
            <a:ext cx="1938528" cy="329184"/>
          </a:xfrm>
          <a:prstGeom prst="rect">
            <a:avLst/>
          </a:prstGeom>
          <a:noFill/>
        </p:spPr>
        <p:txBody>
          <a:bodyPr wrap="square" lIns="0" rIns="0" tIns="0" bIns="0" anchor="t">
            <a:spAutoFit/>
          </a:bodyPr>
          <a:lstStyle/>
          <a:p>
            <a:pPr algn="l">
              <a:spcAft>
                <a:spcPts val="0"/>
              </a:spcAft>
            </a:pPr>
            <a:r>
              <a:rPr sz="1700" b="1">
                <a:solidFill>
                  <a:srgbClr val="172231"/>
                </a:solidFill>
                <a:latin typeface="IBM Plex Sans" pitchFamily="34"/>
                <a:ea typeface="IBM Plex Sans" pitchFamily="34"/>
                <a:cs typeface="IBM Plex Sans" pitchFamily="34"/>
              </a:rPr>
              <a:t>Human review</a:t>
            </a:r>
          </a:p>
        </p:txBody>
      </p:sp>
      <p:sp>
        <p:nvSpPr>
          <p:cNvPr id="17" name="TextBox 16"/>
          <p:cNvSpPr txBox="1"/>
          <p:nvPr/>
        </p:nvSpPr>
        <p:spPr>
          <a:xfrm>
            <a:off x="9226296" y="2523744"/>
            <a:ext cx="1938528" cy="640080"/>
          </a:xfrm>
          <a:prstGeom prst="rect">
            <a:avLst/>
          </a:prstGeom>
          <a:noFill/>
        </p:spPr>
        <p:txBody>
          <a:bodyPr wrap="square" lIns="0" rIns="0" tIns="0" bIns="0" anchor="t">
            <a:spAutoFit/>
          </a:bodyPr>
          <a:lstStyle/>
          <a:p>
            <a:pPr algn="l">
              <a:spcAft>
                <a:spcPts val="0"/>
              </a:spcAft>
            </a:pPr>
            <a:r>
              <a:rPr sz="1300" b="0">
                <a:solidFill>
                  <a:srgbClr val="4A5363"/>
                </a:solidFill>
                <a:latin typeface="IBM Plex Sans" pitchFamily="34"/>
                <a:ea typeface="IBM Plex Sans" pitchFamily="34"/>
                <a:cs typeface="IBM Plex Sans" pitchFamily="34"/>
              </a:rPr>
              <a:t>Read the diff, edit, approve</a:t>
            </a:r>
          </a:p>
        </p:txBody>
      </p:sp>
      <p:cxnSp>
        <p:nvCxnSpPr>
          <p:cNvPr id="18" name="Connector 17"/>
          <p:cNvCxnSpPr/>
          <p:nvPr/>
        </p:nvCxnSpPr>
        <p:spPr>
          <a:xfrm>
            <a:off x="2606040" y="2441448"/>
            <a:ext cx="329184" cy="0"/>
          </a:xfrm>
          <a:prstGeom prst="line">
            <a:avLst/>
          </a:prstGeom>
          <a:ln w="22225">
            <a:solidFill>
              <a:srgbClr val="8F98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422392" y="2441448"/>
            <a:ext cx="329184" cy="0"/>
          </a:xfrm>
          <a:prstGeom prst="line">
            <a:avLst/>
          </a:prstGeom>
          <a:ln w="22225">
            <a:solidFill>
              <a:srgbClr val="8F98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04504" y="2441448"/>
            <a:ext cx="329184" cy="0"/>
          </a:xfrm>
          <a:prstGeom prst="line">
            <a:avLst/>
          </a:prstGeom>
          <a:ln w="22225">
            <a:solidFill>
              <a:srgbClr val="8F9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567928" y="2167128"/>
            <a:ext cx="402336" cy="201168"/>
          </a:xfrm>
          <a:prstGeom prst="rect">
            <a:avLst/>
          </a:prstGeom>
          <a:noFill/>
        </p:spPr>
        <p:txBody>
          <a:bodyPr wrap="square" lIns="0" rIns="0" tIns="0" bIns="0" anchor="t">
            <a:spAutoFit/>
          </a:bodyPr>
          <a:lstStyle/>
          <a:p>
            <a:pPr algn="ctr">
              <a:spcAft>
                <a:spcPts val="0"/>
              </a:spcAft>
            </a:pPr>
            <a:r>
              <a:rPr sz="1100" b="0">
                <a:solidFill>
                  <a:srgbClr val="1E5E3A"/>
                </a:solidFill>
                <a:latin typeface="JetBrains Mono" pitchFamily="49"/>
                <a:ea typeface="JetBrains Mono" pitchFamily="49"/>
                <a:cs typeface="JetBrains Mono" pitchFamily="49"/>
              </a:rPr>
              <a:t>valid</a:t>
            </a:r>
          </a:p>
        </p:txBody>
      </p:sp>
      <p:cxnSp>
        <p:nvCxnSpPr>
          <p:cNvPr id="22" name="Connector 21"/>
          <p:cNvCxnSpPr/>
          <p:nvPr/>
        </p:nvCxnSpPr>
        <p:spPr>
          <a:xfrm>
            <a:off x="7178040" y="3291840"/>
            <a:ext cx="0" cy="384048"/>
          </a:xfrm>
          <a:prstGeom prst="line">
            <a:avLst/>
          </a:prstGeom>
          <a:ln w="22225">
            <a:solidFill>
              <a:srgbClr val="8E2A2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682495" y="3675888"/>
            <a:ext cx="5495545" cy="0"/>
          </a:xfrm>
          <a:prstGeom prst="line">
            <a:avLst/>
          </a:prstGeom>
          <a:ln w="22225">
            <a:solidFill>
              <a:srgbClr val="8E2A2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682495" y="3328416"/>
            <a:ext cx="0" cy="347472"/>
          </a:xfrm>
          <a:prstGeom prst="line">
            <a:avLst/>
          </a:prstGeom>
          <a:ln w="22225">
            <a:solidFill>
              <a:srgbClr val="8E2A2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148840" y="3520440"/>
            <a:ext cx="4206240" cy="310896"/>
          </a:xfrm>
          <a:prstGeom prst="roundRect">
            <a:avLst>
              <a:gd name="adj" fmla="val 50000"/>
            </a:avLst>
          </a:prstGeom>
          <a:solidFill>
            <a:srgbClr val="F7E2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148840" y="3520440"/>
            <a:ext cx="4206240" cy="310896"/>
          </a:xfrm>
          <a:prstGeom prst="rect">
            <a:avLst/>
          </a:prstGeom>
          <a:noFill/>
        </p:spPr>
        <p:txBody>
          <a:bodyPr wrap="square" lIns="0" rIns="0" tIns="0" bIns="0" anchor="ctr">
            <a:spAutoFit/>
          </a:bodyPr>
          <a:lstStyle/>
          <a:p>
            <a:pPr algn="ctr">
              <a:spcAft>
                <a:spcPts val="0"/>
              </a:spcAft>
            </a:pPr>
            <a:r>
              <a:rPr sz="1100" b="0">
                <a:solidFill>
                  <a:srgbClr val="8E2A21"/>
                </a:solidFill>
                <a:latin typeface="JetBrains Mono" pitchFamily="49"/>
                <a:ea typeface="JetBrains Mono" pitchFamily="49"/>
                <a:cs typeface="JetBrains Mono" pitchFamily="49"/>
              </a:rPr>
              <a:t>invalid: parser errors back to the LLM · max N tries</a:t>
            </a:r>
          </a:p>
        </p:txBody>
      </p:sp>
      <p:sp>
        <p:nvSpPr>
          <p:cNvPr id="27" name="Rounded Rectangle 26"/>
          <p:cNvSpPr/>
          <p:nvPr/>
        </p:nvSpPr>
        <p:spPr>
          <a:xfrm>
            <a:off x="813816" y="4114800"/>
            <a:ext cx="6108192" cy="2057400"/>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69848" y="4352544"/>
            <a:ext cx="5577840" cy="237744"/>
          </a:xfrm>
          <a:prstGeom prst="rect">
            <a:avLst/>
          </a:prstGeom>
          <a:noFill/>
        </p:spPr>
        <p:txBody>
          <a:bodyPr wrap="square" lIns="0" rIns="0" tIns="0" bIns="0" anchor="t">
            <a:spAutoFit/>
          </a:bodyPr>
          <a:lstStyle/>
          <a:p>
            <a:pPr algn="l">
              <a:spcAft>
                <a:spcPts val="0"/>
              </a:spcAft>
            </a:pPr>
            <a:r>
              <a:rPr sz="1200" b="0">
                <a:solidFill>
                  <a:srgbClr val="2F62C9"/>
                </a:solidFill>
                <a:latin typeface="JetBrains Mono" pitchFamily="49"/>
                <a:ea typeface="JetBrains Mono" pitchFamily="49"/>
                <a:cs typeface="JetBrains Mono" pitchFamily="49"/>
              </a:rPr>
              <a:t>HOW THE LOOP WORKS</a:t>
            </a:r>
          </a:p>
        </p:txBody>
      </p:sp>
      <p:sp>
        <p:nvSpPr>
          <p:cNvPr id="29" name="TextBox 28"/>
          <p:cNvSpPr txBox="1"/>
          <p:nvPr/>
        </p:nvSpPr>
        <p:spPr>
          <a:xfrm>
            <a:off x="1069848" y="4681728"/>
            <a:ext cx="5623560" cy="1417320"/>
          </a:xfrm>
          <a:prstGeom prst="rect">
            <a:avLst/>
          </a:prstGeom>
          <a:noFill/>
        </p:spPr>
        <p:txBody>
          <a:bodyPr wrap="square" lIns="0" rIns="0" tIns="0" bIns="0" anchor="t">
            <a:spAutoFit/>
          </a:bodyPr>
          <a:lstStyle/>
          <a:p>
            <a:pPr algn="l">
              <a:spcAft>
                <a:spcPts val="700"/>
              </a:spcAft>
            </a:pPr>
            <a:r>
              <a:rPr sz="1300" b="1">
                <a:solidFill>
                  <a:srgbClr val="2F62C9"/>
                </a:solidFill>
                <a:latin typeface="JetBrains Mono" pitchFamily="49"/>
                <a:ea typeface="JetBrains Mono" pitchFamily="49"/>
                <a:cs typeface="JetBrains Mono" pitchFamily="49"/>
              </a:rPr>
              <a:t>01  </a:t>
            </a:r>
            <a:r>
              <a:rPr sz="1300" b="0">
                <a:solidFill>
                  <a:srgbClr val="4A5363"/>
                </a:solidFill>
                <a:latin typeface="IBM Plex Sans" pitchFamily="34"/>
                <a:ea typeface="IBM Plex Sans" pitchFamily="34"/>
                <a:cs typeface="IBM Plex Sans" pitchFamily="34"/>
              </a:rPr>
              <a:t>Parse the generated code with a SysML v2 parser.</a:t>
            </a:r>
          </a:p>
          <a:p>
            <a:pPr algn="l">
              <a:spcAft>
                <a:spcPts val="700"/>
              </a:spcAft>
            </a:pPr>
            <a:r>
              <a:rPr sz="1300" b="1">
                <a:solidFill>
                  <a:srgbClr val="2F62C9"/>
                </a:solidFill>
                <a:latin typeface="JetBrains Mono" pitchFamily="49"/>
                <a:ea typeface="JetBrains Mono" pitchFamily="49"/>
                <a:cs typeface="JetBrains Mono" pitchFamily="49"/>
              </a:rPr>
              <a:t>02  </a:t>
            </a:r>
            <a:r>
              <a:rPr sz="1300" b="0">
                <a:solidFill>
                  <a:srgbClr val="4A5363"/>
                </a:solidFill>
                <a:latin typeface="IBM Plex Sans" pitchFamily="34"/>
                <a:ea typeface="IBM Plex Sans" pitchFamily="34"/>
                <a:cs typeface="IBM Plex Sans" pitchFamily="34"/>
              </a:rPr>
              <a:t>If invalid, send code + error messages (line, element, message) back; the LLM fixes only what is reported.</a:t>
            </a:r>
          </a:p>
          <a:p>
            <a:pPr algn="l">
              <a:spcAft>
                <a:spcPts val="700"/>
              </a:spcAft>
            </a:pPr>
            <a:r>
              <a:rPr sz="1300" b="1">
                <a:solidFill>
                  <a:srgbClr val="2F62C9"/>
                </a:solidFill>
                <a:latin typeface="JetBrains Mono" pitchFamily="49"/>
                <a:ea typeface="JetBrains Mono" pitchFamily="49"/>
                <a:cs typeface="JetBrains Mono" pitchFamily="49"/>
              </a:rPr>
              <a:t>03  </a:t>
            </a:r>
            <a:r>
              <a:rPr sz="1300" b="0">
                <a:solidFill>
                  <a:srgbClr val="4A5363"/>
                </a:solidFill>
                <a:latin typeface="IBM Plex Sans" pitchFamily="34"/>
                <a:ea typeface="IBM Plex Sans" pitchFamily="34"/>
                <a:cs typeface="IBM Plex Sans" pitchFamily="34"/>
              </a:rPr>
              <a:t>Stop when valid. After N tries, the last version goes to review together with the open errors.</a:t>
            </a:r>
          </a:p>
        </p:txBody>
      </p:sp>
      <p:sp>
        <p:nvSpPr>
          <p:cNvPr id="30" name="Rounded Rectangle 29"/>
          <p:cNvSpPr/>
          <p:nvPr/>
        </p:nvSpPr>
        <p:spPr>
          <a:xfrm>
            <a:off x="7150608" y="4114800"/>
            <a:ext cx="4233672" cy="2057400"/>
          </a:xfrm>
          <a:prstGeom prst="roundRect">
            <a:avLst>
              <a:gd name="adj" fmla="val 3000"/>
            </a:avLst>
          </a:prstGeom>
          <a:solidFill>
            <a:srgbClr val="EFEDE6"/>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06640" y="4352544"/>
            <a:ext cx="3749039" cy="237744"/>
          </a:xfrm>
          <a:prstGeom prst="rect">
            <a:avLst/>
          </a:prstGeom>
          <a:noFill/>
        </p:spPr>
        <p:txBody>
          <a:bodyPr wrap="square" lIns="0" rIns="0" tIns="0" bIns="0" anchor="t">
            <a:spAutoFit/>
          </a:bodyPr>
          <a:lstStyle/>
          <a:p>
            <a:pPr algn="l">
              <a:spcAft>
                <a:spcPts val="0"/>
              </a:spcAft>
            </a:pPr>
            <a:r>
              <a:rPr sz="1200" b="0">
                <a:solidFill>
                  <a:srgbClr val="5F6673"/>
                </a:solidFill>
                <a:latin typeface="JetBrains Mono" pitchFamily="49"/>
                <a:ea typeface="JetBrains Mono" pitchFamily="49"/>
                <a:cs typeface="JetBrains Mono" pitchFamily="49"/>
              </a:rPr>
              <a:t>LATER · TARGET STATE</a:t>
            </a:r>
          </a:p>
        </p:txBody>
      </p:sp>
      <p:sp>
        <p:nvSpPr>
          <p:cNvPr id="32" name="TextBox 31"/>
          <p:cNvSpPr txBox="1"/>
          <p:nvPr/>
        </p:nvSpPr>
        <p:spPr>
          <a:xfrm>
            <a:off x="7406640" y="4681728"/>
            <a:ext cx="3749039" cy="1417320"/>
          </a:xfrm>
          <a:prstGeom prst="rect">
            <a:avLst/>
          </a:prstGeom>
          <a:noFill/>
        </p:spPr>
        <p:txBody>
          <a:bodyPr wrap="square" lIns="0" rIns="0" tIns="0" bIns="0" anchor="t">
            <a:spAutoFit/>
          </a:bodyPr>
          <a:lstStyle/>
          <a:p>
            <a:pPr algn="l">
              <a:spcAft>
                <a:spcPts val="200"/>
              </a:spcAft>
            </a:pPr>
            <a:r>
              <a:rPr sz="1300" b="0">
                <a:solidFill>
                  <a:srgbClr val="4A5363"/>
                </a:solidFill>
                <a:latin typeface="IBM Plex Sans" pitchFamily="34"/>
                <a:ea typeface="IBM Plex Sans" pitchFamily="34"/>
                <a:cs typeface="IBM Plex Sans" pitchFamily="34"/>
              </a:rPr>
              <a:t>· IR schema and element references</a:t>
            </a:r>
          </a:p>
          <a:p>
            <a:pPr algn="l">
              <a:spcAft>
                <a:spcPts val="200"/>
              </a:spcAft>
            </a:pPr>
            <a:r>
              <a:rPr sz="1300" b="0">
                <a:solidFill>
                  <a:srgbClr val="4A5363"/>
                </a:solidFill>
                <a:latin typeface="IBM Plex Sans" pitchFamily="34"/>
                <a:ea typeface="IBM Plex Sans" pitchFamily="34"/>
                <a:cs typeface="IBM Plex Sans" pitchFamily="34"/>
              </a:rPr>
              <a:t>· Scope: only this level and its requirements</a:t>
            </a:r>
          </a:p>
          <a:p>
            <a:pPr algn="l">
              <a:spcAft>
                <a:spcPts val="200"/>
              </a:spcAft>
            </a:pPr>
            <a:r>
              <a:rPr sz="1300" b="0">
                <a:solidFill>
                  <a:srgbClr val="4A5363"/>
                </a:solidFill>
                <a:latin typeface="IBM Plex Sans" pitchFamily="34"/>
                <a:ea typeface="IBM Plex Sans" pitchFamily="34"/>
                <a:cs typeface="IBM Plex Sans" pitchFamily="34"/>
              </a:rPr>
              <a:t>· Grounding: numbers and units from the text</a:t>
            </a:r>
          </a:p>
          <a:p>
            <a:pPr algn="l">
              <a:spcAft>
                <a:spcPts val="200"/>
              </a:spcAft>
            </a:pPr>
            <a:r>
              <a:rPr sz="1300" b="0">
                <a:solidFill>
                  <a:srgbClr val="4A5363"/>
                </a:solidFill>
                <a:latin typeface="IBM Plex Sans" pitchFamily="34"/>
                <a:ea typeface="IBM Plex Sans" pitchFamily="34"/>
                <a:cs typeface="IBM Plex Sans" pitchFamily="34"/>
              </a:rPr>
              <a:t>· Refines / satisfies consistency with Polarion</a:t>
            </a:r>
          </a:p>
          <a:p>
            <a:pPr algn="l">
              <a:spcAft>
                <a:spcPts val="200"/>
              </a:spcAft>
            </a:pPr>
            <a:r>
              <a:rPr sz="1300" b="0">
                <a:solidFill>
                  <a:srgbClr val="4A5363"/>
                </a:solidFill>
                <a:latin typeface="IBM Plex Sans" pitchFamily="34"/>
                <a:ea typeface="IBM Plex Sans" pitchFamily="34"/>
                <a:cs typeface="IBM Plex Sans" pitchFamily="34"/>
              </a:rPr>
              <a:t>· Conflicts with the base commit</a:t>
            </a:r>
          </a:p>
          <a:p>
            <a:pPr algn="l">
              <a:spcAft>
                <a:spcPts val="200"/>
              </a:spcAft>
            </a:pPr>
            <a:r>
              <a:rPr sz="1300" b="0">
                <a:solidFill>
                  <a:srgbClr val="4A5363"/>
                </a:solidFill>
                <a:latin typeface="IBM Plex Sans" pitchFamily="34"/>
                <a:ea typeface="IBM Plex Sans" pitchFamily="34"/>
                <a:cs typeface="IBM Plex Sans" pitchFamily="34"/>
              </a:rPr>
              <a:t>· LLM judge for content fidelity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4EF"/>
        </a:solidFill>
      </p:bgPr>
    </p:bg>
    <p:spTree>
      <p:nvGrpSpPr>
        <p:cNvPr id="1" name=""/>
        <p:cNvGrpSpPr/>
        <p:nvPr/>
      </p:nvGrpSpPr>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231"/>
                </a:solidFill>
                <a:latin typeface="IBM Plex Sans" pitchFamily="34" charset="0"/>
                <a:ea typeface="IBM Plex Sans" pitchFamily="34" charset="-122"/>
                <a:cs typeface="IBM Plex Sans" pitchFamily="34" charset="-120"/>
              </a:rPr>
              <a:t>Target process: read, compare, assign</a:t>
            </a:r>
            <a:endParaRPr lang="en-US" sz="3200" dirty="0"/>
          </a:p>
        </p:txBody>
      </p:sp>
      <p:sp>
        <p:nvSpPr>
          <p:cNvPr id="3" name="Rounded Rectangle 2"/>
          <p:cNvSpPr/>
          <p:nvPr/>
        </p:nvSpPr>
        <p:spPr>
          <a:xfrm>
            <a:off x="813816" y="1481328"/>
            <a:ext cx="1078992" cy="841248"/>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23544" y="1591056"/>
            <a:ext cx="896112" cy="201168"/>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01</a:t>
            </a:r>
          </a:p>
        </p:txBody>
      </p:sp>
      <p:sp>
        <p:nvSpPr>
          <p:cNvPr id="5" name="TextBox 4"/>
          <p:cNvSpPr txBox="1"/>
          <p:nvPr/>
        </p:nvSpPr>
        <p:spPr>
          <a:xfrm>
            <a:off x="923544" y="1792224"/>
            <a:ext cx="896112" cy="256032"/>
          </a:xfrm>
          <a:prstGeom prst="rect">
            <a:avLst/>
          </a:prstGeom>
          <a:noFill/>
        </p:spPr>
        <p:txBody>
          <a:bodyPr wrap="square" lIns="0" rIns="0" tIns="0" bIns="0" anchor="t">
            <a:spAutoFit/>
          </a:bodyPr>
          <a:lstStyle/>
          <a:p>
            <a:pPr algn="l">
              <a:spcAft>
                <a:spcPts val="0"/>
              </a:spcAft>
            </a:pPr>
            <a:r>
              <a:rPr sz="1400" b="1">
                <a:solidFill>
                  <a:srgbClr val="172231"/>
                </a:solidFill>
                <a:latin typeface="IBM Plex Sans" pitchFamily="34"/>
                <a:ea typeface="IBM Plex Sans" pitchFamily="34"/>
                <a:cs typeface="IBM Plex Sans" pitchFamily="34"/>
              </a:rPr>
              <a:t>Read</a:t>
            </a:r>
          </a:p>
        </p:txBody>
      </p:sp>
      <p:sp>
        <p:nvSpPr>
          <p:cNvPr id="6" name="TextBox 5"/>
          <p:cNvSpPr txBox="1"/>
          <p:nvPr/>
        </p:nvSpPr>
        <p:spPr>
          <a:xfrm>
            <a:off x="923544" y="2066544"/>
            <a:ext cx="896112" cy="182880"/>
          </a:xfrm>
          <a:prstGeom prst="rect">
            <a:avLst/>
          </a:prstGeom>
          <a:noFill/>
        </p:spPr>
        <p:txBody>
          <a:bodyPr wrap="square" lIns="0" rIns="0" tIns="0" bIns="0" anchor="t">
            <a:spAutoFit/>
          </a:bodyPr>
          <a:lstStyle/>
          <a:p>
            <a:pPr algn="l">
              <a:spcAft>
                <a:spcPts val="0"/>
              </a:spcAft>
            </a:pPr>
            <a:r>
              <a:rPr sz="900" b="0">
                <a:solidFill>
                  <a:srgbClr val="2F62C9"/>
                </a:solidFill>
                <a:latin typeface="JetBrains Mono" pitchFamily="49"/>
                <a:ea typeface="JetBrains Mono" pitchFamily="49"/>
                <a:cs typeface="JetBrains Mono" pitchFamily="49"/>
              </a:rPr>
              <a:t>deterministic</a:t>
            </a:r>
          </a:p>
        </p:txBody>
      </p:sp>
      <p:sp>
        <p:nvSpPr>
          <p:cNvPr id="7" name="Rounded Rectangle 6"/>
          <p:cNvSpPr/>
          <p:nvPr/>
        </p:nvSpPr>
        <p:spPr>
          <a:xfrm>
            <a:off x="1999792" y="1481328"/>
            <a:ext cx="1078992" cy="841248"/>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109520" y="1591056"/>
            <a:ext cx="896112" cy="201168"/>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02</a:t>
            </a:r>
          </a:p>
        </p:txBody>
      </p:sp>
      <p:sp>
        <p:nvSpPr>
          <p:cNvPr id="9" name="TextBox 8"/>
          <p:cNvSpPr txBox="1"/>
          <p:nvPr/>
        </p:nvSpPr>
        <p:spPr>
          <a:xfrm>
            <a:off x="2109520" y="1792224"/>
            <a:ext cx="896112" cy="256032"/>
          </a:xfrm>
          <a:prstGeom prst="rect">
            <a:avLst/>
          </a:prstGeom>
          <a:noFill/>
        </p:spPr>
        <p:txBody>
          <a:bodyPr wrap="square" lIns="0" rIns="0" tIns="0" bIns="0" anchor="t">
            <a:spAutoFit/>
          </a:bodyPr>
          <a:lstStyle/>
          <a:p>
            <a:pPr algn="l">
              <a:spcAft>
                <a:spcPts val="0"/>
              </a:spcAft>
            </a:pPr>
            <a:r>
              <a:rPr sz="1400" b="1">
                <a:solidFill>
                  <a:srgbClr val="172231"/>
                </a:solidFill>
                <a:latin typeface="IBM Plex Sans" pitchFamily="34"/>
                <a:ea typeface="IBM Plex Sans" pitchFamily="34"/>
                <a:cs typeface="IBM Plex Sans" pitchFamily="34"/>
              </a:rPr>
              <a:t>Compare</a:t>
            </a:r>
          </a:p>
        </p:txBody>
      </p:sp>
      <p:sp>
        <p:nvSpPr>
          <p:cNvPr id="10" name="TextBox 9"/>
          <p:cNvSpPr txBox="1"/>
          <p:nvPr/>
        </p:nvSpPr>
        <p:spPr>
          <a:xfrm>
            <a:off x="2109520" y="2066544"/>
            <a:ext cx="896112" cy="182880"/>
          </a:xfrm>
          <a:prstGeom prst="rect">
            <a:avLst/>
          </a:prstGeom>
          <a:noFill/>
        </p:spPr>
        <p:txBody>
          <a:bodyPr wrap="square" lIns="0" rIns="0" tIns="0" bIns="0" anchor="t">
            <a:spAutoFit/>
          </a:bodyPr>
          <a:lstStyle/>
          <a:p>
            <a:pPr algn="l">
              <a:spcAft>
                <a:spcPts val="0"/>
              </a:spcAft>
            </a:pPr>
            <a:r>
              <a:rPr sz="900" b="0">
                <a:solidFill>
                  <a:srgbClr val="2F62C9"/>
                </a:solidFill>
                <a:latin typeface="JetBrains Mono" pitchFamily="49"/>
                <a:ea typeface="JetBrains Mono" pitchFamily="49"/>
                <a:cs typeface="JetBrains Mono" pitchFamily="49"/>
              </a:rPr>
              <a:t>deterministic</a:t>
            </a:r>
          </a:p>
        </p:txBody>
      </p:sp>
      <p:sp>
        <p:nvSpPr>
          <p:cNvPr id="11" name="Rounded Rectangle 10"/>
          <p:cNvSpPr/>
          <p:nvPr/>
        </p:nvSpPr>
        <p:spPr>
          <a:xfrm>
            <a:off x="3185769" y="1481328"/>
            <a:ext cx="1078992" cy="841248"/>
          </a:xfrm>
          <a:prstGeom prst="roundRect">
            <a:avLst>
              <a:gd name="adj" fmla="val 3000"/>
            </a:avLst>
          </a:prstGeom>
          <a:solidFill>
            <a:srgbClr val="17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295497" y="1591056"/>
            <a:ext cx="896112" cy="201168"/>
          </a:xfrm>
          <a:prstGeom prst="rect">
            <a:avLst/>
          </a:prstGeom>
          <a:noFill/>
        </p:spPr>
        <p:txBody>
          <a:bodyPr wrap="square" lIns="0" rIns="0" tIns="0" bIns="0" anchor="t">
            <a:spAutoFit/>
          </a:bodyPr>
          <a:lstStyle/>
          <a:p>
            <a:pPr algn="l">
              <a:spcAft>
                <a:spcPts val="0"/>
              </a:spcAft>
            </a:pPr>
            <a:r>
              <a:rPr sz="1100" b="0">
                <a:solidFill>
                  <a:srgbClr val="BAC4D3"/>
                </a:solidFill>
                <a:latin typeface="JetBrains Mono" pitchFamily="49"/>
                <a:ea typeface="JetBrains Mono" pitchFamily="49"/>
                <a:cs typeface="JetBrains Mono" pitchFamily="49"/>
              </a:rPr>
              <a:t>03</a:t>
            </a:r>
          </a:p>
        </p:txBody>
      </p:sp>
      <p:sp>
        <p:nvSpPr>
          <p:cNvPr id="13" name="TextBox 12"/>
          <p:cNvSpPr txBox="1"/>
          <p:nvPr/>
        </p:nvSpPr>
        <p:spPr>
          <a:xfrm>
            <a:off x="3295497" y="1792224"/>
            <a:ext cx="896112" cy="256032"/>
          </a:xfrm>
          <a:prstGeom prst="rect">
            <a:avLst/>
          </a:prstGeom>
          <a:noFill/>
        </p:spPr>
        <p:txBody>
          <a:bodyPr wrap="square" lIns="0" rIns="0" tIns="0" bIns="0" anchor="t">
            <a:spAutoFit/>
          </a:bodyPr>
          <a:lstStyle/>
          <a:p>
            <a:pPr algn="l">
              <a:spcAft>
                <a:spcPts val="0"/>
              </a:spcAft>
            </a:pPr>
            <a:r>
              <a:rPr sz="1400" b="1">
                <a:solidFill>
                  <a:srgbClr val="F5F4EF"/>
                </a:solidFill>
                <a:latin typeface="IBM Plex Sans" pitchFamily="34"/>
                <a:ea typeface="IBM Plex Sans" pitchFamily="34"/>
                <a:cs typeface="IBM Plex Sans" pitchFamily="34"/>
              </a:rPr>
              <a:t>Assign</a:t>
            </a:r>
          </a:p>
        </p:txBody>
      </p:sp>
      <p:sp>
        <p:nvSpPr>
          <p:cNvPr id="14" name="TextBox 13"/>
          <p:cNvSpPr txBox="1"/>
          <p:nvPr/>
        </p:nvSpPr>
        <p:spPr>
          <a:xfrm>
            <a:off x="3295497" y="2066544"/>
            <a:ext cx="896112" cy="182880"/>
          </a:xfrm>
          <a:prstGeom prst="rect">
            <a:avLst/>
          </a:prstGeom>
          <a:noFill/>
        </p:spPr>
        <p:txBody>
          <a:bodyPr wrap="square" lIns="0" rIns="0" tIns="0" bIns="0" anchor="t">
            <a:spAutoFit/>
          </a:bodyPr>
          <a:lstStyle/>
          <a:p>
            <a:pPr algn="l">
              <a:spcAft>
                <a:spcPts val="0"/>
              </a:spcAft>
            </a:pPr>
            <a:r>
              <a:rPr sz="900" b="0">
                <a:solidFill>
                  <a:srgbClr val="BAC4D3"/>
                </a:solidFill>
                <a:latin typeface="JetBrains Mono" pitchFamily="49"/>
                <a:ea typeface="JetBrains Mono" pitchFamily="49"/>
                <a:cs typeface="JetBrains Mono" pitchFamily="49"/>
              </a:rPr>
              <a:t>LLM (+human)</a:t>
            </a:r>
          </a:p>
        </p:txBody>
      </p:sp>
      <p:sp>
        <p:nvSpPr>
          <p:cNvPr id="15" name="Rounded Rectangle 14"/>
          <p:cNvSpPr/>
          <p:nvPr/>
        </p:nvSpPr>
        <p:spPr>
          <a:xfrm>
            <a:off x="4371746" y="1481328"/>
            <a:ext cx="1078992" cy="841248"/>
          </a:xfrm>
          <a:prstGeom prst="roundRect">
            <a:avLst>
              <a:gd name="adj" fmla="val 3000"/>
            </a:avLst>
          </a:prstGeom>
          <a:solidFill>
            <a:srgbClr val="EF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81474" y="1591056"/>
            <a:ext cx="896112" cy="201168"/>
          </a:xfrm>
          <a:prstGeom prst="rect">
            <a:avLst/>
          </a:prstGeom>
          <a:noFill/>
        </p:spPr>
        <p:txBody>
          <a:bodyPr wrap="square" lIns="0" rIns="0" tIns="0" bIns="0" anchor="t">
            <a:spAutoFit/>
          </a:bodyPr>
          <a:lstStyle/>
          <a:p>
            <a:pPr algn="l">
              <a:spcAft>
                <a:spcPts val="0"/>
              </a:spcAft>
            </a:pPr>
            <a:r>
              <a:rPr sz="1100" b="0">
                <a:solidFill>
                  <a:srgbClr val="9AA1AC"/>
                </a:solidFill>
                <a:latin typeface="JetBrains Mono" pitchFamily="49"/>
                <a:ea typeface="JetBrains Mono" pitchFamily="49"/>
                <a:cs typeface="JetBrains Mono" pitchFamily="49"/>
              </a:rPr>
              <a:t>04</a:t>
            </a:r>
          </a:p>
        </p:txBody>
      </p:sp>
      <p:sp>
        <p:nvSpPr>
          <p:cNvPr id="17" name="TextBox 16"/>
          <p:cNvSpPr txBox="1"/>
          <p:nvPr/>
        </p:nvSpPr>
        <p:spPr>
          <a:xfrm>
            <a:off x="4481474" y="1792224"/>
            <a:ext cx="896112" cy="256032"/>
          </a:xfrm>
          <a:prstGeom prst="rect">
            <a:avLst/>
          </a:prstGeom>
          <a:noFill/>
        </p:spPr>
        <p:txBody>
          <a:bodyPr wrap="square" lIns="0" rIns="0" tIns="0" bIns="0" anchor="t">
            <a:spAutoFit/>
          </a:bodyPr>
          <a:lstStyle/>
          <a:p>
            <a:pPr algn="l">
              <a:spcAft>
                <a:spcPts val="0"/>
              </a:spcAft>
            </a:pPr>
            <a:r>
              <a:rPr sz="1400" b="1">
                <a:solidFill>
                  <a:srgbClr val="9AA1AC"/>
                </a:solidFill>
                <a:latin typeface="IBM Plex Sans" pitchFamily="34"/>
                <a:ea typeface="IBM Plex Sans" pitchFamily="34"/>
                <a:cs typeface="IBM Plex Sans" pitchFamily="34"/>
              </a:rPr>
              <a:t>Sync</a:t>
            </a:r>
          </a:p>
        </p:txBody>
      </p:sp>
      <p:sp>
        <p:nvSpPr>
          <p:cNvPr id="18" name="TextBox 17"/>
          <p:cNvSpPr txBox="1"/>
          <p:nvPr/>
        </p:nvSpPr>
        <p:spPr>
          <a:xfrm>
            <a:off x="4481474" y="2066544"/>
            <a:ext cx="896112" cy="182880"/>
          </a:xfrm>
          <a:prstGeom prst="rect">
            <a:avLst/>
          </a:prstGeom>
          <a:noFill/>
        </p:spPr>
        <p:txBody>
          <a:bodyPr wrap="square" lIns="0" rIns="0" tIns="0" bIns="0" anchor="t">
            <a:spAutoFit/>
          </a:bodyPr>
          <a:lstStyle/>
          <a:p>
            <a:pPr algn="l">
              <a:spcAft>
                <a:spcPts val="0"/>
              </a:spcAft>
            </a:pPr>
            <a:r>
              <a:rPr sz="900" b="0">
                <a:solidFill>
                  <a:srgbClr val="9AA1AC"/>
                </a:solidFill>
                <a:latin typeface="JetBrains Mono" pitchFamily="49"/>
                <a:ea typeface="JetBrains Mono" pitchFamily="49"/>
                <a:cs typeface="JetBrains Mono" pitchFamily="49"/>
              </a:rPr>
              <a:t>deterministic</a:t>
            </a:r>
          </a:p>
        </p:txBody>
      </p:sp>
      <p:sp>
        <p:nvSpPr>
          <p:cNvPr id="19" name="Rounded Rectangle 18"/>
          <p:cNvSpPr/>
          <p:nvPr/>
        </p:nvSpPr>
        <p:spPr>
          <a:xfrm>
            <a:off x="5557723" y="1481328"/>
            <a:ext cx="1078992" cy="841248"/>
          </a:xfrm>
          <a:prstGeom prst="roundRect">
            <a:avLst>
              <a:gd name="adj" fmla="val 3000"/>
            </a:avLst>
          </a:prstGeom>
          <a:solidFill>
            <a:srgbClr val="EF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7451" y="1591056"/>
            <a:ext cx="896112" cy="201168"/>
          </a:xfrm>
          <a:prstGeom prst="rect">
            <a:avLst/>
          </a:prstGeom>
          <a:noFill/>
        </p:spPr>
        <p:txBody>
          <a:bodyPr wrap="square" lIns="0" rIns="0" tIns="0" bIns="0" anchor="t">
            <a:spAutoFit/>
          </a:bodyPr>
          <a:lstStyle/>
          <a:p>
            <a:pPr algn="l">
              <a:spcAft>
                <a:spcPts val="0"/>
              </a:spcAft>
            </a:pPr>
            <a:r>
              <a:rPr sz="1100" b="0">
                <a:solidFill>
                  <a:srgbClr val="9AA1AC"/>
                </a:solidFill>
                <a:latin typeface="JetBrains Mono" pitchFamily="49"/>
                <a:ea typeface="JetBrains Mono" pitchFamily="49"/>
                <a:cs typeface="JetBrains Mono" pitchFamily="49"/>
              </a:rPr>
              <a:t>05</a:t>
            </a:r>
          </a:p>
        </p:txBody>
      </p:sp>
      <p:sp>
        <p:nvSpPr>
          <p:cNvPr id="21" name="TextBox 20"/>
          <p:cNvSpPr txBox="1"/>
          <p:nvPr/>
        </p:nvSpPr>
        <p:spPr>
          <a:xfrm>
            <a:off x="5667451" y="1792224"/>
            <a:ext cx="896112" cy="256032"/>
          </a:xfrm>
          <a:prstGeom prst="rect">
            <a:avLst/>
          </a:prstGeom>
          <a:noFill/>
        </p:spPr>
        <p:txBody>
          <a:bodyPr wrap="square" lIns="0" rIns="0" tIns="0" bIns="0" anchor="t">
            <a:spAutoFit/>
          </a:bodyPr>
          <a:lstStyle/>
          <a:p>
            <a:pPr algn="l">
              <a:spcAft>
                <a:spcPts val="0"/>
              </a:spcAft>
            </a:pPr>
            <a:r>
              <a:rPr sz="1400" b="1">
                <a:solidFill>
                  <a:srgbClr val="9AA1AC"/>
                </a:solidFill>
                <a:latin typeface="IBM Plex Sans" pitchFamily="34"/>
                <a:ea typeface="IBM Plex Sans" pitchFamily="34"/>
                <a:cs typeface="IBM Plex Sans" pitchFamily="34"/>
              </a:rPr>
              <a:t>Formalize</a:t>
            </a:r>
          </a:p>
        </p:txBody>
      </p:sp>
      <p:sp>
        <p:nvSpPr>
          <p:cNvPr id="22" name="TextBox 21"/>
          <p:cNvSpPr txBox="1"/>
          <p:nvPr/>
        </p:nvSpPr>
        <p:spPr>
          <a:xfrm>
            <a:off x="5667451" y="2066544"/>
            <a:ext cx="896112" cy="182880"/>
          </a:xfrm>
          <a:prstGeom prst="rect">
            <a:avLst/>
          </a:prstGeom>
          <a:noFill/>
        </p:spPr>
        <p:txBody>
          <a:bodyPr wrap="square" lIns="0" rIns="0" tIns="0" bIns="0" anchor="t">
            <a:spAutoFit/>
          </a:bodyPr>
          <a:lstStyle/>
          <a:p>
            <a:pPr algn="l">
              <a:spcAft>
                <a:spcPts val="0"/>
              </a:spcAft>
            </a:pPr>
            <a:r>
              <a:rPr sz="900" b="0">
                <a:solidFill>
                  <a:srgbClr val="9AA1AC"/>
                </a:solidFill>
                <a:latin typeface="JetBrains Mono" pitchFamily="49"/>
                <a:ea typeface="JetBrains Mono" pitchFamily="49"/>
                <a:cs typeface="JetBrains Mono" pitchFamily="49"/>
              </a:rPr>
              <a:t>LLM</a:t>
            </a:r>
          </a:p>
        </p:txBody>
      </p:sp>
      <p:sp>
        <p:nvSpPr>
          <p:cNvPr id="23" name="Rounded Rectangle 22"/>
          <p:cNvSpPr/>
          <p:nvPr/>
        </p:nvSpPr>
        <p:spPr>
          <a:xfrm>
            <a:off x="6743699" y="1481328"/>
            <a:ext cx="1078992" cy="841248"/>
          </a:xfrm>
          <a:prstGeom prst="roundRect">
            <a:avLst>
              <a:gd name="adj" fmla="val 3000"/>
            </a:avLst>
          </a:prstGeom>
          <a:solidFill>
            <a:srgbClr val="EF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3427" y="1591056"/>
            <a:ext cx="896112" cy="201168"/>
          </a:xfrm>
          <a:prstGeom prst="rect">
            <a:avLst/>
          </a:prstGeom>
          <a:noFill/>
        </p:spPr>
        <p:txBody>
          <a:bodyPr wrap="square" lIns="0" rIns="0" tIns="0" bIns="0" anchor="t">
            <a:spAutoFit/>
          </a:bodyPr>
          <a:lstStyle/>
          <a:p>
            <a:pPr algn="l">
              <a:spcAft>
                <a:spcPts val="0"/>
              </a:spcAft>
            </a:pPr>
            <a:r>
              <a:rPr sz="1100" b="0">
                <a:solidFill>
                  <a:srgbClr val="9AA1AC"/>
                </a:solidFill>
                <a:latin typeface="JetBrains Mono" pitchFamily="49"/>
                <a:ea typeface="JetBrains Mono" pitchFamily="49"/>
                <a:cs typeface="JetBrains Mono" pitchFamily="49"/>
              </a:rPr>
              <a:t>06</a:t>
            </a:r>
          </a:p>
        </p:txBody>
      </p:sp>
      <p:sp>
        <p:nvSpPr>
          <p:cNvPr id="25" name="TextBox 24"/>
          <p:cNvSpPr txBox="1"/>
          <p:nvPr/>
        </p:nvSpPr>
        <p:spPr>
          <a:xfrm>
            <a:off x="6853427" y="1792224"/>
            <a:ext cx="896112" cy="256032"/>
          </a:xfrm>
          <a:prstGeom prst="rect">
            <a:avLst/>
          </a:prstGeom>
          <a:noFill/>
        </p:spPr>
        <p:txBody>
          <a:bodyPr wrap="square" lIns="0" rIns="0" tIns="0" bIns="0" anchor="t">
            <a:spAutoFit/>
          </a:bodyPr>
          <a:lstStyle/>
          <a:p>
            <a:pPr algn="l">
              <a:spcAft>
                <a:spcPts val="0"/>
              </a:spcAft>
            </a:pPr>
            <a:r>
              <a:rPr sz="1400" b="1">
                <a:solidFill>
                  <a:srgbClr val="9AA1AC"/>
                </a:solidFill>
                <a:latin typeface="IBM Plex Sans" pitchFamily="34"/>
                <a:ea typeface="IBM Plex Sans" pitchFamily="34"/>
                <a:cs typeface="IBM Plex Sans" pitchFamily="34"/>
              </a:rPr>
              <a:t>Validate</a:t>
            </a:r>
          </a:p>
        </p:txBody>
      </p:sp>
      <p:sp>
        <p:nvSpPr>
          <p:cNvPr id="26" name="TextBox 25"/>
          <p:cNvSpPr txBox="1"/>
          <p:nvPr/>
        </p:nvSpPr>
        <p:spPr>
          <a:xfrm>
            <a:off x="6853427" y="2066544"/>
            <a:ext cx="896112" cy="182880"/>
          </a:xfrm>
          <a:prstGeom prst="rect">
            <a:avLst/>
          </a:prstGeom>
          <a:noFill/>
        </p:spPr>
        <p:txBody>
          <a:bodyPr wrap="square" lIns="0" rIns="0" tIns="0" bIns="0" anchor="t">
            <a:spAutoFit/>
          </a:bodyPr>
          <a:lstStyle/>
          <a:p>
            <a:pPr algn="l">
              <a:spcAft>
                <a:spcPts val="0"/>
              </a:spcAft>
            </a:pPr>
            <a:r>
              <a:rPr sz="900" b="0">
                <a:solidFill>
                  <a:srgbClr val="9AA1AC"/>
                </a:solidFill>
                <a:latin typeface="JetBrains Mono" pitchFamily="49"/>
                <a:ea typeface="JetBrains Mono" pitchFamily="49"/>
                <a:cs typeface="JetBrains Mono" pitchFamily="49"/>
              </a:rPr>
              <a:t>deterministic</a:t>
            </a:r>
          </a:p>
        </p:txBody>
      </p:sp>
      <p:sp>
        <p:nvSpPr>
          <p:cNvPr id="27" name="Rounded Rectangle 26"/>
          <p:cNvSpPr/>
          <p:nvPr/>
        </p:nvSpPr>
        <p:spPr>
          <a:xfrm>
            <a:off x="7929676" y="1481328"/>
            <a:ext cx="1078992" cy="841248"/>
          </a:xfrm>
          <a:prstGeom prst="roundRect">
            <a:avLst>
              <a:gd name="adj" fmla="val 3000"/>
            </a:avLst>
          </a:prstGeom>
          <a:solidFill>
            <a:srgbClr val="EF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039404" y="1591056"/>
            <a:ext cx="896112" cy="201168"/>
          </a:xfrm>
          <a:prstGeom prst="rect">
            <a:avLst/>
          </a:prstGeom>
          <a:noFill/>
        </p:spPr>
        <p:txBody>
          <a:bodyPr wrap="square" lIns="0" rIns="0" tIns="0" bIns="0" anchor="t">
            <a:spAutoFit/>
          </a:bodyPr>
          <a:lstStyle/>
          <a:p>
            <a:pPr algn="l">
              <a:spcAft>
                <a:spcPts val="0"/>
              </a:spcAft>
            </a:pPr>
            <a:r>
              <a:rPr sz="1100" b="0">
                <a:solidFill>
                  <a:srgbClr val="9AA1AC"/>
                </a:solidFill>
                <a:latin typeface="JetBrains Mono" pitchFamily="49"/>
                <a:ea typeface="JetBrains Mono" pitchFamily="49"/>
                <a:cs typeface="JetBrains Mono" pitchFamily="49"/>
              </a:rPr>
              <a:t>07</a:t>
            </a:r>
          </a:p>
        </p:txBody>
      </p:sp>
      <p:sp>
        <p:nvSpPr>
          <p:cNvPr id="29" name="TextBox 28"/>
          <p:cNvSpPr txBox="1"/>
          <p:nvPr/>
        </p:nvSpPr>
        <p:spPr>
          <a:xfrm>
            <a:off x="8039404" y="1792224"/>
            <a:ext cx="896112" cy="256032"/>
          </a:xfrm>
          <a:prstGeom prst="rect">
            <a:avLst/>
          </a:prstGeom>
          <a:noFill/>
        </p:spPr>
        <p:txBody>
          <a:bodyPr wrap="square" lIns="0" rIns="0" tIns="0" bIns="0" anchor="t">
            <a:spAutoFit/>
          </a:bodyPr>
          <a:lstStyle/>
          <a:p>
            <a:pPr algn="l">
              <a:spcAft>
                <a:spcPts val="0"/>
              </a:spcAft>
            </a:pPr>
            <a:r>
              <a:rPr sz="1400" b="1">
                <a:solidFill>
                  <a:srgbClr val="9AA1AC"/>
                </a:solidFill>
                <a:latin typeface="IBM Plex Sans" pitchFamily="34"/>
                <a:ea typeface="IBM Plex Sans" pitchFamily="34"/>
                <a:cs typeface="IBM Plex Sans" pitchFamily="34"/>
              </a:rPr>
              <a:t>Review</a:t>
            </a:r>
          </a:p>
        </p:txBody>
      </p:sp>
      <p:sp>
        <p:nvSpPr>
          <p:cNvPr id="30" name="TextBox 29"/>
          <p:cNvSpPr txBox="1"/>
          <p:nvPr/>
        </p:nvSpPr>
        <p:spPr>
          <a:xfrm>
            <a:off x="8039404" y="2066544"/>
            <a:ext cx="896112" cy="182880"/>
          </a:xfrm>
          <a:prstGeom prst="rect">
            <a:avLst/>
          </a:prstGeom>
          <a:noFill/>
        </p:spPr>
        <p:txBody>
          <a:bodyPr wrap="square" lIns="0" rIns="0" tIns="0" bIns="0" anchor="t">
            <a:spAutoFit/>
          </a:bodyPr>
          <a:lstStyle/>
          <a:p>
            <a:pPr algn="l">
              <a:spcAft>
                <a:spcPts val="0"/>
              </a:spcAft>
            </a:pPr>
            <a:r>
              <a:rPr sz="900" b="0">
                <a:solidFill>
                  <a:srgbClr val="9AA1AC"/>
                </a:solidFill>
                <a:latin typeface="JetBrains Mono" pitchFamily="49"/>
                <a:ea typeface="JetBrains Mono" pitchFamily="49"/>
                <a:cs typeface="JetBrains Mono" pitchFamily="49"/>
              </a:rPr>
              <a:t>human</a:t>
            </a:r>
          </a:p>
        </p:txBody>
      </p:sp>
      <p:sp>
        <p:nvSpPr>
          <p:cNvPr id="31" name="Rounded Rectangle 30"/>
          <p:cNvSpPr/>
          <p:nvPr/>
        </p:nvSpPr>
        <p:spPr>
          <a:xfrm>
            <a:off x="9115653" y="1481328"/>
            <a:ext cx="1078992" cy="841248"/>
          </a:xfrm>
          <a:prstGeom prst="roundRect">
            <a:avLst>
              <a:gd name="adj" fmla="val 3000"/>
            </a:avLst>
          </a:prstGeom>
          <a:solidFill>
            <a:srgbClr val="EF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225381" y="1591056"/>
            <a:ext cx="896112" cy="201168"/>
          </a:xfrm>
          <a:prstGeom prst="rect">
            <a:avLst/>
          </a:prstGeom>
          <a:noFill/>
        </p:spPr>
        <p:txBody>
          <a:bodyPr wrap="square" lIns="0" rIns="0" tIns="0" bIns="0" anchor="t">
            <a:spAutoFit/>
          </a:bodyPr>
          <a:lstStyle/>
          <a:p>
            <a:pPr algn="l">
              <a:spcAft>
                <a:spcPts val="0"/>
              </a:spcAft>
            </a:pPr>
            <a:r>
              <a:rPr sz="1100" b="0">
                <a:solidFill>
                  <a:srgbClr val="9AA1AC"/>
                </a:solidFill>
                <a:latin typeface="JetBrains Mono" pitchFamily="49"/>
                <a:ea typeface="JetBrains Mono" pitchFamily="49"/>
                <a:cs typeface="JetBrains Mono" pitchFamily="49"/>
              </a:rPr>
              <a:t>08</a:t>
            </a:r>
          </a:p>
        </p:txBody>
      </p:sp>
      <p:sp>
        <p:nvSpPr>
          <p:cNvPr id="33" name="TextBox 32"/>
          <p:cNvSpPr txBox="1"/>
          <p:nvPr/>
        </p:nvSpPr>
        <p:spPr>
          <a:xfrm>
            <a:off x="9225381" y="1792224"/>
            <a:ext cx="896112" cy="256032"/>
          </a:xfrm>
          <a:prstGeom prst="rect">
            <a:avLst/>
          </a:prstGeom>
          <a:noFill/>
        </p:spPr>
        <p:txBody>
          <a:bodyPr wrap="square" lIns="0" rIns="0" tIns="0" bIns="0" anchor="t">
            <a:spAutoFit/>
          </a:bodyPr>
          <a:lstStyle/>
          <a:p>
            <a:pPr algn="l">
              <a:spcAft>
                <a:spcPts val="0"/>
              </a:spcAft>
            </a:pPr>
            <a:r>
              <a:rPr sz="1400" b="1">
                <a:solidFill>
                  <a:srgbClr val="9AA1AC"/>
                </a:solidFill>
                <a:latin typeface="IBM Plex Sans" pitchFamily="34"/>
                <a:ea typeface="IBM Plex Sans" pitchFamily="34"/>
                <a:cs typeface="IBM Plex Sans" pitchFamily="34"/>
              </a:rPr>
              <a:t>Apply</a:t>
            </a:r>
          </a:p>
        </p:txBody>
      </p:sp>
      <p:sp>
        <p:nvSpPr>
          <p:cNvPr id="34" name="TextBox 33"/>
          <p:cNvSpPr txBox="1"/>
          <p:nvPr/>
        </p:nvSpPr>
        <p:spPr>
          <a:xfrm>
            <a:off x="9225381" y="2066544"/>
            <a:ext cx="896112" cy="182880"/>
          </a:xfrm>
          <a:prstGeom prst="rect">
            <a:avLst/>
          </a:prstGeom>
          <a:noFill/>
        </p:spPr>
        <p:txBody>
          <a:bodyPr wrap="square" lIns="0" rIns="0" tIns="0" bIns="0" anchor="t">
            <a:spAutoFit/>
          </a:bodyPr>
          <a:lstStyle/>
          <a:p>
            <a:pPr algn="l">
              <a:spcAft>
                <a:spcPts val="0"/>
              </a:spcAft>
            </a:pPr>
            <a:r>
              <a:rPr sz="900" b="0">
                <a:solidFill>
                  <a:srgbClr val="9AA1AC"/>
                </a:solidFill>
                <a:latin typeface="JetBrains Mono" pitchFamily="49"/>
                <a:ea typeface="JetBrains Mono" pitchFamily="49"/>
                <a:cs typeface="JetBrains Mono" pitchFamily="49"/>
              </a:rPr>
              <a:t>deterministic</a:t>
            </a:r>
          </a:p>
        </p:txBody>
      </p:sp>
      <p:sp>
        <p:nvSpPr>
          <p:cNvPr id="35" name="Rounded Rectangle 34"/>
          <p:cNvSpPr/>
          <p:nvPr/>
        </p:nvSpPr>
        <p:spPr>
          <a:xfrm>
            <a:off x="10301630" y="1481328"/>
            <a:ext cx="1078992" cy="841248"/>
          </a:xfrm>
          <a:prstGeom prst="roundRect">
            <a:avLst>
              <a:gd name="adj" fmla="val 3000"/>
            </a:avLst>
          </a:prstGeom>
          <a:solidFill>
            <a:srgbClr val="EF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411358" y="1591056"/>
            <a:ext cx="896112" cy="201168"/>
          </a:xfrm>
          <a:prstGeom prst="rect">
            <a:avLst/>
          </a:prstGeom>
          <a:noFill/>
        </p:spPr>
        <p:txBody>
          <a:bodyPr wrap="square" lIns="0" rIns="0" tIns="0" bIns="0" anchor="t">
            <a:spAutoFit/>
          </a:bodyPr>
          <a:lstStyle/>
          <a:p>
            <a:pPr algn="l">
              <a:spcAft>
                <a:spcPts val="0"/>
              </a:spcAft>
            </a:pPr>
            <a:r>
              <a:rPr sz="1100" b="0">
                <a:solidFill>
                  <a:srgbClr val="9AA1AC"/>
                </a:solidFill>
                <a:latin typeface="JetBrains Mono" pitchFamily="49"/>
                <a:ea typeface="JetBrains Mono" pitchFamily="49"/>
                <a:cs typeface="JetBrains Mono" pitchFamily="49"/>
              </a:rPr>
              <a:t>09</a:t>
            </a:r>
          </a:p>
        </p:txBody>
      </p:sp>
      <p:sp>
        <p:nvSpPr>
          <p:cNvPr id="37" name="TextBox 36"/>
          <p:cNvSpPr txBox="1"/>
          <p:nvPr/>
        </p:nvSpPr>
        <p:spPr>
          <a:xfrm>
            <a:off x="10411358" y="1792224"/>
            <a:ext cx="896112" cy="256032"/>
          </a:xfrm>
          <a:prstGeom prst="rect">
            <a:avLst/>
          </a:prstGeom>
          <a:noFill/>
        </p:spPr>
        <p:txBody>
          <a:bodyPr wrap="square" lIns="0" rIns="0" tIns="0" bIns="0" anchor="t">
            <a:spAutoFit/>
          </a:bodyPr>
          <a:lstStyle/>
          <a:p>
            <a:pPr algn="l">
              <a:spcAft>
                <a:spcPts val="0"/>
              </a:spcAft>
            </a:pPr>
            <a:r>
              <a:rPr sz="1400" b="1">
                <a:solidFill>
                  <a:srgbClr val="9AA1AC"/>
                </a:solidFill>
                <a:latin typeface="IBM Plex Sans" pitchFamily="34"/>
                <a:ea typeface="IBM Plex Sans" pitchFamily="34"/>
                <a:cs typeface="IBM Plex Sans" pitchFamily="34"/>
              </a:rPr>
              <a:t>Impact</a:t>
            </a:r>
          </a:p>
        </p:txBody>
      </p:sp>
      <p:sp>
        <p:nvSpPr>
          <p:cNvPr id="38" name="TextBox 37"/>
          <p:cNvSpPr txBox="1"/>
          <p:nvPr/>
        </p:nvSpPr>
        <p:spPr>
          <a:xfrm>
            <a:off x="10411358" y="2066544"/>
            <a:ext cx="896112" cy="182880"/>
          </a:xfrm>
          <a:prstGeom prst="rect">
            <a:avLst/>
          </a:prstGeom>
          <a:noFill/>
        </p:spPr>
        <p:txBody>
          <a:bodyPr wrap="square" lIns="0" rIns="0" tIns="0" bIns="0" anchor="t">
            <a:spAutoFit/>
          </a:bodyPr>
          <a:lstStyle/>
          <a:p>
            <a:pPr algn="l">
              <a:spcAft>
                <a:spcPts val="0"/>
              </a:spcAft>
            </a:pPr>
            <a:r>
              <a:rPr sz="900" b="0">
                <a:solidFill>
                  <a:srgbClr val="9AA1AC"/>
                </a:solidFill>
                <a:latin typeface="JetBrains Mono" pitchFamily="49"/>
                <a:ea typeface="JetBrains Mono" pitchFamily="49"/>
                <a:cs typeface="JetBrains Mono" pitchFamily="49"/>
              </a:rPr>
              <a:t>deterministic</a:t>
            </a:r>
          </a:p>
        </p:txBody>
      </p:sp>
      <p:sp>
        <p:nvSpPr>
          <p:cNvPr id="39" name="TextBox 38"/>
          <p:cNvSpPr txBox="1"/>
          <p:nvPr/>
        </p:nvSpPr>
        <p:spPr>
          <a:xfrm>
            <a:off x="813816" y="2432304"/>
            <a:ext cx="10570464" cy="201168"/>
          </a:xfrm>
          <a:prstGeom prst="rect">
            <a:avLst/>
          </a:prstGeom>
          <a:noFill/>
        </p:spPr>
        <p:txBody>
          <a:bodyPr wrap="square" lIns="0" rIns="0" tIns="0" bIns="0" anchor="t">
            <a:spAutoFit/>
          </a:bodyPr>
          <a:lstStyle/>
          <a:p>
            <a:pPr algn="l">
              <a:spcAft>
                <a:spcPts val="0"/>
              </a:spcAft>
            </a:pPr>
            <a:r>
              <a:rPr sz="1100" b="0">
                <a:solidFill>
                  <a:srgbClr val="4A5363"/>
                </a:solidFill>
                <a:latin typeface="IBM Plex Sans" pitchFamily="34"/>
                <a:ea typeface="IBM Plex Sans" pitchFamily="34"/>
                <a:cs typeface="IBM Plex Sans" pitchFamily="34"/>
              </a:rPr>
              <a:t>One level Ly, one run per batch of requirement changes.  </a:t>
            </a:r>
            <a:r>
              <a:rPr sz="1100" b="0">
                <a:solidFill>
                  <a:srgbClr val="5F6673"/>
                </a:solidFill>
                <a:latin typeface="JetBrains Mono" pitchFamily="49"/>
                <a:ea typeface="JetBrains Mono" pitchFamily="49"/>
                <a:cs typeface="JetBrains Mono" pitchFamily="49"/>
              </a:rPr>
              <a:t>Light = deterministic · dark = LLM · blue = human · step 3 review optional</a:t>
            </a:r>
          </a:p>
        </p:txBody>
      </p:sp>
      <p:sp>
        <p:nvSpPr>
          <p:cNvPr id="40" name="Rounded Rectangle 39"/>
          <p:cNvSpPr/>
          <p:nvPr/>
        </p:nvSpPr>
        <p:spPr>
          <a:xfrm>
            <a:off x="813816" y="2788920"/>
            <a:ext cx="2971800" cy="3429000"/>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33271" y="2990088"/>
            <a:ext cx="2560320" cy="237744"/>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01  DETERMINISTIC</a:t>
            </a:r>
          </a:p>
        </p:txBody>
      </p:sp>
      <p:sp>
        <p:nvSpPr>
          <p:cNvPr id="42" name="TextBox 41"/>
          <p:cNvSpPr txBox="1"/>
          <p:nvPr/>
        </p:nvSpPr>
        <p:spPr>
          <a:xfrm>
            <a:off x="1033271" y="3264408"/>
            <a:ext cx="2560320" cy="310896"/>
          </a:xfrm>
          <a:prstGeom prst="rect">
            <a:avLst/>
          </a:prstGeom>
          <a:noFill/>
        </p:spPr>
        <p:txBody>
          <a:bodyPr wrap="square" lIns="0" rIns="0" tIns="0" bIns="0" anchor="t">
            <a:spAutoFit/>
          </a:bodyPr>
          <a:lstStyle/>
          <a:p>
            <a:pPr algn="l">
              <a:spcAft>
                <a:spcPts val="0"/>
              </a:spcAft>
            </a:pPr>
            <a:r>
              <a:rPr sz="1700" b="1">
                <a:solidFill>
                  <a:srgbClr val="172231"/>
                </a:solidFill>
                <a:latin typeface="IBM Plex Sans" pitchFamily="34"/>
                <a:ea typeface="IBM Plex Sans" pitchFamily="34"/>
                <a:cs typeface="IBM Plex Sans" pitchFamily="34"/>
              </a:rPr>
              <a:t>Read</a:t>
            </a:r>
          </a:p>
        </p:txBody>
      </p:sp>
      <p:sp>
        <p:nvSpPr>
          <p:cNvPr id="43" name="TextBox 42"/>
          <p:cNvSpPr txBox="1"/>
          <p:nvPr/>
        </p:nvSpPr>
        <p:spPr>
          <a:xfrm>
            <a:off x="1033271" y="3657600"/>
            <a:ext cx="2560320" cy="2468880"/>
          </a:xfrm>
          <a:prstGeom prst="rect">
            <a:avLst/>
          </a:prstGeom>
          <a:noFill/>
        </p:spPr>
        <p:txBody>
          <a:bodyPr wrap="square" lIns="0" rIns="0" tIns="0" bIns="0" anchor="t">
            <a:spAutoFit/>
          </a:bodyPr>
          <a:lstStyle/>
          <a:p>
            <a:pPr algn="l">
              <a:spcAft>
                <a:spcPts val="500"/>
              </a:spcAft>
            </a:pPr>
            <a:r>
              <a:rPr sz="1250" b="1">
                <a:solidFill>
                  <a:srgbClr val="172231"/>
                </a:solidFill>
                <a:latin typeface="IBM Plex Sans" pitchFamily="34"/>
                <a:ea typeface="IBM Plex Sans" pitchFamily="34"/>
                <a:cs typeface="IBM Plex Sans" pitchFamily="34"/>
              </a:rPr>
              <a:t>Polarion: </a:t>
            </a:r>
            <a:r>
              <a:rPr sz="1250" b="0">
                <a:solidFill>
                  <a:srgbClr val="4A5363"/>
                </a:solidFill>
                <a:latin typeface="IBM Plex Sans" pitchFamily="34"/>
                <a:ea typeface="IBM Plex Sans" pitchFamily="34"/>
                <a:cs typeface="IBM Plex Sans" pitchFamily="34"/>
              </a:rPr>
              <a:t>R_Ly and refines links via REST.</a:t>
            </a:r>
          </a:p>
          <a:p>
            <a:pPr algn="l">
              <a:spcAft>
                <a:spcPts val="500"/>
              </a:spcAft>
            </a:pPr>
            <a:r>
              <a:rPr sz="1250" b="1">
                <a:solidFill>
                  <a:srgbClr val="172231"/>
                </a:solidFill>
                <a:latin typeface="IBM Plex Sans" pitchFamily="34"/>
                <a:ea typeface="IBM Plex Sans" pitchFamily="34"/>
                <a:cs typeface="IBM Plex Sans" pitchFamily="34"/>
              </a:rPr>
              <a:t>Model: </a:t>
            </a:r>
            <a:r>
              <a:rPr sz="1250" b="0">
                <a:solidFill>
                  <a:srgbClr val="4A5363"/>
                </a:solidFill>
                <a:latin typeface="IBM Plex Sans" pitchFamily="34"/>
                <a:ea typeface="IBM Plex Sans" pitchFamily="34"/>
                <a:cs typeface="IBM Plex Sans" pitchFamily="34"/>
              </a:rPr>
              <a:t>requirements and functions with @PolarionRef via the SysML v2 API, pinned to one commit.</a:t>
            </a:r>
          </a:p>
        </p:txBody>
      </p:sp>
      <p:sp>
        <p:nvSpPr>
          <p:cNvPr id="44" name="Rounded Rectangle 43"/>
          <p:cNvSpPr/>
          <p:nvPr/>
        </p:nvSpPr>
        <p:spPr>
          <a:xfrm>
            <a:off x="4005072" y="2788920"/>
            <a:ext cx="3108960" cy="3429000"/>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224528" y="2990088"/>
            <a:ext cx="2697479" cy="237744"/>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02  DETERMINISTIC</a:t>
            </a:r>
          </a:p>
        </p:txBody>
      </p:sp>
      <p:sp>
        <p:nvSpPr>
          <p:cNvPr id="46" name="TextBox 45"/>
          <p:cNvSpPr txBox="1"/>
          <p:nvPr/>
        </p:nvSpPr>
        <p:spPr>
          <a:xfrm>
            <a:off x="4224528" y="3264408"/>
            <a:ext cx="2697479" cy="310896"/>
          </a:xfrm>
          <a:prstGeom prst="rect">
            <a:avLst/>
          </a:prstGeom>
          <a:noFill/>
        </p:spPr>
        <p:txBody>
          <a:bodyPr wrap="square" lIns="0" rIns="0" tIns="0" bIns="0" anchor="t">
            <a:spAutoFit/>
          </a:bodyPr>
          <a:lstStyle/>
          <a:p>
            <a:pPr algn="l">
              <a:spcAft>
                <a:spcPts val="0"/>
              </a:spcAft>
            </a:pPr>
            <a:r>
              <a:rPr sz="1700" b="1">
                <a:solidFill>
                  <a:srgbClr val="172231"/>
                </a:solidFill>
                <a:latin typeface="IBM Plex Sans" pitchFamily="34"/>
                <a:ea typeface="IBM Plex Sans" pitchFamily="34"/>
                <a:cs typeface="IBM Plex Sans" pitchFamily="34"/>
              </a:rPr>
              <a:t>Compare</a:t>
            </a:r>
          </a:p>
        </p:txBody>
      </p:sp>
      <p:sp>
        <p:nvSpPr>
          <p:cNvPr id="47" name="TextBox 46"/>
          <p:cNvSpPr txBox="1"/>
          <p:nvPr/>
        </p:nvSpPr>
        <p:spPr>
          <a:xfrm>
            <a:off x="4224528" y="3657600"/>
            <a:ext cx="2697479" cy="2468880"/>
          </a:xfrm>
          <a:prstGeom prst="rect">
            <a:avLst/>
          </a:prstGeom>
          <a:noFill/>
        </p:spPr>
        <p:txBody>
          <a:bodyPr wrap="square" lIns="0" rIns="0" tIns="0" bIns="0" anchor="t">
            <a:spAutoFit/>
          </a:bodyPr>
          <a:lstStyle/>
          <a:p>
            <a:pPr algn="l">
              <a:spcAft>
                <a:spcPts val="500"/>
              </a:spcAft>
            </a:pPr>
            <a:r>
              <a:rPr sz="1250" b="0">
                <a:solidFill>
                  <a:srgbClr val="4A5363"/>
                </a:solidFill>
                <a:latin typeface="IBM Plex Sans" pitchFamily="34"/>
                <a:ea typeface="IBM Plex Sans" pitchFamily="34"/>
                <a:cs typeface="IBM Plex Sans" pitchFamily="34"/>
              </a:rPr>
              <a:t>Per Polarion ID:</a:t>
            </a:r>
          </a:p>
        </p:txBody>
      </p:sp>
      <p:sp>
        <p:nvSpPr>
          <p:cNvPr id="48" name="Rounded Rectangle 47"/>
          <p:cNvSpPr/>
          <p:nvPr/>
        </p:nvSpPr>
        <p:spPr>
          <a:xfrm>
            <a:off x="4224528" y="3995928"/>
            <a:ext cx="675132" cy="274320"/>
          </a:xfrm>
          <a:prstGeom prst="roundRect">
            <a:avLst>
              <a:gd name="adj" fmla="val 50000"/>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4224528" y="3995928"/>
            <a:ext cx="675132" cy="274320"/>
          </a:xfrm>
          <a:prstGeom prst="rect">
            <a:avLst/>
          </a:prstGeom>
          <a:noFill/>
        </p:spPr>
        <p:txBody>
          <a:bodyPr wrap="square" lIns="0" rIns="0" tIns="0" bIns="0" anchor="ctr">
            <a:spAutoFit/>
          </a:bodyPr>
          <a:lstStyle/>
          <a:p>
            <a:pPr algn="ctr">
              <a:spcAft>
                <a:spcPts val="0"/>
              </a:spcAft>
            </a:pPr>
            <a:r>
              <a:rPr sz="1100" b="0">
                <a:solidFill>
                  <a:srgbClr val="1E5E3A"/>
                </a:solidFill>
                <a:latin typeface="JetBrains Mono" pitchFamily="49"/>
                <a:ea typeface="JetBrains Mono" pitchFamily="49"/>
                <a:cs typeface="JetBrains Mono" pitchFamily="49"/>
              </a:rPr>
              <a:t>+ neu</a:t>
            </a:r>
          </a:p>
        </p:txBody>
      </p:sp>
      <p:sp>
        <p:nvSpPr>
          <p:cNvPr id="50" name="Rounded Rectangle 49"/>
          <p:cNvSpPr/>
          <p:nvPr/>
        </p:nvSpPr>
        <p:spPr>
          <a:xfrm>
            <a:off x="4224528" y="4334256"/>
            <a:ext cx="1513332" cy="274320"/>
          </a:xfrm>
          <a:prstGeom prst="roundRect">
            <a:avLst>
              <a:gd name="adj" fmla="val 50000"/>
            </a:avLst>
          </a:prstGeom>
          <a:solidFill>
            <a:srgbClr val="FB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4224528" y="4334256"/>
            <a:ext cx="1513332" cy="274320"/>
          </a:xfrm>
          <a:prstGeom prst="rect">
            <a:avLst/>
          </a:prstGeom>
          <a:noFill/>
        </p:spPr>
        <p:txBody>
          <a:bodyPr wrap="square" lIns="0" rIns="0" tIns="0" bIns="0" anchor="ctr">
            <a:spAutoFit/>
          </a:bodyPr>
          <a:lstStyle/>
          <a:p>
            <a:pPr algn="ctr">
              <a:spcAft>
                <a:spcPts val="0"/>
              </a:spcAft>
            </a:pPr>
            <a:r>
              <a:rPr sz="1100" b="0">
                <a:solidFill>
                  <a:srgbClr val="8A4510"/>
                </a:solidFill>
                <a:latin typeface="JetBrains Mono" pitchFamily="49"/>
                <a:ea typeface="JetBrains Mono" pitchFamily="49"/>
                <a:cs typeface="JetBrains Mono" pitchFamily="49"/>
              </a:rPr>
              <a:t>~ Text geändert</a:t>
            </a:r>
          </a:p>
        </p:txBody>
      </p:sp>
      <p:sp>
        <p:nvSpPr>
          <p:cNvPr id="52" name="Rounded Rectangle 51"/>
          <p:cNvSpPr/>
          <p:nvPr/>
        </p:nvSpPr>
        <p:spPr>
          <a:xfrm>
            <a:off x="4224528" y="4672584"/>
            <a:ext cx="1513332" cy="274320"/>
          </a:xfrm>
          <a:prstGeom prst="roundRect">
            <a:avLst>
              <a:gd name="adj" fmla="val 50000"/>
            </a:avLst>
          </a:prstGeom>
          <a:solidFill>
            <a:srgbClr val="E6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224528" y="4672584"/>
            <a:ext cx="1513332" cy="274320"/>
          </a:xfrm>
          <a:prstGeom prst="rect">
            <a:avLst/>
          </a:prstGeom>
          <a:noFill/>
        </p:spPr>
        <p:txBody>
          <a:bodyPr wrap="square" lIns="0" rIns="0" tIns="0" bIns="0" anchor="ctr">
            <a:spAutoFit/>
          </a:bodyPr>
          <a:lstStyle/>
          <a:p>
            <a:pPr algn="ctr">
              <a:spcAft>
                <a:spcPts val="0"/>
              </a:spcAft>
            </a:pPr>
            <a:r>
              <a:rPr sz="1100" b="0">
                <a:solidFill>
                  <a:srgbClr val="234A99"/>
                </a:solidFill>
                <a:latin typeface="JetBrains Mono" pitchFamily="49"/>
                <a:ea typeface="JetBrains Mono" pitchFamily="49"/>
                <a:cs typeface="JetBrains Mono" pitchFamily="49"/>
              </a:rPr>
              <a:t>↔ Link geändert</a:t>
            </a:r>
          </a:p>
        </p:txBody>
      </p:sp>
      <p:sp>
        <p:nvSpPr>
          <p:cNvPr id="54" name="Rounded Rectangle 53"/>
          <p:cNvSpPr/>
          <p:nvPr/>
        </p:nvSpPr>
        <p:spPr>
          <a:xfrm>
            <a:off x="4224528" y="5010912"/>
            <a:ext cx="1932432" cy="274320"/>
          </a:xfrm>
          <a:prstGeom prst="roundRect">
            <a:avLst>
              <a:gd name="adj" fmla="val 50000"/>
            </a:avLst>
          </a:prstGeom>
          <a:solidFill>
            <a:srgbClr val="F7E2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4224528" y="5010912"/>
            <a:ext cx="1932432" cy="274320"/>
          </a:xfrm>
          <a:prstGeom prst="rect">
            <a:avLst/>
          </a:prstGeom>
          <a:noFill/>
        </p:spPr>
        <p:txBody>
          <a:bodyPr wrap="square" lIns="0" rIns="0" tIns="0" bIns="0" anchor="ctr">
            <a:spAutoFit/>
          </a:bodyPr>
          <a:lstStyle/>
          <a:p>
            <a:pPr algn="ctr">
              <a:spcAft>
                <a:spcPts val="0"/>
              </a:spcAft>
            </a:pPr>
            <a:r>
              <a:rPr sz="1100" b="0">
                <a:solidFill>
                  <a:srgbClr val="8E2A21"/>
                </a:solidFill>
                <a:latin typeface="JetBrains Mono" pitchFamily="49"/>
                <a:ea typeface="JetBrains Mono" pitchFamily="49"/>
                <a:cs typeface="JetBrains Mono" pitchFamily="49"/>
              </a:rPr>
              <a:t>− gelöscht / obsolet</a:t>
            </a:r>
          </a:p>
        </p:txBody>
      </p:sp>
      <p:sp>
        <p:nvSpPr>
          <p:cNvPr id="56" name="Rounded Rectangle 55"/>
          <p:cNvSpPr/>
          <p:nvPr/>
        </p:nvSpPr>
        <p:spPr>
          <a:xfrm>
            <a:off x="4224528" y="5349240"/>
            <a:ext cx="1345692" cy="274320"/>
          </a:xfrm>
          <a:prstGeom prst="roundRect">
            <a:avLst>
              <a:gd name="adj" fmla="val 50000"/>
            </a:avLst>
          </a:prstGeom>
          <a:solidFill>
            <a:srgbClr val="EF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4224528" y="5349240"/>
            <a:ext cx="1345692" cy="274320"/>
          </a:xfrm>
          <a:prstGeom prst="rect">
            <a:avLst/>
          </a:prstGeom>
          <a:noFill/>
        </p:spPr>
        <p:txBody>
          <a:bodyPr wrap="square" lIns="0" rIns="0" tIns="0" bIns="0" anchor="ctr">
            <a:spAutoFit/>
          </a:bodyPr>
          <a:lstStyle/>
          <a:p>
            <a:pPr algn="ctr">
              <a:spcAft>
                <a:spcPts val="0"/>
              </a:spcAft>
            </a:pPr>
            <a:r>
              <a:rPr sz="1100" b="0">
                <a:solidFill>
                  <a:srgbClr val="4A5363"/>
                </a:solidFill>
                <a:latin typeface="JetBrains Mono" pitchFamily="49"/>
                <a:ea typeface="JetBrains Mono" pitchFamily="49"/>
                <a:cs typeface="JetBrains Mono" pitchFamily="49"/>
              </a:rPr>
              <a:t>= unverändert</a:t>
            </a:r>
          </a:p>
        </p:txBody>
      </p:sp>
      <p:sp>
        <p:nvSpPr>
          <p:cNvPr id="58" name="TextBox 57"/>
          <p:cNvSpPr txBox="1"/>
          <p:nvPr/>
        </p:nvSpPr>
        <p:spPr>
          <a:xfrm>
            <a:off x="4224528" y="5760720"/>
            <a:ext cx="2697480" cy="457200"/>
          </a:xfrm>
          <a:prstGeom prst="rect">
            <a:avLst/>
          </a:prstGeom>
          <a:noFill/>
        </p:spPr>
        <p:txBody>
          <a:bodyPr wrap="square" lIns="0" rIns="0" tIns="0" bIns="0" anchor="t">
            <a:spAutoFit/>
          </a:bodyPr>
          <a:lstStyle/>
          <a:p>
            <a:pPr algn="l">
              <a:spcAft>
                <a:spcPts val="0"/>
              </a:spcAft>
            </a:pPr>
            <a:r>
              <a:rPr sz="1250" b="1">
                <a:solidFill>
                  <a:srgbClr val="172231"/>
                </a:solidFill>
                <a:latin typeface="IBM Plex Sans" pitchFamily="34"/>
                <a:ea typeface="IBM Plex Sans" pitchFamily="34"/>
                <a:cs typeface="IBM Plex Sans" pitchFamily="34"/>
              </a:rPr>
              <a:t>Plus: </a:t>
            </a:r>
            <a:r>
              <a:rPr sz="1250" b="0">
                <a:solidFill>
                  <a:srgbClr val="4A5363"/>
                </a:solidFill>
                <a:latin typeface="IBM Plex Sans" pitchFamily="34"/>
                <a:ea typeface="IBM Plex Sans" pitchFamily="34"/>
                <a:cs typeface="IBM Plex Sans" pitchFamily="34"/>
              </a:rPr>
              <a:t>assigned (has refines link) or unassigned</a:t>
            </a:r>
          </a:p>
        </p:txBody>
      </p:sp>
      <p:sp>
        <p:nvSpPr>
          <p:cNvPr id="59" name="Rounded Rectangle 58"/>
          <p:cNvSpPr/>
          <p:nvPr/>
        </p:nvSpPr>
        <p:spPr>
          <a:xfrm>
            <a:off x="7333488" y="2788920"/>
            <a:ext cx="4050791" cy="3429000"/>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7552944" y="2990088"/>
            <a:ext cx="3639311" cy="237744"/>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03  LLM + OPTIONAL HUMAN</a:t>
            </a:r>
          </a:p>
        </p:txBody>
      </p:sp>
      <p:sp>
        <p:nvSpPr>
          <p:cNvPr id="61" name="TextBox 60"/>
          <p:cNvSpPr txBox="1"/>
          <p:nvPr/>
        </p:nvSpPr>
        <p:spPr>
          <a:xfrm>
            <a:off x="7552944" y="3264408"/>
            <a:ext cx="3639311" cy="310896"/>
          </a:xfrm>
          <a:prstGeom prst="rect">
            <a:avLst/>
          </a:prstGeom>
          <a:noFill/>
        </p:spPr>
        <p:txBody>
          <a:bodyPr wrap="square" lIns="0" rIns="0" tIns="0" bIns="0" anchor="t">
            <a:spAutoFit/>
          </a:bodyPr>
          <a:lstStyle/>
          <a:p>
            <a:pPr algn="l">
              <a:spcAft>
                <a:spcPts val="0"/>
              </a:spcAft>
            </a:pPr>
            <a:r>
              <a:rPr sz="1700" b="1">
                <a:solidFill>
                  <a:srgbClr val="172231"/>
                </a:solidFill>
                <a:latin typeface="IBM Plex Sans" pitchFamily="34"/>
                <a:ea typeface="IBM Plex Sans" pitchFamily="34"/>
                <a:cs typeface="IBM Plex Sans" pitchFamily="34"/>
              </a:rPr>
              <a:t>Assign</a:t>
            </a:r>
          </a:p>
        </p:txBody>
      </p:sp>
      <p:sp>
        <p:nvSpPr>
          <p:cNvPr id="62" name="TextBox 61"/>
          <p:cNvSpPr txBox="1"/>
          <p:nvPr/>
        </p:nvSpPr>
        <p:spPr>
          <a:xfrm>
            <a:off x="7552944" y="3657600"/>
            <a:ext cx="3639311" cy="2468880"/>
          </a:xfrm>
          <a:prstGeom prst="rect">
            <a:avLst/>
          </a:prstGeom>
          <a:noFill/>
        </p:spPr>
        <p:txBody>
          <a:bodyPr wrap="square" lIns="0" rIns="0" tIns="0" bIns="0" anchor="t">
            <a:spAutoFit/>
          </a:bodyPr>
          <a:lstStyle/>
          <a:p>
            <a:pPr algn="l">
              <a:spcAft>
                <a:spcPts val="500"/>
              </a:spcAft>
            </a:pPr>
            <a:r>
              <a:rPr sz="1250" b="1">
                <a:solidFill>
                  <a:srgbClr val="172231"/>
                </a:solidFill>
                <a:latin typeface="IBM Plex Sans" pitchFamily="34"/>
                <a:ea typeface="IBM Plex Sans" pitchFamily="34"/>
                <a:cs typeface="IBM Plex Sans" pitchFamily="34"/>
              </a:rPr>
              <a:t>Runs </a:t>
            </a:r>
            <a:r>
              <a:rPr sz="1250" b="0">
                <a:solidFill>
                  <a:srgbClr val="4A5363"/>
                </a:solidFill>
                <a:latin typeface="IBM Plex Sans" pitchFamily="34"/>
                <a:ea typeface="IBM Plex Sans" pitchFamily="34"/>
                <a:cs typeface="IBM Plex Sans" pitchFamily="34"/>
              </a:rPr>
              <a:t>only for "unassigned" and "Text geändert"</a:t>
            </a:r>
          </a:p>
          <a:p>
            <a:pPr algn="l">
              <a:spcAft>
                <a:spcPts val="500"/>
              </a:spcAft>
            </a:pPr>
            <a:r>
              <a:rPr sz="1250" b="1">
                <a:solidFill>
                  <a:srgbClr val="2F62C9"/>
                </a:solidFill>
                <a:latin typeface="JetBrains Mono" pitchFamily="49"/>
                <a:ea typeface="JetBrains Mono" pitchFamily="49"/>
                <a:cs typeface="JetBrains Mono" pitchFamily="49"/>
              </a:rPr>
              <a:t>3a  </a:t>
            </a:r>
            <a:r>
              <a:rPr sz="1250" b="1">
                <a:solidFill>
                  <a:srgbClr val="172231"/>
                </a:solidFill>
                <a:latin typeface="IBM Plex Sans" pitchFamily="34"/>
                <a:ea typeface="IBM Plex Sans" pitchFamily="34"/>
                <a:cs typeface="IBM Plex Sans" pitchFamily="34"/>
              </a:rPr>
              <a:t>Candidates: </a:t>
            </a:r>
            <a:r>
              <a:rPr sz="1250" b="0">
                <a:solidFill>
                  <a:srgbClr val="4A5363"/>
                </a:solidFill>
                <a:latin typeface="IBM Plex Sans" pitchFamily="34"/>
                <a:ea typeface="IBM Plex Sans" pitchFamily="34"/>
                <a:cs typeface="IBM Plex Sans" pitchFamily="34"/>
              </a:rPr>
              <a:t>prefilter level-y functions (search, embeddings, Polarion structure)</a:t>
            </a:r>
          </a:p>
          <a:p>
            <a:pPr algn="l">
              <a:spcAft>
                <a:spcPts val="500"/>
              </a:spcAft>
            </a:pPr>
            <a:r>
              <a:rPr sz="1250" b="1">
                <a:solidFill>
                  <a:srgbClr val="2F62C9"/>
                </a:solidFill>
                <a:latin typeface="JetBrains Mono" pitchFamily="49"/>
                <a:ea typeface="JetBrains Mono" pitchFamily="49"/>
                <a:cs typeface="JetBrains Mono" pitchFamily="49"/>
              </a:rPr>
              <a:t>3b  </a:t>
            </a:r>
            <a:r>
              <a:rPr sz="1250" b="1">
                <a:solidFill>
                  <a:srgbClr val="172231"/>
                </a:solidFill>
                <a:latin typeface="IBM Plex Sans" pitchFamily="34"/>
                <a:ea typeface="IBM Plex Sans" pitchFamily="34"/>
                <a:cs typeface="IBM Plex Sans" pitchFamily="34"/>
              </a:rPr>
              <a:t>Proposal: </a:t>
            </a:r>
            <a:r>
              <a:rPr sz="1250" b="0">
                <a:solidFill>
                  <a:srgbClr val="4A5363"/>
                </a:solidFill>
                <a:latin typeface="IBM Plex Sans" pitchFamily="34"/>
                <a:ea typeface="IBM Plex Sans" pitchFamily="34"/>
                <a:cs typeface="IBM Plex Sans" pitchFamily="34"/>
              </a:rPr>
              <a:t>existing function | new function | split | non-functional | unclear</a:t>
            </a:r>
          </a:p>
          <a:p>
            <a:pPr algn="l">
              <a:spcAft>
                <a:spcPts val="500"/>
              </a:spcAft>
            </a:pPr>
            <a:r>
              <a:rPr sz="1250" b="1">
                <a:solidFill>
                  <a:srgbClr val="2F62C9"/>
                </a:solidFill>
                <a:latin typeface="JetBrains Mono" pitchFamily="49"/>
                <a:ea typeface="JetBrains Mono" pitchFamily="49"/>
                <a:cs typeface="JetBrains Mono" pitchFamily="49"/>
              </a:rPr>
              <a:t>3c  </a:t>
            </a:r>
            <a:r>
              <a:rPr sz="1250" b="1">
                <a:solidFill>
                  <a:srgbClr val="172231"/>
                </a:solidFill>
                <a:latin typeface="IBM Plex Sans" pitchFamily="34"/>
                <a:ea typeface="IBM Plex Sans" pitchFamily="34"/>
                <a:cs typeface="IBM Plex Sans" pitchFamily="34"/>
              </a:rPr>
              <a:t>Review (optional): </a:t>
            </a:r>
            <a:r>
              <a:rPr sz="1250" b="0">
                <a:solidFill>
                  <a:srgbClr val="4A5363"/>
                </a:solidFill>
                <a:latin typeface="IBM Plex Sans" pitchFamily="34"/>
                <a:ea typeface="IBM Plex Sans" pitchFamily="34"/>
                <a:cs typeface="IBM Plex Sans" pitchFamily="34"/>
              </a:rPr>
              <a:t>a human confirms, e.g. only new functions or low-confidence proposals</a:t>
            </a:r>
          </a:p>
          <a:p>
            <a:pPr algn="l">
              <a:spcAft>
                <a:spcPts val="500"/>
              </a:spcAft>
            </a:pPr>
            <a:r>
              <a:rPr sz="1250" b="1">
                <a:solidFill>
                  <a:srgbClr val="2F62C9"/>
                </a:solidFill>
                <a:latin typeface="JetBrains Mono" pitchFamily="49"/>
                <a:ea typeface="JetBrains Mono" pitchFamily="49"/>
                <a:cs typeface="JetBrains Mono" pitchFamily="49"/>
              </a:rPr>
              <a:t>3d  </a:t>
            </a:r>
            <a:r>
              <a:rPr sz="1250" b="1">
                <a:solidFill>
                  <a:srgbClr val="172231"/>
                </a:solidFill>
                <a:latin typeface="IBM Plex Sans" pitchFamily="34"/>
                <a:ea typeface="IBM Plex Sans" pitchFamily="34"/>
                <a:cs typeface="IBM Plex Sans" pitchFamily="34"/>
              </a:rPr>
              <a:t>Write back: </a:t>
            </a:r>
            <a:r>
              <a:rPr sz="1250" b="0">
                <a:solidFill>
                  <a:srgbClr val="4A5363"/>
                </a:solidFill>
                <a:latin typeface="IBM Plex Sans" pitchFamily="34"/>
                <a:ea typeface="IBM Plex Sans" pitchFamily="34"/>
                <a:cs typeface="IBM Plex Sans" pitchFamily="34"/>
              </a:rPr>
              <a:t>refines link (and new function, if any) in Polarion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4EF"/>
        </a:solidFill>
      </p:bgPr>
    </p:bg>
    <p:spTree>
      <p:nvGrpSpPr>
        <p:cNvPr id="1" name=""/>
        <p:cNvGrpSpPr/>
        <p:nvPr/>
      </p:nvGrpSpPr>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231"/>
                </a:solidFill>
                <a:latin typeface="IBM Plex Sans" pitchFamily="34" charset="0"/>
                <a:ea typeface="IBM Plex Sans" pitchFamily="34" charset="-122"/>
                <a:cs typeface="IBM Plex Sans" pitchFamily="34" charset="-120"/>
              </a:rPr>
              <a:t>Target process: sync, formalize, check, apply</a:t>
            </a:r>
            <a:endParaRPr lang="en-US" sz="3200" dirty="0"/>
          </a:p>
        </p:txBody>
      </p:sp>
      <p:sp>
        <p:nvSpPr>
          <p:cNvPr id="3" name="Rounded Rectangle 2"/>
          <p:cNvSpPr/>
          <p:nvPr/>
        </p:nvSpPr>
        <p:spPr>
          <a:xfrm>
            <a:off x="813816" y="1481328"/>
            <a:ext cx="1078992" cy="841248"/>
          </a:xfrm>
          <a:prstGeom prst="roundRect">
            <a:avLst>
              <a:gd name="adj" fmla="val 3000"/>
            </a:avLst>
          </a:prstGeom>
          <a:solidFill>
            <a:srgbClr val="EF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23544" y="1591056"/>
            <a:ext cx="896112" cy="201168"/>
          </a:xfrm>
          <a:prstGeom prst="rect">
            <a:avLst/>
          </a:prstGeom>
          <a:noFill/>
        </p:spPr>
        <p:txBody>
          <a:bodyPr wrap="square" lIns="0" rIns="0" tIns="0" bIns="0" anchor="t">
            <a:spAutoFit/>
          </a:bodyPr>
          <a:lstStyle/>
          <a:p>
            <a:pPr algn="l">
              <a:spcAft>
                <a:spcPts val="0"/>
              </a:spcAft>
            </a:pPr>
            <a:r>
              <a:rPr sz="1100" b="0">
                <a:solidFill>
                  <a:srgbClr val="9AA1AC"/>
                </a:solidFill>
                <a:latin typeface="JetBrains Mono" pitchFamily="49"/>
                <a:ea typeface="JetBrains Mono" pitchFamily="49"/>
                <a:cs typeface="JetBrains Mono" pitchFamily="49"/>
              </a:rPr>
              <a:t>01</a:t>
            </a:r>
          </a:p>
        </p:txBody>
      </p:sp>
      <p:sp>
        <p:nvSpPr>
          <p:cNvPr id="5" name="TextBox 4"/>
          <p:cNvSpPr txBox="1"/>
          <p:nvPr/>
        </p:nvSpPr>
        <p:spPr>
          <a:xfrm>
            <a:off x="923544" y="1792224"/>
            <a:ext cx="896112" cy="256032"/>
          </a:xfrm>
          <a:prstGeom prst="rect">
            <a:avLst/>
          </a:prstGeom>
          <a:noFill/>
        </p:spPr>
        <p:txBody>
          <a:bodyPr wrap="square" lIns="0" rIns="0" tIns="0" bIns="0" anchor="t">
            <a:spAutoFit/>
          </a:bodyPr>
          <a:lstStyle/>
          <a:p>
            <a:pPr algn="l">
              <a:spcAft>
                <a:spcPts val="0"/>
              </a:spcAft>
            </a:pPr>
            <a:r>
              <a:rPr sz="1400" b="1">
                <a:solidFill>
                  <a:srgbClr val="9AA1AC"/>
                </a:solidFill>
                <a:latin typeface="IBM Plex Sans" pitchFamily="34"/>
                <a:ea typeface="IBM Plex Sans" pitchFamily="34"/>
                <a:cs typeface="IBM Plex Sans" pitchFamily="34"/>
              </a:rPr>
              <a:t>Read</a:t>
            </a:r>
          </a:p>
        </p:txBody>
      </p:sp>
      <p:sp>
        <p:nvSpPr>
          <p:cNvPr id="6" name="TextBox 5"/>
          <p:cNvSpPr txBox="1"/>
          <p:nvPr/>
        </p:nvSpPr>
        <p:spPr>
          <a:xfrm>
            <a:off x="923544" y="2066544"/>
            <a:ext cx="896112" cy="182880"/>
          </a:xfrm>
          <a:prstGeom prst="rect">
            <a:avLst/>
          </a:prstGeom>
          <a:noFill/>
        </p:spPr>
        <p:txBody>
          <a:bodyPr wrap="square" lIns="0" rIns="0" tIns="0" bIns="0" anchor="t">
            <a:spAutoFit/>
          </a:bodyPr>
          <a:lstStyle/>
          <a:p>
            <a:pPr algn="l">
              <a:spcAft>
                <a:spcPts val="0"/>
              </a:spcAft>
            </a:pPr>
            <a:r>
              <a:rPr sz="900" b="0">
                <a:solidFill>
                  <a:srgbClr val="9AA1AC"/>
                </a:solidFill>
                <a:latin typeface="JetBrains Mono" pitchFamily="49"/>
                <a:ea typeface="JetBrains Mono" pitchFamily="49"/>
                <a:cs typeface="JetBrains Mono" pitchFamily="49"/>
              </a:rPr>
              <a:t>deterministic</a:t>
            </a:r>
          </a:p>
        </p:txBody>
      </p:sp>
      <p:sp>
        <p:nvSpPr>
          <p:cNvPr id="7" name="Rounded Rectangle 6"/>
          <p:cNvSpPr/>
          <p:nvPr/>
        </p:nvSpPr>
        <p:spPr>
          <a:xfrm>
            <a:off x="1999792" y="1481328"/>
            <a:ext cx="1078992" cy="841248"/>
          </a:xfrm>
          <a:prstGeom prst="roundRect">
            <a:avLst>
              <a:gd name="adj" fmla="val 3000"/>
            </a:avLst>
          </a:prstGeom>
          <a:solidFill>
            <a:srgbClr val="EF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109520" y="1591056"/>
            <a:ext cx="896112" cy="201168"/>
          </a:xfrm>
          <a:prstGeom prst="rect">
            <a:avLst/>
          </a:prstGeom>
          <a:noFill/>
        </p:spPr>
        <p:txBody>
          <a:bodyPr wrap="square" lIns="0" rIns="0" tIns="0" bIns="0" anchor="t">
            <a:spAutoFit/>
          </a:bodyPr>
          <a:lstStyle/>
          <a:p>
            <a:pPr algn="l">
              <a:spcAft>
                <a:spcPts val="0"/>
              </a:spcAft>
            </a:pPr>
            <a:r>
              <a:rPr sz="1100" b="0">
                <a:solidFill>
                  <a:srgbClr val="9AA1AC"/>
                </a:solidFill>
                <a:latin typeface="JetBrains Mono" pitchFamily="49"/>
                <a:ea typeface="JetBrains Mono" pitchFamily="49"/>
                <a:cs typeface="JetBrains Mono" pitchFamily="49"/>
              </a:rPr>
              <a:t>02</a:t>
            </a:r>
          </a:p>
        </p:txBody>
      </p:sp>
      <p:sp>
        <p:nvSpPr>
          <p:cNvPr id="9" name="TextBox 8"/>
          <p:cNvSpPr txBox="1"/>
          <p:nvPr/>
        </p:nvSpPr>
        <p:spPr>
          <a:xfrm>
            <a:off x="2109520" y="1792224"/>
            <a:ext cx="896112" cy="256032"/>
          </a:xfrm>
          <a:prstGeom prst="rect">
            <a:avLst/>
          </a:prstGeom>
          <a:noFill/>
        </p:spPr>
        <p:txBody>
          <a:bodyPr wrap="square" lIns="0" rIns="0" tIns="0" bIns="0" anchor="t">
            <a:spAutoFit/>
          </a:bodyPr>
          <a:lstStyle/>
          <a:p>
            <a:pPr algn="l">
              <a:spcAft>
                <a:spcPts val="0"/>
              </a:spcAft>
            </a:pPr>
            <a:r>
              <a:rPr sz="1400" b="1">
                <a:solidFill>
                  <a:srgbClr val="9AA1AC"/>
                </a:solidFill>
                <a:latin typeface="IBM Plex Sans" pitchFamily="34"/>
                <a:ea typeface="IBM Plex Sans" pitchFamily="34"/>
                <a:cs typeface="IBM Plex Sans" pitchFamily="34"/>
              </a:rPr>
              <a:t>Compare</a:t>
            </a:r>
          </a:p>
        </p:txBody>
      </p:sp>
      <p:sp>
        <p:nvSpPr>
          <p:cNvPr id="10" name="TextBox 9"/>
          <p:cNvSpPr txBox="1"/>
          <p:nvPr/>
        </p:nvSpPr>
        <p:spPr>
          <a:xfrm>
            <a:off x="2109520" y="2066544"/>
            <a:ext cx="896112" cy="182880"/>
          </a:xfrm>
          <a:prstGeom prst="rect">
            <a:avLst/>
          </a:prstGeom>
          <a:noFill/>
        </p:spPr>
        <p:txBody>
          <a:bodyPr wrap="square" lIns="0" rIns="0" tIns="0" bIns="0" anchor="t">
            <a:spAutoFit/>
          </a:bodyPr>
          <a:lstStyle/>
          <a:p>
            <a:pPr algn="l">
              <a:spcAft>
                <a:spcPts val="0"/>
              </a:spcAft>
            </a:pPr>
            <a:r>
              <a:rPr sz="900" b="0">
                <a:solidFill>
                  <a:srgbClr val="9AA1AC"/>
                </a:solidFill>
                <a:latin typeface="JetBrains Mono" pitchFamily="49"/>
                <a:ea typeface="JetBrains Mono" pitchFamily="49"/>
                <a:cs typeface="JetBrains Mono" pitchFamily="49"/>
              </a:rPr>
              <a:t>deterministic</a:t>
            </a:r>
          </a:p>
        </p:txBody>
      </p:sp>
      <p:sp>
        <p:nvSpPr>
          <p:cNvPr id="11" name="Rounded Rectangle 10"/>
          <p:cNvSpPr/>
          <p:nvPr/>
        </p:nvSpPr>
        <p:spPr>
          <a:xfrm>
            <a:off x="3185769" y="1481328"/>
            <a:ext cx="1078992" cy="841248"/>
          </a:xfrm>
          <a:prstGeom prst="roundRect">
            <a:avLst>
              <a:gd name="adj" fmla="val 3000"/>
            </a:avLst>
          </a:prstGeom>
          <a:solidFill>
            <a:srgbClr val="EF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295497" y="1591056"/>
            <a:ext cx="896112" cy="201168"/>
          </a:xfrm>
          <a:prstGeom prst="rect">
            <a:avLst/>
          </a:prstGeom>
          <a:noFill/>
        </p:spPr>
        <p:txBody>
          <a:bodyPr wrap="square" lIns="0" rIns="0" tIns="0" bIns="0" anchor="t">
            <a:spAutoFit/>
          </a:bodyPr>
          <a:lstStyle/>
          <a:p>
            <a:pPr algn="l">
              <a:spcAft>
                <a:spcPts val="0"/>
              </a:spcAft>
            </a:pPr>
            <a:r>
              <a:rPr sz="1100" b="0">
                <a:solidFill>
                  <a:srgbClr val="9AA1AC"/>
                </a:solidFill>
                <a:latin typeface="JetBrains Mono" pitchFamily="49"/>
                <a:ea typeface="JetBrains Mono" pitchFamily="49"/>
                <a:cs typeface="JetBrains Mono" pitchFamily="49"/>
              </a:rPr>
              <a:t>03</a:t>
            </a:r>
          </a:p>
        </p:txBody>
      </p:sp>
      <p:sp>
        <p:nvSpPr>
          <p:cNvPr id="13" name="TextBox 12"/>
          <p:cNvSpPr txBox="1"/>
          <p:nvPr/>
        </p:nvSpPr>
        <p:spPr>
          <a:xfrm>
            <a:off x="3295497" y="1792224"/>
            <a:ext cx="896112" cy="256032"/>
          </a:xfrm>
          <a:prstGeom prst="rect">
            <a:avLst/>
          </a:prstGeom>
          <a:noFill/>
        </p:spPr>
        <p:txBody>
          <a:bodyPr wrap="square" lIns="0" rIns="0" tIns="0" bIns="0" anchor="t">
            <a:spAutoFit/>
          </a:bodyPr>
          <a:lstStyle/>
          <a:p>
            <a:pPr algn="l">
              <a:spcAft>
                <a:spcPts val="0"/>
              </a:spcAft>
            </a:pPr>
            <a:r>
              <a:rPr sz="1400" b="1">
                <a:solidFill>
                  <a:srgbClr val="9AA1AC"/>
                </a:solidFill>
                <a:latin typeface="IBM Plex Sans" pitchFamily="34"/>
                <a:ea typeface="IBM Plex Sans" pitchFamily="34"/>
                <a:cs typeface="IBM Plex Sans" pitchFamily="34"/>
              </a:rPr>
              <a:t>Assign</a:t>
            </a:r>
          </a:p>
        </p:txBody>
      </p:sp>
      <p:sp>
        <p:nvSpPr>
          <p:cNvPr id="14" name="TextBox 13"/>
          <p:cNvSpPr txBox="1"/>
          <p:nvPr/>
        </p:nvSpPr>
        <p:spPr>
          <a:xfrm>
            <a:off x="3295497" y="2066544"/>
            <a:ext cx="896112" cy="182880"/>
          </a:xfrm>
          <a:prstGeom prst="rect">
            <a:avLst/>
          </a:prstGeom>
          <a:noFill/>
        </p:spPr>
        <p:txBody>
          <a:bodyPr wrap="square" lIns="0" rIns="0" tIns="0" bIns="0" anchor="t">
            <a:spAutoFit/>
          </a:bodyPr>
          <a:lstStyle/>
          <a:p>
            <a:pPr algn="l">
              <a:spcAft>
                <a:spcPts val="0"/>
              </a:spcAft>
            </a:pPr>
            <a:r>
              <a:rPr sz="900" b="0">
                <a:solidFill>
                  <a:srgbClr val="9AA1AC"/>
                </a:solidFill>
                <a:latin typeface="JetBrains Mono" pitchFamily="49"/>
                <a:ea typeface="JetBrains Mono" pitchFamily="49"/>
                <a:cs typeface="JetBrains Mono" pitchFamily="49"/>
              </a:rPr>
              <a:t>LLM (+human)</a:t>
            </a:r>
          </a:p>
        </p:txBody>
      </p:sp>
      <p:sp>
        <p:nvSpPr>
          <p:cNvPr id="15" name="Rounded Rectangle 14"/>
          <p:cNvSpPr/>
          <p:nvPr/>
        </p:nvSpPr>
        <p:spPr>
          <a:xfrm>
            <a:off x="4371746" y="1481328"/>
            <a:ext cx="1078992" cy="841248"/>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81474" y="1591056"/>
            <a:ext cx="896112" cy="201168"/>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04</a:t>
            </a:r>
          </a:p>
        </p:txBody>
      </p:sp>
      <p:sp>
        <p:nvSpPr>
          <p:cNvPr id="17" name="TextBox 16"/>
          <p:cNvSpPr txBox="1"/>
          <p:nvPr/>
        </p:nvSpPr>
        <p:spPr>
          <a:xfrm>
            <a:off x="4481474" y="1792224"/>
            <a:ext cx="896112" cy="256032"/>
          </a:xfrm>
          <a:prstGeom prst="rect">
            <a:avLst/>
          </a:prstGeom>
          <a:noFill/>
        </p:spPr>
        <p:txBody>
          <a:bodyPr wrap="square" lIns="0" rIns="0" tIns="0" bIns="0" anchor="t">
            <a:spAutoFit/>
          </a:bodyPr>
          <a:lstStyle/>
          <a:p>
            <a:pPr algn="l">
              <a:spcAft>
                <a:spcPts val="0"/>
              </a:spcAft>
            </a:pPr>
            <a:r>
              <a:rPr sz="1400" b="1">
                <a:solidFill>
                  <a:srgbClr val="172231"/>
                </a:solidFill>
                <a:latin typeface="IBM Plex Sans" pitchFamily="34"/>
                <a:ea typeface="IBM Plex Sans" pitchFamily="34"/>
                <a:cs typeface="IBM Plex Sans" pitchFamily="34"/>
              </a:rPr>
              <a:t>Sync</a:t>
            </a:r>
          </a:p>
        </p:txBody>
      </p:sp>
      <p:sp>
        <p:nvSpPr>
          <p:cNvPr id="18" name="TextBox 17"/>
          <p:cNvSpPr txBox="1"/>
          <p:nvPr/>
        </p:nvSpPr>
        <p:spPr>
          <a:xfrm>
            <a:off x="4481474" y="2066544"/>
            <a:ext cx="896112" cy="182880"/>
          </a:xfrm>
          <a:prstGeom prst="rect">
            <a:avLst/>
          </a:prstGeom>
          <a:noFill/>
        </p:spPr>
        <p:txBody>
          <a:bodyPr wrap="square" lIns="0" rIns="0" tIns="0" bIns="0" anchor="t">
            <a:spAutoFit/>
          </a:bodyPr>
          <a:lstStyle/>
          <a:p>
            <a:pPr algn="l">
              <a:spcAft>
                <a:spcPts val="0"/>
              </a:spcAft>
            </a:pPr>
            <a:r>
              <a:rPr sz="900" b="0">
                <a:solidFill>
                  <a:srgbClr val="2F62C9"/>
                </a:solidFill>
                <a:latin typeface="JetBrains Mono" pitchFamily="49"/>
                <a:ea typeface="JetBrains Mono" pitchFamily="49"/>
                <a:cs typeface="JetBrains Mono" pitchFamily="49"/>
              </a:rPr>
              <a:t>deterministic</a:t>
            </a:r>
          </a:p>
        </p:txBody>
      </p:sp>
      <p:sp>
        <p:nvSpPr>
          <p:cNvPr id="19" name="Rounded Rectangle 18"/>
          <p:cNvSpPr/>
          <p:nvPr/>
        </p:nvSpPr>
        <p:spPr>
          <a:xfrm>
            <a:off x="5557723" y="1481328"/>
            <a:ext cx="1078992" cy="841248"/>
          </a:xfrm>
          <a:prstGeom prst="roundRect">
            <a:avLst>
              <a:gd name="adj" fmla="val 3000"/>
            </a:avLst>
          </a:prstGeom>
          <a:solidFill>
            <a:srgbClr val="17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7451" y="1591056"/>
            <a:ext cx="896112" cy="201168"/>
          </a:xfrm>
          <a:prstGeom prst="rect">
            <a:avLst/>
          </a:prstGeom>
          <a:noFill/>
        </p:spPr>
        <p:txBody>
          <a:bodyPr wrap="square" lIns="0" rIns="0" tIns="0" bIns="0" anchor="t">
            <a:spAutoFit/>
          </a:bodyPr>
          <a:lstStyle/>
          <a:p>
            <a:pPr algn="l">
              <a:spcAft>
                <a:spcPts val="0"/>
              </a:spcAft>
            </a:pPr>
            <a:r>
              <a:rPr sz="1100" b="0">
                <a:solidFill>
                  <a:srgbClr val="BAC4D3"/>
                </a:solidFill>
                <a:latin typeface="JetBrains Mono" pitchFamily="49"/>
                <a:ea typeface="JetBrains Mono" pitchFamily="49"/>
                <a:cs typeface="JetBrains Mono" pitchFamily="49"/>
              </a:rPr>
              <a:t>05</a:t>
            </a:r>
          </a:p>
        </p:txBody>
      </p:sp>
      <p:sp>
        <p:nvSpPr>
          <p:cNvPr id="21" name="TextBox 20"/>
          <p:cNvSpPr txBox="1"/>
          <p:nvPr/>
        </p:nvSpPr>
        <p:spPr>
          <a:xfrm>
            <a:off x="5667451" y="1792224"/>
            <a:ext cx="896112" cy="256032"/>
          </a:xfrm>
          <a:prstGeom prst="rect">
            <a:avLst/>
          </a:prstGeom>
          <a:noFill/>
        </p:spPr>
        <p:txBody>
          <a:bodyPr wrap="square" lIns="0" rIns="0" tIns="0" bIns="0" anchor="t">
            <a:spAutoFit/>
          </a:bodyPr>
          <a:lstStyle/>
          <a:p>
            <a:pPr algn="l">
              <a:spcAft>
                <a:spcPts val="0"/>
              </a:spcAft>
            </a:pPr>
            <a:r>
              <a:rPr sz="1400" b="1">
                <a:solidFill>
                  <a:srgbClr val="F5F4EF"/>
                </a:solidFill>
                <a:latin typeface="IBM Plex Sans" pitchFamily="34"/>
                <a:ea typeface="IBM Plex Sans" pitchFamily="34"/>
                <a:cs typeface="IBM Plex Sans" pitchFamily="34"/>
              </a:rPr>
              <a:t>Formalize</a:t>
            </a:r>
          </a:p>
        </p:txBody>
      </p:sp>
      <p:sp>
        <p:nvSpPr>
          <p:cNvPr id="22" name="TextBox 21"/>
          <p:cNvSpPr txBox="1"/>
          <p:nvPr/>
        </p:nvSpPr>
        <p:spPr>
          <a:xfrm>
            <a:off x="5667451" y="2066544"/>
            <a:ext cx="896112" cy="182880"/>
          </a:xfrm>
          <a:prstGeom prst="rect">
            <a:avLst/>
          </a:prstGeom>
          <a:noFill/>
        </p:spPr>
        <p:txBody>
          <a:bodyPr wrap="square" lIns="0" rIns="0" tIns="0" bIns="0" anchor="t">
            <a:spAutoFit/>
          </a:bodyPr>
          <a:lstStyle/>
          <a:p>
            <a:pPr algn="l">
              <a:spcAft>
                <a:spcPts val="0"/>
              </a:spcAft>
            </a:pPr>
            <a:r>
              <a:rPr sz="900" b="0">
                <a:solidFill>
                  <a:srgbClr val="BAC4D3"/>
                </a:solidFill>
                <a:latin typeface="JetBrains Mono" pitchFamily="49"/>
                <a:ea typeface="JetBrains Mono" pitchFamily="49"/>
                <a:cs typeface="JetBrains Mono" pitchFamily="49"/>
              </a:rPr>
              <a:t>LLM</a:t>
            </a:r>
          </a:p>
        </p:txBody>
      </p:sp>
      <p:sp>
        <p:nvSpPr>
          <p:cNvPr id="23" name="Rounded Rectangle 22"/>
          <p:cNvSpPr/>
          <p:nvPr/>
        </p:nvSpPr>
        <p:spPr>
          <a:xfrm>
            <a:off x="6743699" y="1481328"/>
            <a:ext cx="1078992" cy="841248"/>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3427" y="1591056"/>
            <a:ext cx="896112" cy="201168"/>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06</a:t>
            </a:r>
          </a:p>
        </p:txBody>
      </p:sp>
      <p:sp>
        <p:nvSpPr>
          <p:cNvPr id="25" name="TextBox 24"/>
          <p:cNvSpPr txBox="1"/>
          <p:nvPr/>
        </p:nvSpPr>
        <p:spPr>
          <a:xfrm>
            <a:off x="6853427" y="1792224"/>
            <a:ext cx="896112" cy="256032"/>
          </a:xfrm>
          <a:prstGeom prst="rect">
            <a:avLst/>
          </a:prstGeom>
          <a:noFill/>
        </p:spPr>
        <p:txBody>
          <a:bodyPr wrap="square" lIns="0" rIns="0" tIns="0" bIns="0" anchor="t">
            <a:spAutoFit/>
          </a:bodyPr>
          <a:lstStyle/>
          <a:p>
            <a:pPr algn="l">
              <a:spcAft>
                <a:spcPts val="0"/>
              </a:spcAft>
            </a:pPr>
            <a:r>
              <a:rPr sz="1400" b="1">
                <a:solidFill>
                  <a:srgbClr val="172231"/>
                </a:solidFill>
                <a:latin typeface="IBM Plex Sans" pitchFamily="34"/>
                <a:ea typeface="IBM Plex Sans" pitchFamily="34"/>
                <a:cs typeface="IBM Plex Sans" pitchFamily="34"/>
              </a:rPr>
              <a:t>Validate</a:t>
            </a:r>
          </a:p>
        </p:txBody>
      </p:sp>
      <p:sp>
        <p:nvSpPr>
          <p:cNvPr id="26" name="TextBox 25"/>
          <p:cNvSpPr txBox="1"/>
          <p:nvPr/>
        </p:nvSpPr>
        <p:spPr>
          <a:xfrm>
            <a:off x="6853427" y="2066544"/>
            <a:ext cx="896112" cy="182880"/>
          </a:xfrm>
          <a:prstGeom prst="rect">
            <a:avLst/>
          </a:prstGeom>
          <a:noFill/>
        </p:spPr>
        <p:txBody>
          <a:bodyPr wrap="square" lIns="0" rIns="0" tIns="0" bIns="0" anchor="t">
            <a:spAutoFit/>
          </a:bodyPr>
          <a:lstStyle/>
          <a:p>
            <a:pPr algn="l">
              <a:spcAft>
                <a:spcPts val="0"/>
              </a:spcAft>
            </a:pPr>
            <a:r>
              <a:rPr sz="900" b="0">
                <a:solidFill>
                  <a:srgbClr val="2F62C9"/>
                </a:solidFill>
                <a:latin typeface="JetBrains Mono" pitchFamily="49"/>
                <a:ea typeface="JetBrains Mono" pitchFamily="49"/>
                <a:cs typeface="JetBrains Mono" pitchFamily="49"/>
              </a:rPr>
              <a:t>deterministic</a:t>
            </a:r>
          </a:p>
        </p:txBody>
      </p:sp>
      <p:sp>
        <p:nvSpPr>
          <p:cNvPr id="27" name="Rounded Rectangle 26"/>
          <p:cNvSpPr/>
          <p:nvPr/>
        </p:nvSpPr>
        <p:spPr>
          <a:xfrm>
            <a:off x="7929676" y="1481328"/>
            <a:ext cx="1078992" cy="841248"/>
          </a:xfrm>
          <a:prstGeom prst="roundRect">
            <a:avLst>
              <a:gd name="adj" fmla="val 3000"/>
            </a:avLst>
          </a:prstGeom>
          <a:solidFill>
            <a:srgbClr val="E6ECF8"/>
          </a:solidFill>
          <a:ln w="12700">
            <a:solidFill>
              <a:srgbClr val="2F62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039404" y="1591056"/>
            <a:ext cx="896112" cy="201168"/>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07</a:t>
            </a:r>
          </a:p>
        </p:txBody>
      </p:sp>
      <p:sp>
        <p:nvSpPr>
          <p:cNvPr id="29" name="TextBox 28"/>
          <p:cNvSpPr txBox="1"/>
          <p:nvPr/>
        </p:nvSpPr>
        <p:spPr>
          <a:xfrm>
            <a:off x="8039404" y="1792224"/>
            <a:ext cx="896112" cy="256032"/>
          </a:xfrm>
          <a:prstGeom prst="rect">
            <a:avLst/>
          </a:prstGeom>
          <a:noFill/>
        </p:spPr>
        <p:txBody>
          <a:bodyPr wrap="square" lIns="0" rIns="0" tIns="0" bIns="0" anchor="t">
            <a:spAutoFit/>
          </a:bodyPr>
          <a:lstStyle/>
          <a:p>
            <a:pPr algn="l">
              <a:spcAft>
                <a:spcPts val="0"/>
              </a:spcAft>
            </a:pPr>
            <a:r>
              <a:rPr sz="1400" b="1">
                <a:solidFill>
                  <a:srgbClr val="172231"/>
                </a:solidFill>
                <a:latin typeface="IBM Plex Sans" pitchFamily="34"/>
                <a:ea typeface="IBM Plex Sans" pitchFamily="34"/>
                <a:cs typeface="IBM Plex Sans" pitchFamily="34"/>
              </a:rPr>
              <a:t>Review</a:t>
            </a:r>
          </a:p>
        </p:txBody>
      </p:sp>
      <p:sp>
        <p:nvSpPr>
          <p:cNvPr id="30" name="TextBox 29"/>
          <p:cNvSpPr txBox="1"/>
          <p:nvPr/>
        </p:nvSpPr>
        <p:spPr>
          <a:xfrm>
            <a:off x="8039404" y="2066544"/>
            <a:ext cx="896112" cy="182880"/>
          </a:xfrm>
          <a:prstGeom prst="rect">
            <a:avLst/>
          </a:prstGeom>
          <a:noFill/>
        </p:spPr>
        <p:txBody>
          <a:bodyPr wrap="square" lIns="0" rIns="0" tIns="0" bIns="0" anchor="t">
            <a:spAutoFit/>
          </a:bodyPr>
          <a:lstStyle/>
          <a:p>
            <a:pPr algn="l">
              <a:spcAft>
                <a:spcPts val="0"/>
              </a:spcAft>
            </a:pPr>
            <a:r>
              <a:rPr sz="900" b="0">
                <a:solidFill>
                  <a:srgbClr val="2F62C9"/>
                </a:solidFill>
                <a:latin typeface="JetBrains Mono" pitchFamily="49"/>
                <a:ea typeface="JetBrains Mono" pitchFamily="49"/>
                <a:cs typeface="JetBrains Mono" pitchFamily="49"/>
              </a:rPr>
              <a:t>human</a:t>
            </a:r>
          </a:p>
        </p:txBody>
      </p:sp>
      <p:sp>
        <p:nvSpPr>
          <p:cNvPr id="31" name="Rounded Rectangle 30"/>
          <p:cNvSpPr/>
          <p:nvPr/>
        </p:nvSpPr>
        <p:spPr>
          <a:xfrm>
            <a:off x="9115653" y="1481328"/>
            <a:ext cx="1078992" cy="841248"/>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225381" y="1591056"/>
            <a:ext cx="896112" cy="201168"/>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08</a:t>
            </a:r>
          </a:p>
        </p:txBody>
      </p:sp>
      <p:sp>
        <p:nvSpPr>
          <p:cNvPr id="33" name="TextBox 32"/>
          <p:cNvSpPr txBox="1"/>
          <p:nvPr/>
        </p:nvSpPr>
        <p:spPr>
          <a:xfrm>
            <a:off x="9225381" y="1792224"/>
            <a:ext cx="896112" cy="256032"/>
          </a:xfrm>
          <a:prstGeom prst="rect">
            <a:avLst/>
          </a:prstGeom>
          <a:noFill/>
        </p:spPr>
        <p:txBody>
          <a:bodyPr wrap="square" lIns="0" rIns="0" tIns="0" bIns="0" anchor="t">
            <a:spAutoFit/>
          </a:bodyPr>
          <a:lstStyle/>
          <a:p>
            <a:pPr algn="l">
              <a:spcAft>
                <a:spcPts val="0"/>
              </a:spcAft>
            </a:pPr>
            <a:r>
              <a:rPr sz="1400" b="1">
                <a:solidFill>
                  <a:srgbClr val="172231"/>
                </a:solidFill>
                <a:latin typeface="IBM Plex Sans" pitchFamily="34"/>
                <a:ea typeface="IBM Plex Sans" pitchFamily="34"/>
                <a:cs typeface="IBM Plex Sans" pitchFamily="34"/>
              </a:rPr>
              <a:t>Apply</a:t>
            </a:r>
          </a:p>
        </p:txBody>
      </p:sp>
      <p:sp>
        <p:nvSpPr>
          <p:cNvPr id="34" name="TextBox 33"/>
          <p:cNvSpPr txBox="1"/>
          <p:nvPr/>
        </p:nvSpPr>
        <p:spPr>
          <a:xfrm>
            <a:off x="9225381" y="2066544"/>
            <a:ext cx="896112" cy="182880"/>
          </a:xfrm>
          <a:prstGeom prst="rect">
            <a:avLst/>
          </a:prstGeom>
          <a:noFill/>
        </p:spPr>
        <p:txBody>
          <a:bodyPr wrap="square" lIns="0" rIns="0" tIns="0" bIns="0" anchor="t">
            <a:spAutoFit/>
          </a:bodyPr>
          <a:lstStyle/>
          <a:p>
            <a:pPr algn="l">
              <a:spcAft>
                <a:spcPts val="0"/>
              </a:spcAft>
            </a:pPr>
            <a:r>
              <a:rPr sz="900" b="0">
                <a:solidFill>
                  <a:srgbClr val="2F62C9"/>
                </a:solidFill>
                <a:latin typeface="JetBrains Mono" pitchFamily="49"/>
                <a:ea typeface="JetBrains Mono" pitchFamily="49"/>
                <a:cs typeface="JetBrains Mono" pitchFamily="49"/>
              </a:rPr>
              <a:t>deterministic</a:t>
            </a:r>
          </a:p>
        </p:txBody>
      </p:sp>
      <p:sp>
        <p:nvSpPr>
          <p:cNvPr id="35" name="Rounded Rectangle 34"/>
          <p:cNvSpPr/>
          <p:nvPr/>
        </p:nvSpPr>
        <p:spPr>
          <a:xfrm>
            <a:off x="10301630" y="1481328"/>
            <a:ext cx="1078992" cy="841248"/>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411358" y="1591056"/>
            <a:ext cx="896112" cy="201168"/>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09</a:t>
            </a:r>
          </a:p>
        </p:txBody>
      </p:sp>
      <p:sp>
        <p:nvSpPr>
          <p:cNvPr id="37" name="TextBox 36"/>
          <p:cNvSpPr txBox="1"/>
          <p:nvPr/>
        </p:nvSpPr>
        <p:spPr>
          <a:xfrm>
            <a:off x="10411358" y="1792224"/>
            <a:ext cx="896112" cy="256032"/>
          </a:xfrm>
          <a:prstGeom prst="rect">
            <a:avLst/>
          </a:prstGeom>
          <a:noFill/>
        </p:spPr>
        <p:txBody>
          <a:bodyPr wrap="square" lIns="0" rIns="0" tIns="0" bIns="0" anchor="t">
            <a:spAutoFit/>
          </a:bodyPr>
          <a:lstStyle/>
          <a:p>
            <a:pPr algn="l">
              <a:spcAft>
                <a:spcPts val="0"/>
              </a:spcAft>
            </a:pPr>
            <a:r>
              <a:rPr sz="1400" b="1">
                <a:solidFill>
                  <a:srgbClr val="172231"/>
                </a:solidFill>
                <a:latin typeface="IBM Plex Sans" pitchFamily="34"/>
                <a:ea typeface="IBM Plex Sans" pitchFamily="34"/>
                <a:cs typeface="IBM Plex Sans" pitchFamily="34"/>
              </a:rPr>
              <a:t>Impact</a:t>
            </a:r>
          </a:p>
        </p:txBody>
      </p:sp>
      <p:sp>
        <p:nvSpPr>
          <p:cNvPr id="38" name="TextBox 37"/>
          <p:cNvSpPr txBox="1"/>
          <p:nvPr/>
        </p:nvSpPr>
        <p:spPr>
          <a:xfrm>
            <a:off x="10411358" y="2066544"/>
            <a:ext cx="896112" cy="182880"/>
          </a:xfrm>
          <a:prstGeom prst="rect">
            <a:avLst/>
          </a:prstGeom>
          <a:noFill/>
        </p:spPr>
        <p:txBody>
          <a:bodyPr wrap="square" lIns="0" rIns="0" tIns="0" bIns="0" anchor="t">
            <a:spAutoFit/>
          </a:bodyPr>
          <a:lstStyle/>
          <a:p>
            <a:pPr algn="l">
              <a:spcAft>
                <a:spcPts val="0"/>
              </a:spcAft>
            </a:pPr>
            <a:r>
              <a:rPr sz="900" b="0">
                <a:solidFill>
                  <a:srgbClr val="2F62C9"/>
                </a:solidFill>
                <a:latin typeface="JetBrains Mono" pitchFamily="49"/>
                <a:ea typeface="JetBrains Mono" pitchFamily="49"/>
                <a:cs typeface="JetBrains Mono" pitchFamily="49"/>
              </a:rPr>
              <a:t>deterministic</a:t>
            </a:r>
          </a:p>
        </p:txBody>
      </p:sp>
      <p:sp>
        <p:nvSpPr>
          <p:cNvPr id="39" name="TextBox 38"/>
          <p:cNvSpPr txBox="1"/>
          <p:nvPr/>
        </p:nvSpPr>
        <p:spPr>
          <a:xfrm>
            <a:off x="813816" y="2432304"/>
            <a:ext cx="10570464" cy="201168"/>
          </a:xfrm>
          <a:prstGeom prst="rect">
            <a:avLst/>
          </a:prstGeom>
          <a:noFill/>
        </p:spPr>
        <p:txBody>
          <a:bodyPr wrap="square" lIns="0" rIns="0" tIns="0" bIns="0" anchor="t">
            <a:spAutoFit/>
          </a:bodyPr>
          <a:lstStyle/>
          <a:p>
            <a:pPr algn="l">
              <a:spcAft>
                <a:spcPts val="0"/>
              </a:spcAft>
            </a:pPr>
            <a:r>
              <a:rPr sz="1100" b="0">
                <a:solidFill>
                  <a:srgbClr val="4A5363"/>
                </a:solidFill>
                <a:latin typeface="IBM Plex Sans" pitchFamily="34"/>
                <a:ea typeface="IBM Plex Sans" pitchFamily="34"/>
                <a:cs typeface="IBM Plex Sans" pitchFamily="34"/>
              </a:rPr>
              <a:t>One level Ly, one run per batch of requirement changes.  </a:t>
            </a:r>
            <a:r>
              <a:rPr sz="1100" b="0">
                <a:solidFill>
                  <a:srgbClr val="5F6673"/>
                </a:solidFill>
                <a:latin typeface="JetBrains Mono" pitchFamily="49"/>
                <a:ea typeface="JetBrains Mono" pitchFamily="49"/>
                <a:cs typeface="JetBrains Mono" pitchFamily="49"/>
              </a:rPr>
              <a:t>Light = deterministic · dark = LLM · blue = human · step 3 review optional</a:t>
            </a:r>
          </a:p>
        </p:txBody>
      </p:sp>
      <p:sp>
        <p:nvSpPr>
          <p:cNvPr id="40" name="Rounded Rectangle 39"/>
          <p:cNvSpPr/>
          <p:nvPr/>
        </p:nvSpPr>
        <p:spPr>
          <a:xfrm>
            <a:off x="813816" y="2788920"/>
            <a:ext cx="3374136" cy="1627632"/>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33271" y="2990088"/>
            <a:ext cx="2962656" cy="237744"/>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04  DETERMINISTIC</a:t>
            </a:r>
          </a:p>
        </p:txBody>
      </p:sp>
      <p:sp>
        <p:nvSpPr>
          <p:cNvPr id="42" name="TextBox 41"/>
          <p:cNvSpPr txBox="1"/>
          <p:nvPr/>
        </p:nvSpPr>
        <p:spPr>
          <a:xfrm>
            <a:off x="1033271" y="3264408"/>
            <a:ext cx="2962656" cy="310896"/>
          </a:xfrm>
          <a:prstGeom prst="rect">
            <a:avLst/>
          </a:prstGeom>
          <a:noFill/>
        </p:spPr>
        <p:txBody>
          <a:bodyPr wrap="square" lIns="0" rIns="0" tIns="0" bIns="0" anchor="t">
            <a:spAutoFit/>
          </a:bodyPr>
          <a:lstStyle/>
          <a:p>
            <a:pPr algn="l">
              <a:spcAft>
                <a:spcPts val="0"/>
              </a:spcAft>
            </a:pPr>
            <a:r>
              <a:rPr sz="1700" b="1">
                <a:solidFill>
                  <a:srgbClr val="172231"/>
                </a:solidFill>
                <a:latin typeface="IBM Plex Sans" pitchFamily="34"/>
                <a:ea typeface="IBM Plex Sans" pitchFamily="34"/>
                <a:cs typeface="IBM Plex Sans" pitchFamily="34"/>
              </a:rPr>
              <a:t>Sync</a:t>
            </a:r>
          </a:p>
        </p:txBody>
      </p:sp>
      <p:sp>
        <p:nvSpPr>
          <p:cNvPr id="43" name="TextBox 42"/>
          <p:cNvSpPr txBox="1"/>
          <p:nvPr/>
        </p:nvSpPr>
        <p:spPr>
          <a:xfrm>
            <a:off x="1033271" y="3657600"/>
            <a:ext cx="2962656" cy="667512"/>
          </a:xfrm>
          <a:prstGeom prst="rect">
            <a:avLst/>
          </a:prstGeom>
          <a:noFill/>
        </p:spPr>
        <p:txBody>
          <a:bodyPr wrap="square" lIns="0" rIns="0" tIns="0" bIns="0" anchor="t">
            <a:spAutoFit/>
          </a:bodyPr>
          <a:lstStyle/>
          <a:p>
            <a:pPr algn="l">
              <a:spcAft>
                <a:spcPts val="500"/>
              </a:spcAft>
            </a:pPr>
            <a:r>
              <a:rPr sz="1250" b="0">
                <a:solidFill>
                  <a:srgbClr val="4A5363"/>
                </a:solidFill>
                <a:latin typeface="IBM Plex Sans" pitchFamily="34"/>
                <a:ea typeface="IBM Plex Sans" pitchFamily="34"/>
                <a:cs typeface="IBM Plex Sans" pitchFamily="34"/>
              </a:rPr>
              <a:t>Create, update or remove requirement usages: doc, metadata, subject, refinement.</a:t>
            </a:r>
          </a:p>
        </p:txBody>
      </p:sp>
      <p:sp>
        <p:nvSpPr>
          <p:cNvPr id="44" name="Rounded Rectangle 43"/>
          <p:cNvSpPr/>
          <p:nvPr/>
        </p:nvSpPr>
        <p:spPr>
          <a:xfrm>
            <a:off x="4411980" y="2788920"/>
            <a:ext cx="3374136" cy="1627632"/>
          </a:xfrm>
          <a:prstGeom prst="roundRect">
            <a:avLst>
              <a:gd name="adj" fmla="val 3000"/>
            </a:avLst>
          </a:prstGeom>
          <a:solidFill>
            <a:srgbClr val="17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631436" y="2990088"/>
            <a:ext cx="2962656" cy="237744"/>
          </a:xfrm>
          <a:prstGeom prst="rect">
            <a:avLst/>
          </a:prstGeom>
          <a:noFill/>
        </p:spPr>
        <p:txBody>
          <a:bodyPr wrap="square" lIns="0" rIns="0" tIns="0" bIns="0" anchor="t">
            <a:spAutoFit/>
          </a:bodyPr>
          <a:lstStyle/>
          <a:p>
            <a:pPr algn="l">
              <a:spcAft>
                <a:spcPts val="0"/>
              </a:spcAft>
            </a:pPr>
            <a:r>
              <a:rPr sz="1100" b="0">
                <a:solidFill>
                  <a:srgbClr val="BAC4D3"/>
                </a:solidFill>
                <a:latin typeface="JetBrains Mono" pitchFamily="49"/>
                <a:ea typeface="JetBrains Mono" pitchFamily="49"/>
                <a:cs typeface="JetBrains Mono" pitchFamily="49"/>
              </a:rPr>
              <a:t>05  LLM</a:t>
            </a:r>
          </a:p>
        </p:txBody>
      </p:sp>
      <p:sp>
        <p:nvSpPr>
          <p:cNvPr id="46" name="TextBox 45"/>
          <p:cNvSpPr txBox="1"/>
          <p:nvPr/>
        </p:nvSpPr>
        <p:spPr>
          <a:xfrm>
            <a:off x="4631436" y="3264408"/>
            <a:ext cx="2962656" cy="310896"/>
          </a:xfrm>
          <a:prstGeom prst="rect">
            <a:avLst/>
          </a:prstGeom>
          <a:noFill/>
        </p:spPr>
        <p:txBody>
          <a:bodyPr wrap="square" lIns="0" rIns="0" tIns="0" bIns="0" anchor="t">
            <a:spAutoFit/>
          </a:bodyPr>
          <a:lstStyle/>
          <a:p>
            <a:pPr algn="l">
              <a:spcAft>
                <a:spcPts val="0"/>
              </a:spcAft>
            </a:pPr>
            <a:r>
              <a:rPr sz="1700" b="1">
                <a:solidFill>
                  <a:srgbClr val="F5F4EF"/>
                </a:solidFill>
                <a:latin typeface="IBM Plex Sans" pitchFamily="34"/>
                <a:ea typeface="IBM Plex Sans" pitchFamily="34"/>
                <a:cs typeface="IBM Plex Sans" pitchFamily="34"/>
              </a:rPr>
              <a:t>Formalize</a:t>
            </a:r>
          </a:p>
        </p:txBody>
      </p:sp>
      <p:sp>
        <p:nvSpPr>
          <p:cNvPr id="47" name="TextBox 46"/>
          <p:cNvSpPr txBox="1"/>
          <p:nvPr/>
        </p:nvSpPr>
        <p:spPr>
          <a:xfrm>
            <a:off x="4631436" y="3657600"/>
            <a:ext cx="2962656" cy="713232"/>
          </a:xfrm>
          <a:prstGeom prst="rect">
            <a:avLst/>
          </a:prstGeom>
          <a:noFill/>
        </p:spPr>
        <p:txBody>
          <a:bodyPr wrap="square" lIns="0" rIns="0" tIns="0" bIns="0" anchor="t">
            <a:spAutoFit/>
          </a:bodyPr>
          <a:lstStyle/>
          <a:p>
            <a:pPr algn="l">
              <a:spcAft>
                <a:spcPts val="0"/>
              </a:spcAft>
            </a:pPr>
            <a:r>
              <a:rPr sz="1250" b="0">
                <a:solidFill>
                  <a:srgbClr val="D5DBE5"/>
                </a:solidFill>
                <a:latin typeface="IBM Plex Sans" pitchFamily="34"/>
                <a:ea typeface="IBM Plex Sans" pitchFamily="34"/>
                <a:cs typeface="IBM Plex Sans" pitchFamily="34"/>
              </a:rPr>
              <a:t>Only for "neu" and "Text geändert", bundled per function F_Ly.</a:t>
            </a:r>
          </a:p>
        </p:txBody>
      </p:sp>
      <p:sp>
        <p:nvSpPr>
          <p:cNvPr id="48" name="Rounded Rectangle 47"/>
          <p:cNvSpPr/>
          <p:nvPr/>
        </p:nvSpPr>
        <p:spPr>
          <a:xfrm>
            <a:off x="8010144" y="2788920"/>
            <a:ext cx="3374136" cy="1627632"/>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229600" y="2990088"/>
            <a:ext cx="2962656" cy="237744"/>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06  DETERMINISTIC</a:t>
            </a:r>
          </a:p>
        </p:txBody>
      </p:sp>
      <p:sp>
        <p:nvSpPr>
          <p:cNvPr id="50" name="TextBox 49"/>
          <p:cNvSpPr txBox="1"/>
          <p:nvPr/>
        </p:nvSpPr>
        <p:spPr>
          <a:xfrm>
            <a:off x="8229600" y="3264408"/>
            <a:ext cx="2962656" cy="310896"/>
          </a:xfrm>
          <a:prstGeom prst="rect">
            <a:avLst/>
          </a:prstGeom>
          <a:noFill/>
        </p:spPr>
        <p:txBody>
          <a:bodyPr wrap="square" lIns="0" rIns="0" tIns="0" bIns="0" anchor="t">
            <a:spAutoFit/>
          </a:bodyPr>
          <a:lstStyle/>
          <a:p>
            <a:pPr algn="l">
              <a:spcAft>
                <a:spcPts val="0"/>
              </a:spcAft>
            </a:pPr>
            <a:r>
              <a:rPr sz="1700" b="1">
                <a:solidFill>
                  <a:srgbClr val="172231"/>
                </a:solidFill>
                <a:latin typeface="IBM Plex Sans" pitchFamily="34"/>
                <a:ea typeface="IBM Plex Sans" pitchFamily="34"/>
                <a:cs typeface="IBM Plex Sans" pitchFamily="34"/>
              </a:rPr>
              <a:t>Validate</a:t>
            </a:r>
          </a:p>
        </p:txBody>
      </p:sp>
      <p:sp>
        <p:nvSpPr>
          <p:cNvPr id="51" name="TextBox 50"/>
          <p:cNvSpPr txBox="1"/>
          <p:nvPr/>
        </p:nvSpPr>
        <p:spPr>
          <a:xfrm>
            <a:off x="8229600" y="3657600"/>
            <a:ext cx="2962656" cy="667512"/>
          </a:xfrm>
          <a:prstGeom prst="rect">
            <a:avLst/>
          </a:prstGeom>
          <a:noFill/>
        </p:spPr>
        <p:txBody>
          <a:bodyPr wrap="square" lIns="0" rIns="0" tIns="0" bIns="0" anchor="t">
            <a:spAutoFit/>
          </a:bodyPr>
          <a:lstStyle/>
          <a:p>
            <a:pPr algn="l">
              <a:spcAft>
                <a:spcPts val="500"/>
              </a:spcAft>
            </a:pPr>
            <a:r>
              <a:rPr sz="1250" b="0">
                <a:solidFill>
                  <a:srgbClr val="4A5363"/>
                </a:solidFill>
                <a:latin typeface="IBM Plex Sans" pitchFamily="34"/>
                <a:ea typeface="IBM Plex Sans" pitchFamily="34"/>
                <a:cs typeface="IBM Plex Sans" pitchFamily="34"/>
              </a:rPr>
              <a:t>Parser, grounding, scope, refines consistency. Findings → step 5.</a:t>
            </a:r>
          </a:p>
        </p:txBody>
      </p:sp>
      <p:sp>
        <p:nvSpPr>
          <p:cNvPr id="52" name="Rounded Rectangle 51"/>
          <p:cNvSpPr/>
          <p:nvPr/>
        </p:nvSpPr>
        <p:spPr>
          <a:xfrm>
            <a:off x="813816" y="4599431"/>
            <a:ext cx="3374136" cy="1627632"/>
          </a:xfrm>
          <a:prstGeom prst="roundRect">
            <a:avLst>
              <a:gd name="adj" fmla="val 3000"/>
            </a:avLst>
          </a:prstGeom>
          <a:solidFill>
            <a:srgbClr val="E6ECF8"/>
          </a:solidFill>
          <a:ln w="12700">
            <a:solidFill>
              <a:srgbClr val="2F62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033271" y="4800599"/>
            <a:ext cx="2962656" cy="237744"/>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07  HUMAN</a:t>
            </a:r>
          </a:p>
        </p:txBody>
      </p:sp>
      <p:sp>
        <p:nvSpPr>
          <p:cNvPr id="54" name="TextBox 53"/>
          <p:cNvSpPr txBox="1"/>
          <p:nvPr/>
        </p:nvSpPr>
        <p:spPr>
          <a:xfrm>
            <a:off x="1033271" y="5074919"/>
            <a:ext cx="2962656" cy="310896"/>
          </a:xfrm>
          <a:prstGeom prst="rect">
            <a:avLst/>
          </a:prstGeom>
          <a:noFill/>
        </p:spPr>
        <p:txBody>
          <a:bodyPr wrap="square" lIns="0" rIns="0" tIns="0" bIns="0" anchor="t">
            <a:spAutoFit/>
          </a:bodyPr>
          <a:lstStyle/>
          <a:p>
            <a:pPr algn="l">
              <a:spcAft>
                <a:spcPts val="0"/>
              </a:spcAft>
            </a:pPr>
            <a:r>
              <a:rPr sz="1700" b="1">
                <a:solidFill>
                  <a:srgbClr val="172231"/>
                </a:solidFill>
                <a:latin typeface="IBM Plex Sans" pitchFamily="34"/>
                <a:ea typeface="IBM Plex Sans" pitchFamily="34"/>
                <a:cs typeface="IBM Plex Sans" pitchFamily="34"/>
              </a:rPr>
              <a:t>Review</a:t>
            </a:r>
          </a:p>
        </p:txBody>
      </p:sp>
      <p:sp>
        <p:nvSpPr>
          <p:cNvPr id="55" name="TextBox 54"/>
          <p:cNvSpPr txBox="1"/>
          <p:nvPr/>
        </p:nvSpPr>
        <p:spPr>
          <a:xfrm>
            <a:off x="1033271" y="5468112"/>
            <a:ext cx="2962656" cy="667512"/>
          </a:xfrm>
          <a:prstGeom prst="rect">
            <a:avLst/>
          </a:prstGeom>
          <a:noFill/>
        </p:spPr>
        <p:txBody>
          <a:bodyPr wrap="square" lIns="0" rIns="0" tIns="0" bIns="0" anchor="t">
            <a:spAutoFit/>
          </a:bodyPr>
          <a:lstStyle/>
          <a:p>
            <a:pPr algn="l">
              <a:spcAft>
                <a:spcPts val="500"/>
              </a:spcAft>
            </a:pPr>
            <a:r>
              <a:rPr sz="1250" b="0">
                <a:solidFill>
                  <a:srgbClr val="4A5363"/>
                </a:solidFill>
                <a:latin typeface="IBM Plex Sans" pitchFamily="34"/>
                <a:ea typeface="IBM Plex Sans" pitchFamily="34"/>
                <a:cs typeface="IBM Plex Sans" pitchFamily="34"/>
              </a:rPr>
              <a:t>Diff per function, requirement by requirement.</a:t>
            </a:r>
          </a:p>
        </p:txBody>
      </p:sp>
      <p:sp>
        <p:nvSpPr>
          <p:cNvPr id="56" name="Rounded Rectangle 55"/>
          <p:cNvSpPr/>
          <p:nvPr/>
        </p:nvSpPr>
        <p:spPr>
          <a:xfrm>
            <a:off x="4411980" y="4599431"/>
            <a:ext cx="3374136" cy="1627632"/>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4631436" y="4800599"/>
            <a:ext cx="2962656" cy="237744"/>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08  DETERMINISTIC</a:t>
            </a:r>
          </a:p>
        </p:txBody>
      </p:sp>
      <p:sp>
        <p:nvSpPr>
          <p:cNvPr id="58" name="TextBox 57"/>
          <p:cNvSpPr txBox="1"/>
          <p:nvPr/>
        </p:nvSpPr>
        <p:spPr>
          <a:xfrm>
            <a:off x="4631436" y="5074919"/>
            <a:ext cx="2962656" cy="310896"/>
          </a:xfrm>
          <a:prstGeom prst="rect">
            <a:avLst/>
          </a:prstGeom>
          <a:noFill/>
        </p:spPr>
        <p:txBody>
          <a:bodyPr wrap="square" lIns="0" rIns="0" tIns="0" bIns="0" anchor="t">
            <a:spAutoFit/>
          </a:bodyPr>
          <a:lstStyle/>
          <a:p>
            <a:pPr algn="l">
              <a:spcAft>
                <a:spcPts val="0"/>
              </a:spcAft>
            </a:pPr>
            <a:r>
              <a:rPr sz="1700" b="1">
                <a:solidFill>
                  <a:srgbClr val="172231"/>
                </a:solidFill>
                <a:latin typeface="IBM Plex Sans" pitchFamily="34"/>
                <a:ea typeface="IBM Plex Sans" pitchFamily="34"/>
                <a:cs typeface="IBM Plex Sans" pitchFamily="34"/>
              </a:rPr>
              <a:t>Apply</a:t>
            </a:r>
          </a:p>
        </p:txBody>
      </p:sp>
      <p:sp>
        <p:nvSpPr>
          <p:cNvPr id="59" name="TextBox 58"/>
          <p:cNvSpPr txBox="1"/>
          <p:nvPr/>
        </p:nvSpPr>
        <p:spPr>
          <a:xfrm>
            <a:off x="4631436" y="5468112"/>
            <a:ext cx="2962656" cy="667512"/>
          </a:xfrm>
          <a:prstGeom prst="rect">
            <a:avLst/>
          </a:prstGeom>
          <a:noFill/>
        </p:spPr>
        <p:txBody>
          <a:bodyPr wrap="square" lIns="0" rIns="0" tIns="0" bIns="0" anchor="t">
            <a:spAutoFit/>
          </a:bodyPr>
          <a:lstStyle/>
          <a:p>
            <a:pPr algn="l">
              <a:spcAft>
                <a:spcPts val="500"/>
              </a:spcAft>
            </a:pPr>
            <a:r>
              <a:rPr sz="1250" b="0">
                <a:solidFill>
                  <a:srgbClr val="4A5363"/>
                </a:solidFill>
                <a:latin typeface="IBM Plex Sans" pitchFamily="34"/>
                <a:ea typeface="IBM Plex Sans" pitchFamily="34"/>
                <a:cs typeface="IBM Plex Sans" pitchFamily="34"/>
              </a:rPr>
              <a:t>One commit on a branch, conflict check against the commit that was read.</a:t>
            </a:r>
          </a:p>
        </p:txBody>
      </p:sp>
      <p:sp>
        <p:nvSpPr>
          <p:cNvPr id="60" name="Rounded Rectangle 59"/>
          <p:cNvSpPr/>
          <p:nvPr/>
        </p:nvSpPr>
        <p:spPr>
          <a:xfrm>
            <a:off x="8010144" y="4599431"/>
            <a:ext cx="3374136" cy="1627632"/>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8229600" y="4800599"/>
            <a:ext cx="2962656" cy="237744"/>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09  DETERMINISTIC</a:t>
            </a:r>
          </a:p>
        </p:txBody>
      </p:sp>
      <p:sp>
        <p:nvSpPr>
          <p:cNvPr id="62" name="TextBox 61"/>
          <p:cNvSpPr txBox="1"/>
          <p:nvPr/>
        </p:nvSpPr>
        <p:spPr>
          <a:xfrm>
            <a:off x="8229600" y="5074919"/>
            <a:ext cx="2962656" cy="310896"/>
          </a:xfrm>
          <a:prstGeom prst="rect">
            <a:avLst/>
          </a:prstGeom>
          <a:noFill/>
        </p:spPr>
        <p:txBody>
          <a:bodyPr wrap="square" lIns="0" rIns="0" tIns="0" bIns="0" anchor="t">
            <a:spAutoFit/>
          </a:bodyPr>
          <a:lstStyle/>
          <a:p>
            <a:pPr algn="l">
              <a:spcAft>
                <a:spcPts val="0"/>
              </a:spcAft>
            </a:pPr>
            <a:r>
              <a:rPr sz="1700" b="1">
                <a:solidFill>
                  <a:srgbClr val="172231"/>
                </a:solidFill>
                <a:latin typeface="IBM Plex Sans" pitchFamily="34"/>
                <a:ea typeface="IBM Plex Sans" pitchFamily="34"/>
                <a:cs typeface="IBM Plex Sans" pitchFamily="34"/>
              </a:rPr>
              <a:t>Impact</a:t>
            </a:r>
          </a:p>
        </p:txBody>
      </p:sp>
      <p:sp>
        <p:nvSpPr>
          <p:cNvPr id="63" name="TextBox 62"/>
          <p:cNvSpPr txBox="1"/>
          <p:nvPr/>
        </p:nvSpPr>
        <p:spPr>
          <a:xfrm>
            <a:off x="8229600" y="5468112"/>
            <a:ext cx="2962656" cy="667512"/>
          </a:xfrm>
          <a:prstGeom prst="rect">
            <a:avLst/>
          </a:prstGeom>
          <a:noFill/>
        </p:spPr>
        <p:txBody>
          <a:bodyPr wrap="square" lIns="0" rIns="0" tIns="0" bIns="0" anchor="t">
            <a:spAutoFit/>
          </a:bodyPr>
          <a:lstStyle/>
          <a:p>
            <a:pPr algn="l">
              <a:spcAft>
                <a:spcPts val="500"/>
              </a:spcAft>
            </a:pPr>
            <a:r>
              <a:rPr sz="1250" b="0">
                <a:solidFill>
                  <a:srgbClr val="4A5363"/>
                </a:solidFill>
                <a:latin typeface="IBM Plex Sans" pitchFamily="34"/>
                <a:ea typeface="IBM Plex Sans" pitchFamily="34"/>
                <a:cs typeface="IBM Plex Sans" pitchFamily="34"/>
              </a:rPr>
              <a:t>Changed F_Ly → mark decompose. New F_Ly → mark decompose on level x. verified-by → mark tests.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4EF"/>
        </a:solidFill>
      </p:bgPr>
    </p:bg>
    <p:spTree>
      <p:nvGrpSpPr>
        <p:cNvPr id="1" name=""/>
        <p:cNvGrpSpPr/>
        <p:nvPr/>
      </p:nvGrpSpPr>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231"/>
                </a:solidFill>
                <a:latin typeface="IBM Plex Sans" pitchFamily="34" charset="0"/>
                <a:ea typeface="IBM Plex Sans" pitchFamily="34" charset="-122"/>
                <a:cs typeface="IBM Plex Sans" pitchFamily="34" charset="-120"/>
              </a:rPr>
              <a:t>MVP timeline: 8 weeks on one pilot subsystem</a:t>
            </a:r>
            <a:endParaRPr lang="en-US" sz="3200" dirty="0"/>
          </a:p>
        </p:txBody>
      </p:sp>
      <p:sp>
        <p:nvSpPr>
          <p:cNvPr id="3" name="TextBox 2"/>
          <p:cNvSpPr txBox="1"/>
          <p:nvPr/>
        </p:nvSpPr>
        <p:spPr>
          <a:xfrm>
            <a:off x="3008376" y="1682496"/>
            <a:ext cx="1046988" cy="219456"/>
          </a:xfrm>
          <a:prstGeom prst="rect">
            <a:avLst/>
          </a:prstGeom>
          <a:noFill/>
        </p:spPr>
        <p:txBody>
          <a:bodyPr wrap="square" lIns="0" rIns="0" tIns="0" bIns="0" anchor="t">
            <a:spAutoFit/>
          </a:bodyPr>
          <a:lstStyle/>
          <a:p>
            <a:pPr algn="ctr">
              <a:spcAft>
                <a:spcPts val="0"/>
              </a:spcAft>
            </a:pPr>
            <a:r>
              <a:rPr sz="1100" b="0">
                <a:solidFill>
                  <a:srgbClr val="2F62C9"/>
                </a:solidFill>
                <a:latin typeface="JetBrains Mono" pitchFamily="49"/>
                <a:ea typeface="JetBrains Mono" pitchFamily="49"/>
                <a:cs typeface="JetBrains Mono" pitchFamily="49"/>
              </a:rPr>
              <a:t>W1</a:t>
            </a:r>
          </a:p>
        </p:txBody>
      </p:sp>
      <p:sp>
        <p:nvSpPr>
          <p:cNvPr id="4" name="TextBox 3"/>
          <p:cNvSpPr txBox="1"/>
          <p:nvPr/>
        </p:nvSpPr>
        <p:spPr>
          <a:xfrm>
            <a:off x="4055364" y="1682496"/>
            <a:ext cx="1046988" cy="219456"/>
          </a:xfrm>
          <a:prstGeom prst="rect">
            <a:avLst/>
          </a:prstGeom>
          <a:noFill/>
        </p:spPr>
        <p:txBody>
          <a:bodyPr wrap="square" lIns="0" rIns="0" tIns="0" bIns="0" anchor="t">
            <a:spAutoFit/>
          </a:bodyPr>
          <a:lstStyle/>
          <a:p>
            <a:pPr algn="ctr">
              <a:spcAft>
                <a:spcPts val="0"/>
              </a:spcAft>
            </a:pPr>
            <a:r>
              <a:rPr sz="1100" b="0">
                <a:solidFill>
                  <a:srgbClr val="2F62C9"/>
                </a:solidFill>
                <a:latin typeface="JetBrains Mono" pitchFamily="49"/>
                <a:ea typeface="JetBrains Mono" pitchFamily="49"/>
                <a:cs typeface="JetBrains Mono" pitchFamily="49"/>
              </a:rPr>
              <a:t>W2</a:t>
            </a:r>
          </a:p>
        </p:txBody>
      </p:sp>
      <p:sp>
        <p:nvSpPr>
          <p:cNvPr id="5" name="TextBox 4"/>
          <p:cNvSpPr txBox="1"/>
          <p:nvPr/>
        </p:nvSpPr>
        <p:spPr>
          <a:xfrm>
            <a:off x="5102352" y="1682496"/>
            <a:ext cx="1046988" cy="219456"/>
          </a:xfrm>
          <a:prstGeom prst="rect">
            <a:avLst/>
          </a:prstGeom>
          <a:noFill/>
        </p:spPr>
        <p:txBody>
          <a:bodyPr wrap="square" lIns="0" rIns="0" tIns="0" bIns="0" anchor="t">
            <a:spAutoFit/>
          </a:bodyPr>
          <a:lstStyle/>
          <a:p>
            <a:pPr algn="ctr">
              <a:spcAft>
                <a:spcPts val="0"/>
              </a:spcAft>
            </a:pPr>
            <a:r>
              <a:rPr sz="1100" b="0">
                <a:solidFill>
                  <a:srgbClr val="2F62C9"/>
                </a:solidFill>
                <a:latin typeface="JetBrains Mono" pitchFamily="49"/>
                <a:ea typeface="JetBrains Mono" pitchFamily="49"/>
                <a:cs typeface="JetBrains Mono" pitchFamily="49"/>
              </a:rPr>
              <a:t>W3</a:t>
            </a:r>
          </a:p>
        </p:txBody>
      </p:sp>
      <p:sp>
        <p:nvSpPr>
          <p:cNvPr id="6" name="TextBox 5"/>
          <p:cNvSpPr txBox="1"/>
          <p:nvPr/>
        </p:nvSpPr>
        <p:spPr>
          <a:xfrm>
            <a:off x="6149340" y="1682496"/>
            <a:ext cx="1046988" cy="219456"/>
          </a:xfrm>
          <a:prstGeom prst="rect">
            <a:avLst/>
          </a:prstGeom>
          <a:noFill/>
        </p:spPr>
        <p:txBody>
          <a:bodyPr wrap="square" lIns="0" rIns="0" tIns="0" bIns="0" anchor="t">
            <a:spAutoFit/>
          </a:bodyPr>
          <a:lstStyle/>
          <a:p>
            <a:pPr algn="ctr">
              <a:spcAft>
                <a:spcPts val="0"/>
              </a:spcAft>
            </a:pPr>
            <a:r>
              <a:rPr sz="1100" b="0">
                <a:solidFill>
                  <a:srgbClr val="2F62C9"/>
                </a:solidFill>
                <a:latin typeface="JetBrains Mono" pitchFamily="49"/>
                <a:ea typeface="JetBrains Mono" pitchFamily="49"/>
                <a:cs typeface="JetBrains Mono" pitchFamily="49"/>
              </a:rPr>
              <a:t>W4</a:t>
            </a:r>
          </a:p>
        </p:txBody>
      </p:sp>
      <p:sp>
        <p:nvSpPr>
          <p:cNvPr id="7" name="TextBox 6"/>
          <p:cNvSpPr txBox="1"/>
          <p:nvPr/>
        </p:nvSpPr>
        <p:spPr>
          <a:xfrm>
            <a:off x="7196328" y="1682496"/>
            <a:ext cx="1046988" cy="219456"/>
          </a:xfrm>
          <a:prstGeom prst="rect">
            <a:avLst/>
          </a:prstGeom>
          <a:noFill/>
        </p:spPr>
        <p:txBody>
          <a:bodyPr wrap="square" lIns="0" rIns="0" tIns="0" bIns="0" anchor="t">
            <a:spAutoFit/>
          </a:bodyPr>
          <a:lstStyle/>
          <a:p>
            <a:pPr algn="ctr">
              <a:spcAft>
                <a:spcPts val="0"/>
              </a:spcAft>
            </a:pPr>
            <a:r>
              <a:rPr sz="1100" b="0">
                <a:solidFill>
                  <a:srgbClr val="2F62C9"/>
                </a:solidFill>
                <a:latin typeface="JetBrains Mono" pitchFamily="49"/>
                <a:ea typeface="JetBrains Mono" pitchFamily="49"/>
                <a:cs typeface="JetBrains Mono" pitchFamily="49"/>
              </a:rPr>
              <a:t>W5</a:t>
            </a:r>
          </a:p>
        </p:txBody>
      </p:sp>
      <p:sp>
        <p:nvSpPr>
          <p:cNvPr id="8" name="TextBox 7"/>
          <p:cNvSpPr txBox="1"/>
          <p:nvPr/>
        </p:nvSpPr>
        <p:spPr>
          <a:xfrm>
            <a:off x="8243316" y="1682496"/>
            <a:ext cx="1046988" cy="219456"/>
          </a:xfrm>
          <a:prstGeom prst="rect">
            <a:avLst/>
          </a:prstGeom>
          <a:noFill/>
        </p:spPr>
        <p:txBody>
          <a:bodyPr wrap="square" lIns="0" rIns="0" tIns="0" bIns="0" anchor="t">
            <a:spAutoFit/>
          </a:bodyPr>
          <a:lstStyle/>
          <a:p>
            <a:pPr algn="ctr">
              <a:spcAft>
                <a:spcPts val="0"/>
              </a:spcAft>
            </a:pPr>
            <a:r>
              <a:rPr sz="1100" b="0">
                <a:solidFill>
                  <a:srgbClr val="2F62C9"/>
                </a:solidFill>
                <a:latin typeface="JetBrains Mono" pitchFamily="49"/>
                <a:ea typeface="JetBrains Mono" pitchFamily="49"/>
                <a:cs typeface="JetBrains Mono" pitchFamily="49"/>
              </a:rPr>
              <a:t>W6</a:t>
            </a:r>
          </a:p>
        </p:txBody>
      </p:sp>
      <p:sp>
        <p:nvSpPr>
          <p:cNvPr id="9" name="TextBox 8"/>
          <p:cNvSpPr txBox="1"/>
          <p:nvPr/>
        </p:nvSpPr>
        <p:spPr>
          <a:xfrm>
            <a:off x="9290304" y="1682496"/>
            <a:ext cx="1046988" cy="219456"/>
          </a:xfrm>
          <a:prstGeom prst="rect">
            <a:avLst/>
          </a:prstGeom>
          <a:noFill/>
        </p:spPr>
        <p:txBody>
          <a:bodyPr wrap="square" lIns="0" rIns="0" tIns="0" bIns="0" anchor="t">
            <a:spAutoFit/>
          </a:bodyPr>
          <a:lstStyle/>
          <a:p>
            <a:pPr algn="ctr">
              <a:spcAft>
                <a:spcPts val="0"/>
              </a:spcAft>
            </a:pPr>
            <a:r>
              <a:rPr sz="1100" b="0">
                <a:solidFill>
                  <a:srgbClr val="2F62C9"/>
                </a:solidFill>
                <a:latin typeface="JetBrains Mono" pitchFamily="49"/>
                <a:ea typeface="JetBrains Mono" pitchFamily="49"/>
                <a:cs typeface="JetBrains Mono" pitchFamily="49"/>
              </a:rPr>
              <a:t>W7</a:t>
            </a:r>
          </a:p>
        </p:txBody>
      </p:sp>
      <p:sp>
        <p:nvSpPr>
          <p:cNvPr id="10" name="TextBox 9"/>
          <p:cNvSpPr txBox="1"/>
          <p:nvPr/>
        </p:nvSpPr>
        <p:spPr>
          <a:xfrm>
            <a:off x="10337292" y="1682496"/>
            <a:ext cx="1046988" cy="219456"/>
          </a:xfrm>
          <a:prstGeom prst="rect">
            <a:avLst/>
          </a:prstGeom>
          <a:noFill/>
        </p:spPr>
        <p:txBody>
          <a:bodyPr wrap="square" lIns="0" rIns="0" tIns="0" bIns="0" anchor="t">
            <a:spAutoFit/>
          </a:bodyPr>
          <a:lstStyle/>
          <a:p>
            <a:pPr algn="ctr">
              <a:spcAft>
                <a:spcPts val="0"/>
              </a:spcAft>
            </a:pPr>
            <a:r>
              <a:rPr sz="1100" b="0">
                <a:solidFill>
                  <a:srgbClr val="2F62C9"/>
                </a:solidFill>
                <a:latin typeface="JetBrains Mono" pitchFamily="49"/>
                <a:ea typeface="JetBrains Mono" pitchFamily="49"/>
                <a:cs typeface="JetBrains Mono" pitchFamily="49"/>
              </a:rPr>
              <a:t>W8</a:t>
            </a:r>
          </a:p>
        </p:txBody>
      </p:sp>
      <p:sp>
        <p:nvSpPr>
          <p:cNvPr id="11" name="TextBox 10"/>
          <p:cNvSpPr txBox="1"/>
          <p:nvPr/>
        </p:nvSpPr>
        <p:spPr>
          <a:xfrm>
            <a:off x="3008376" y="1444752"/>
            <a:ext cx="4187952" cy="201168"/>
          </a:xfrm>
          <a:prstGeom prst="rect">
            <a:avLst/>
          </a:prstGeom>
          <a:noFill/>
        </p:spPr>
        <p:txBody>
          <a:bodyPr wrap="square" lIns="0" rIns="0" tIns="0" bIns="0" anchor="t">
            <a:spAutoFit/>
          </a:bodyPr>
          <a:lstStyle/>
          <a:p>
            <a:pPr algn="ctr">
              <a:spcAft>
                <a:spcPts val="0"/>
              </a:spcAft>
            </a:pPr>
            <a:r>
              <a:rPr sz="900" b="0">
                <a:solidFill>
                  <a:srgbClr val="9AA1AC"/>
                </a:solidFill>
                <a:latin typeface="JetBrains Mono" pitchFamily="49"/>
                <a:ea typeface="JetBrains Mono" pitchFamily="49"/>
                <a:cs typeface="JetBrains Mono" pitchFamily="49"/>
              </a:rPr>
              <a:t>MONTH 1</a:t>
            </a:r>
          </a:p>
        </p:txBody>
      </p:sp>
      <p:sp>
        <p:nvSpPr>
          <p:cNvPr id="12" name="TextBox 11"/>
          <p:cNvSpPr txBox="1"/>
          <p:nvPr/>
        </p:nvSpPr>
        <p:spPr>
          <a:xfrm>
            <a:off x="7196328" y="1444752"/>
            <a:ext cx="4187952" cy="201168"/>
          </a:xfrm>
          <a:prstGeom prst="rect">
            <a:avLst/>
          </a:prstGeom>
          <a:noFill/>
        </p:spPr>
        <p:txBody>
          <a:bodyPr wrap="square" lIns="0" rIns="0" tIns="0" bIns="0" anchor="t">
            <a:spAutoFit/>
          </a:bodyPr>
          <a:lstStyle/>
          <a:p>
            <a:pPr algn="ctr">
              <a:spcAft>
                <a:spcPts val="0"/>
              </a:spcAft>
            </a:pPr>
            <a:r>
              <a:rPr sz="900" b="0">
                <a:solidFill>
                  <a:srgbClr val="9AA1AC"/>
                </a:solidFill>
                <a:latin typeface="JetBrains Mono" pitchFamily="49"/>
                <a:ea typeface="JetBrains Mono" pitchFamily="49"/>
                <a:cs typeface="JetBrains Mono" pitchFamily="49"/>
              </a:rPr>
              <a:t>MONTH 2</a:t>
            </a:r>
          </a:p>
        </p:txBody>
      </p:sp>
      <p:cxnSp>
        <p:nvCxnSpPr>
          <p:cNvPr id="13" name="Connector 12"/>
          <p:cNvCxnSpPr/>
          <p:nvPr/>
        </p:nvCxnSpPr>
        <p:spPr>
          <a:xfrm>
            <a:off x="3008376" y="1956816"/>
            <a:ext cx="8375904" cy="0"/>
          </a:xfrm>
          <a:prstGeom prst="line">
            <a:avLst/>
          </a:prstGeom>
          <a:ln w="9525">
            <a:solidFill>
              <a:srgbClr val="DEDCD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196328" y="1444752"/>
            <a:ext cx="0" cy="512064"/>
          </a:xfrm>
          <a:prstGeom prst="line">
            <a:avLst/>
          </a:prstGeom>
          <a:ln w="12700">
            <a:solidFill>
              <a:srgbClr val="9AA1AC"/>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13816" y="2066544"/>
            <a:ext cx="2103120" cy="256032"/>
          </a:xfrm>
          <a:prstGeom prst="rect">
            <a:avLst/>
          </a:prstGeom>
          <a:noFill/>
        </p:spPr>
        <p:txBody>
          <a:bodyPr wrap="square" lIns="0" rIns="0" tIns="0" bIns="0" anchor="ctr">
            <a:spAutoFit/>
          </a:bodyPr>
          <a:lstStyle/>
          <a:p>
            <a:pPr algn="l">
              <a:spcAft>
                <a:spcPts val="0"/>
              </a:spcAft>
            </a:pPr>
            <a:r>
              <a:rPr sz="1300" b="1">
                <a:solidFill>
                  <a:srgbClr val="172231"/>
                </a:solidFill>
                <a:latin typeface="IBM Plex Sans" pitchFamily="34"/>
                <a:ea typeface="IBM Plex Sans" pitchFamily="34"/>
                <a:cs typeface="IBM Plex Sans" pitchFamily="34"/>
              </a:rPr>
              <a:t>Setup &amp; access</a:t>
            </a:r>
          </a:p>
        </p:txBody>
      </p:sp>
      <p:sp>
        <p:nvSpPr>
          <p:cNvPr id="16" name="Rounded Rectangle 15"/>
          <p:cNvSpPr/>
          <p:nvPr/>
        </p:nvSpPr>
        <p:spPr>
          <a:xfrm>
            <a:off x="3063240" y="2075688"/>
            <a:ext cx="937259" cy="219456"/>
          </a:xfrm>
          <a:prstGeom prst="roundRect">
            <a:avLst>
              <a:gd name="adj" fmla="val 20000"/>
            </a:avLst>
          </a:prstGeom>
          <a:solidFill>
            <a:srgbClr val="E6ECF8"/>
          </a:solidFill>
          <a:ln w="9525">
            <a:solidFill>
              <a:srgbClr val="2F62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110228" y="2075688"/>
            <a:ext cx="7274051" cy="219456"/>
          </a:xfrm>
          <a:prstGeom prst="rect">
            <a:avLst/>
          </a:prstGeom>
          <a:noFill/>
        </p:spPr>
        <p:txBody>
          <a:bodyPr wrap="square" lIns="0" rIns="0" tIns="0" bIns="0" anchor="ctr">
            <a:spAutoFit/>
          </a:bodyPr>
          <a:lstStyle/>
          <a:p>
            <a:pPr algn="l">
              <a:spcAft>
                <a:spcPts val="0"/>
              </a:spcAft>
            </a:pPr>
            <a:r>
              <a:rPr sz="1100" b="0">
                <a:solidFill>
                  <a:srgbClr val="4A5363"/>
                </a:solidFill>
                <a:latin typeface="IBM Plex Sans" pitchFamily="34"/>
                <a:ea typeface="IBM Plex Sans" pitchFamily="34"/>
                <a:cs typeface="IBM Plex Sans" pitchFamily="34"/>
              </a:rPr>
              <a:t>Polarion token, SysML v2 model access, parser, pilot subsystem, 10–20 reference cases</a:t>
            </a:r>
          </a:p>
        </p:txBody>
      </p:sp>
      <p:sp>
        <p:nvSpPr>
          <p:cNvPr id="18" name="TextBox 17"/>
          <p:cNvSpPr txBox="1"/>
          <p:nvPr/>
        </p:nvSpPr>
        <p:spPr>
          <a:xfrm>
            <a:off x="813816" y="2414016"/>
            <a:ext cx="2103120" cy="256032"/>
          </a:xfrm>
          <a:prstGeom prst="rect">
            <a:avLst/>
          </a:prstGeom>
          <a:noFill/>
        </p:spPr>
        <p:txBody>
          <a:bodyPr wrap="square" lIns="0" rIns="0" tIns="0" bIns="0" anchor="ctr">
            <a:spAutoFit/>
          </a:bodyPr>
          <a:lstStyle/>
          <a:p>
            <a:pPr algn="l">
              <a:spcAft>
                <a:spcPts val="0"/>
              </a:spcAft>
            </a:pPr>
            <a:r>
              <a:rPr sz="1300" b="1">
                <a:solidFill>
                  <a:srgbClr val="172231"/>
                </a:solidFill>
                <a:latin typeface="IBM Plex Sans" pitchFamily="34"/>
                <a:ea typeface="IBM Plex Sans" pitchFamily="34"/>
                <a:cs typeface="IBM Plex Sans" pitchFamily="34"/>
              </a:rPr>
              <a:t>Read (&amp; compare)</a:t>
            </a:r>
          </a:p>
        </p:txBody>
      </p:sp>
      <p:sp>
        <p:nvSpPr>
          <p:cNvPr id="19" name="Rounded Rectangle 18"/>
          <p:cNvSpPr/>
          <p:nvPr/>
        </p:nvSpPr>
        <p:spPr>
          <a:xfrm>
            <a:off x="4110228" y="2423160"/>
            <a:ext cx="937259" cy="219456"/>
          </a:xfrm>
          <a:prstGeom prst="roundRect">
            <a:avLst>
              <a:gd name="adj" fmla="val 20000"/>
            </a:avLst>
          </a:prstGeom>
          <a:solidFill>
            <a:srgbClr val="17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157216" y="2423160"/>
            <a:ext cx="6227064" cy="219456"/>
          </a:xfrm>
          <a:prstGeom prst="rect">
            <a:avLst/>
          </a:prstGeom>
          <a:noFill/>
        </p:spPr>
        <p:txBody>
          <a:bodyPr wrap="square" lIns="0" rIns="0" tIns="0" bIns="0" anchor="ctr">
            <a:spAutoFit/>
          </a:bodyPr>
          <a:lstStyle/>
          <a:p>
            <a:pPr algn="l">
              <a:spcAft>
                <a:spcPts val="0"/>
              </a:spcAft>
            </a:pPr>
            <a:r>
              <a:rPr sz="1100" b="0">
                <a:solidFill>
                  <a:srgbClr val="4A5363"/>
                </a:solidFill>
                <a:latin typeface="IBM Plex Sans" pitchFamily="34"/>
                <a:ea typeface="IBM Plex Sans" pitchFamily="34"/>
                <a:cs typeface="IBM Plex Sans" pitchFamily="34"/>
              </a:rPr>
              <a:t>Polarion reader, model slice, (change status)</a:t>
            </a:r>
          </a:p>
        </p:txBody>
      </p:sp>
      <p:sp>
        <p:nvSpPr>
          <p:cNvPr id="21" name="TextBox 20"/>
          <p:cNvSpPr txBox="1"/>
          <p:nvPr/>
        </p:nvSpPr>
        <p:spPr>
          <a:xfrm>
            <a:off x="813816" y="2761488"/>
            <a:ext cx="2103120" cy="256032"/>
          </a:xfrm>
          <a:prstGeom prst="rect">
            <a:avLst/>
          </a:prstGeom>
          <a:noFill/>
        </p:spPr>
        <p:txBody>
          <a:bodyPr wrap="square" lIns="0" rIns="0" tIns="0" bIns="0" anchor="ctr">
            <a:spAutoFit/>
          </a:bodyPr>
          <a:lstStyle/>
          <a:p>
            <a:pPr algn="l">
              <a:spcAft>
                <a:spcPts val="0"/>
              </a:spcAft>
            </a:pPr>
            <a:r>
              <a:rPr sz="1300" b="1">
                <a:solidFill>
                  <a:srgbClr val="172231"/>
                </a:solidFill>
                <a:latin typeface="IBM Plex Sans" pitchFamily="34"/>
                <a:ea typeface="IBM Plex Sans" pitchFamily="34"/>
                <a:cs typeface="IBM Plex Sans" pitchFamily="34"/>
              </a:rPr>
              <a:t>Function view</a:t>
            </a:r>
          </a:p>
        </p:txBody>
      </p:sp>
      <p:sp>
        <p:nvSpPr>
          <p:cNvPr id="22" name="Rounded Rectangle 21"/>
          <p:cNvSpPr/>
          <p:nvPr/>
        </p:nvSpPr>
        <p:spPr>
          <a:xfrm>
            <a:off x="5157216" y="2770632"/>
            <a:ext cx="1984248" cy="219456"/>
          </a:xfrm>
          <a:prstGeom prst="roundRect">
            <a:avLst>
              <a:gd name="adj" fmla="val 20000"/>
            </a:avLst>
          </a:prstGeom>
          <a:solidFill>
            <a:srgbClr val="17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51192" y="2770632"/>
            <a:ext cx="4133087" cy="219456"/>
          </a:xfrm>
          <a:prstGeom prst="rect">
            <a:avLst/>
          </a:prstGeom>
          <a:noFill/>
        </p:spPr>
        <p:txBody>
          <a:bodyPr wrap="square" lIns="0" rIns="0" tIns="0" bIns="0" anchor="ctr">
            <a:spAutoFit/>
          </a:bodyPr>
          <a:lstStyle/>
          <a:p>
            <a:pPr algn="l">
              <a:spcAft>
                <a:spcPts val="0"/>
              </a:spcAft>
            </a:pPr>
            <a:r>
              <a:rPr sz="1100" b="0">
                <a:solidFill>
                  <a:srgbClr val="4A5363"/>
                </a:solidFill>
                <a:latin typeface="IBM Plex Sans" pitchFamily="34"/>
                <a:ea typeface="IBM Plex Sans" pitchFamily="34"/>
                <a:cs typeface="IBM Plex Sans" pitchFamily="34"/>
              </a:rPr>
              <a:t>Prompt, generation, validity check + repair loop, Git diff</a:t>
            </a:r>
          </a:p>
        </p:txBody>
      </p:sp>
      <p:sp>
        <p:nvSpPr>
          <p:cNvPr id="24" name="TextBox 23"/>
          <p:cNvSpPr txBox="1"/>
          <p:nvPr/>
        </p:nvSpPr>
        <p:spPr>
          <a:xfrm>
            <a:off x="813816" y="3108960"/>
            <a:ext cx="2103120" cy="256032"/>
          </a:xfrm>
          <a:prstGeom prst="rect">
            <a:avLst/>
          </a:prstGeom>
          <a:noFill/>
        </p:spPr>
        <p:txBody>
          <a:bodyPr wrap="square" lIns="0" rIns="0" tIns="0" bIns="0" anchor="ctr">
            <a:spAutoFit/>
          </a:bodyPr>
          <a:lstStyle/>
          <a:p>
            <a:pPr algn="l">
              <a:spcAft>
                <a:spcPts val="0"/>
              </a:spcAft>
            </a:pPr>
            <a:r>
              <a:rPr sz="1300" b="1">
                <a:solidFill>
                  <a:srgbClr val="172231"/>
                </a:solidFill>
                <a:latin typeface="IBM Plex Sans" pitchFamily="34"/>
                <a:ea typeface="IBM Plex Sans" pitchFamily="34"/>
                <a:cs typeface="IBM Plex Sans" pitchFamily="34"/>
              </a:rPr>
              <a:t>Logical view</a:t>
            </a:r>
          </a:p>
        </p:txBody>
      </p:sp>
      <p:sp>
        <p:nvSpPr>
          <p:cNvPr id="25" name="Rounded Rectangle 24"/>
          <p:cNvSpPr/>
          <p:nvPr/>
        </p:nvSpPr>
        <p:spPr>
          <a:xfrm>
            <a:off x="7251192" y="3118104"/>
            <a:ext cx="937259" cy="219456"/>
          </a:xfrm>
          <a:prstGeom prst="roundRect">
            <a:avLst>
              <a:gd name="adj" fmla="val 20000"/>
            </a:avLst>
          </a:prstGeom>
          <a:solidFill>
            <a:srgbClr val="17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98179" y="3118104"/>
            <a:ext cx="3086100" cy="219456"/>
          </a:xfrm>
          <a:prstGeom prst="rect">
            <a:avLst/>
          </a:prstGeom>
          <a:noFill/>
        </p:spPr>
        <p:txBody>
          <a:bodyPr wrap="square" lIns="0" rIns="0" tIns="0" bIns="0" anchor="ctr">
            <a:spAutoFit/>
          </a:bodyPr>
          <a:lstStyle/>
          <a:p>
            <a:pPr algn="l">
              <a:spcAft>
                <a:spcPts val="0"/>
              </a:spcAft>
            </a:pPr>
            <a:r>
              <a:rPr sz="1100" b="0">
                <a:solidFill>
                  <a:srgbClr val="4A5363"/>
                </a:solidFill>
                <a:latin typeface="IBM Plex Sans" pitchFamily="34"/>
                <a:ea typeface="IBM Plex Sans" pitchFamily="34"/>
                <a:cs typeface="IBM Plex Sans" pitchFamily="34"/>
              </a:rPr>
              <a:t>deploy logical, same loop</a:t>
            </a:r>
          </a:p>
        </p:txBody>
      </p:sp>
      <p:sp>
        <p:nvSpPr>
          <p:cNvPr id="27" name="TextBox 26"/>
          <p:cNvSpPr txBox="1"/>
          <p:nvPr/>
        </p:nvSpPr>
        <p:spPr>
          <a:xfrm>
            <a:off x="813816" y="3456432"/>
            <a:ext cx="2103120" cy="256032"/>
          </a:xfrm>
          <a:prstGeom prst="rect">
            <a:avLst/>
          </a:prstGeom>
          <a:noFill/>
        </p:spPr>
        <p:txBody>
          <a:bodyPr wrap="square" lIns="0" rIns="0" tIns="0" bIns="0" anchor="ctr">
            <a:spAutoFit/>
          </a:bodyPr>
          <a:lstStyle/>
          <a:p>
            <a:pPr algn="l">
              <a:spcAft>
                <a:spcPts val="0"/>
              </a:spcAft>
            </a:pPr>
            <a:r>
              <a:rPr sz="1300" b="1">
                <a:solidFill>
                  <a:srgbClr val="172231"/>
                </a:solidFill>
                <a:latin typeface="IBM Plex Sans" pitchFamily="34"/>
                <a:ea typeface="IBM Plex Sans" pitchFamily="34"/>
                <a:cs typeface="IBM Plex Sans" pitchFamily="34"/>
              </a:rPr>
              <a:t>Technical view</a:t>
            </a:r>
          </a:p>
        </p:txBody>
      </p:sp>
      <p:sp>
        <p:nvSpPr>
          <p:cNvPr id="28" name="Rounded Rectangle 27"/>
          <p:cNvSpPr/>
          <p:nvPr/>
        </p:nvSpPr>
        <p:spPr>
          <a:xfrm>
            <a:off x="8298180" y="3465576"/>
            <a:ext cx="937259" cy="219456"/>
          </a:xfrm>
          <a:prstGeom prst="roundRect">
            <a:avLst>
              <a:gd name="adj" fmla="val 20000"/>
            </a:avLst>
          </a:prstGeom>
          <a:solidFill>
            <a:srgbClr val="17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3099816" y="3465576"/>
            <a:ext cx="5088636" cy="219456"/>
          </a:xfrm>
          <a:prstGeom prst="rect">
            <a:avLst/>
          </a:prstGeom>
          <a:noFill/>
        </p:spPr>
        <p:txBody>
          <a:bodyPr wrap="square" lIns="0" rIns="0" tIns="0" bIns="0" anchor="ctr">
            <a:spAutoFit/>
          </a:bodyPr>
          <a:lstStyle/>
          <a:p>
            <a:pPr algn="r">
              <a:spcAft>
                <a:spcPts val="0"/>
              </a:spcAft>
            </a:pPr>
            <a:r>
              <a:rPr sz="1100" b="0">
                <a:solidFill>
                  <a:srgbClr val="4A5363"/>
                </a:solidFill>
                <a:latin typeface="IBM Plex Sans" pitchFamily="34"/>
                <a:ea typeface="IBM Plex Sans" pitchFamily="34"/>
                <a:cs typeface="IBM Plex Sans" pitchFamily="34"/>
              </a:rPr>
              <a:t>deploy physical, same loop</a:t>
            </a:r>
          </a:p>
        </p:txBody>
      </p:sp>
      <p:sp>
        <p:nvSpPr>
          <p:cNvPr id="30" name="TextBox 29"/>
          <p:cNvSpPr txBox="1"/>
          <p:nvPr/>
        </p:nvSpPr>
        <p:spPr>
          <a:xfrm>
            <a:off x="813816" y="3803903"/>
            <a:ext cx="2103120" cy="256032"/>
          </a:xfrm>
          <a:prstGeom prst="rect">
            <a:avLst/>
          </a:prstGeom>
          <a:noFill/>
        </p:spPr>
        <p:txBody>
          <a:bodyPr wrap="square" lIns="0" rIns="0" tIns="0" bIns="0" anchor="ctr">
            <a:spAutoFit/>
          </a:bodyPr>
          <a:lstStyle/>
          <a:p>
            <a:pPr algn="l">
              <a:spcAft>
                <a:spcPts val="0"/>
              </a:spcAft>
            </a:pPr>
            <a:r>
              <a:rPr sz="1300" b="1">
                <a:solidFill>
                  <a:srgbClr val="172231"/>
                </a:solidFill>
                <a:latin typeface="IBM Plex Sans" pitchFamily="34"/>
                <a:ea typeface="IBM Plex Sans" pitchFamily="34"/>
                <a:cs typeface="IBM Plex Sans" pitchFamily="34"/>
              </a:rPr>
              <a:t>End-to-end runs</a:t>
            </a:r>
          </a:p>
        </p:txBody>
      </p:sp>
      <p:sp>
        <p:nvSpPr>
          <p:cNvPr id="31" name="Rounded Rectangle 30"/>
          <p:cNvSpPr/>
          <p:nvPr/>
        </p:nvSpPr>
        <p:spPr>
          <a:xfrm>
            <a:off x="9345168" y="3813048"/>
            <a:ext cx="937259" cy="219456"/>
          </a:xfrm>
          <a:prstGeom prst="roundRect">
            <a:avLst>
              <a:gd name="adj" fmla="val 20000"/>
            </a:avLst>
          </a:prstGeom>
          <a:solidFill>
            <a:srgbClr val="E6ECF8"/>
          </a:solidFill>
          <a:ln w="9525">
            <a:solidFill>
              <a:srgbClr val="2F62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099816" y="3813048"/>
            <a:ext cx="6135624" cy="219456"/>
          </a:xfrm>
          <a:prstGeom prst="rect">
            <a:avLst/>
          </a:prstGeom>
          <a:noFill/>
        </p:spPr>
        <p:txBody>
          <a:bodyPr wrap="square" lIns="0" rIns="0" tIns="0" bIns="0" anchor="ctr">
            <a:spAutoFit/>
          </a:bodyPr>
          <a:lstStyle/>
          <a:p>
            <a:pPr algn="r">
              <a:spcAft>
                <a:spcPts val="0"/>
              </a:spcAft>
            </a:pPr>
            <a:r>
              <a:rPr sz="1100" b="0">
                <a:solidFill>
                  <a:srgbClr val="4A5363"/>
                </a:solidFill>
                <a:latin typeface="IBM Plex Sans" pitchFamily="34"/>
                <a:ea typeface="IBM Plex Sans" pitchFamily="34"/>
                <a:cs typeface="IBM Plex Sans" pitchFamily="34"/>
              </a:rPr>
              <a:t>Full pilot runs: validity rate, repair rounds, reviewer acceptance</a:t>
            </a:r>
          </a:p>
        </p:txBody>
      </p:sp>
      <p:sp>
        <p:nvSpPr>
          <p:cNvPr id="33" name="TextBox 32"/>
          <p:cNvSpPr txBox="1"/>
          <p:nvPr/>
        </p:nvSpPr>
        <p:spPr>
          <a:xfrm>
            <a:off x="813816" y="4151376"/>
            <a:ext cx="2103120" cy="256032"/>
          </a:xfrm>
          <a:prstGeom prst="rect">
            <a:avLst/>
          </a:prstGeom>
          <a:noFill/>
        </p:spPr>
        <p:txBody>
          <a:bodyPr wrap="square" lIns="0" rIns="0" tIns="0" bIns="0" anchor="ctr">
            <a:spAutoFit/>
          </a:bodyPr>
          <a:lstStyle/>
          <a:p>
            <a:pPr algn="l">
              <a:spcAft>
                <a:spcPts val="0"/>
              </a:spcAft>
            </a:pPr>
            <a:r>
              <a:rPr sz="1300" b="1">
                <a:solidFill>
                  <a:srgbClr val="172231"/>
                </a:solidFill>
                <a:latin typeface="IBM Plex Sans" pitchFamily="34"/>
                <a:ea typeface="IBM Plex Sans" pitchFamily="34"/>
                <a:cs typeface="IBM Plex Sans" pitchFamily="34"/>
              </a:rPr>
              <a:t>Buffer &amp; handover</a:t>
            </a:r>
          </a:p>
        </p:txBody>
      </p:sp>
      <p:sp>
        <p:nvSpPr>
          <p:cNvPr id="34" name="Rounded Rectangle 33"/>
          <p:cNvSpPr/>
          <p:nvPr/>
        </p:nvSpPr>
        <p:spPr>
          <a:xfrm>
            <a:off x="10392156" y="4160520"/>
            <a:ext cx="937259" cy="219456"/>
          </a:xfrm>
          <a:prstGeom prst="roundRect">
            <a:avLst>
              <a:gd name="adj" fmla="val 20000"/>
            </a:avLst>
          </a:prstGeom>
          <a:solidFill>
            <a:srgbClr val="E6ECF8"/>
          </a:solidFill>
          <a:ln w="9525">
            <a:solidFill>
              <a:srgbClr val="2F62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099816" y="4160520"/>
            <a:ext cx="7182612" cy="219456"/>
          </a:xfrm>
          <a:prstGeom prst="rect">
            <a:avLst/>
          </a:prstGeom>
          <a:noFill/>
        </p:spPr>
        <p:txBody>
          <a:bodyPr wrap="square" lIns="0" rIns="0" tIns="0" bIns="0" anchor="ctr">
            <a:spAutoFit/>
          </a:bodyPr>
          <a:lstStyle/>
          <a:p>
            <a:pPr algn="r">
              <a:spcAft>
                <a:spcPts val="0"/>
              </a:spcAft>
            </a:pPr>
            <a:r>
              <a:rPr sz="1100" b="0">
                <a:solidFill>
                  <a:srgbClr val="4A5363"/>
                </a:solidFill>
                <a:latin typeface="IBM Plex Sans" pitchFamily="34"/>
                <a:ea typeface="IBM Plex Sans" pitchFamily="34"/>
                <a:cs typeface="IBM Plex Sans" pitchFamily="34"/>
              </a:rPr>
              <a:t>Fixes, documentation, go/no-go for the target architecture</a:t>
            </a:r>
          </a:p>
        </p:txBody>
      </p:sp>
      <p:sp>
        <p:nvSpPr>
          <p:cNvPr id="36" name="TextBox 35"/>
          <p:cNvSpPr txBox="1"/>
          <p:nvPr/>
        </p:nvSpPr>
        <p:spPr>
          <a:xfrm>
            <a:off x="813816" y="4517136"/>
            <a:ext cx="2103120" cy="256032"/>
          </a:xfrm>
          <a:prstGeom prst="rect">
            <a:avLst/>
          </a:prstGeom>
          <a:noFill/>
        </p:spPr>
        <p:txBody>
          <a:bodyPr wrap="square" lIns="0" rIns="0" tIns="0" bIns="0" anchor="ctr">
            <a:spAutoFit/>
          </a:bodyPr>
          <a:lstStyle/>
          <a:p>
            <a:pPr algn="l">
              <a:spcAft>
                <a:spcPts val="0"/>
              </a:spcAft>
            </a:pPr>
            <a:r>
              <a:rPr sz="1300" b="1">
                <a:solidFill>
                  <a:srgbClr val="2F62C9"/>
                </a:solidFill>
                <a:latin typeface="IBM Plex Sans" pitchFamily="34"/>
                <a:ea typeface="IBM Plex Sans" pitchFamily="34"/>
                <a:cs typeface="IBM Plex Sans" pitchFamily="34"/>
              </a:rPr>
              <a:t>Milestones</a:t>
            </a:r>
          </a:p>
        </p:txBody>
      </p:sp>
      <p:sp>
        <p:nvSpPr>
          <p:cNvPr id="37" name="Diamond 36"/>
          <p:cNvSpPr/>
          <p:nvPr/>
        </p:nvSpPr>
        <p:spPr>
          <a:xfrm>
            <a:off x="7086600" y="4535424"/>
            <a:ext cx="219456" cy="219456"/>
          </a:xfrm>
          <a:prstGeom prst="diamond">
            <a:avLst/>
          </a:prstGeom>
          <a:solidFill>
            <a:srgbClr val="2F62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79208" y="4535424"/>
            <a:ext cx="2743200" cy="219456"/>
          </a:xfrm>
          <a:prstGeom prst="rect">
            <a:avLst/>
          </a:prstGeom>
          <a:noFill/>
        </p:spPr>
        <p:txBody>
          <a:bodyPr wrap="square" lIns="0" rIns="0" tIns="0" bIns="0" anchor="ctr">
            <a:spAutoFit/>
          </a:bodyPr>
          <a:lstStyle/>
          <a:p>
            <a:pPr algn="l">
              <a:spcAft>
                <a:spcPts val="0"/>
              </a:spcAft>
            </a:pPr>
            <a:r>
              <a:rPr sz="1100" b="1">
                <a:solidFill>
                  <a:srgbClr val="2F62C9"/>
                </a:solidFill>
                <a:latin typeface="JetBrains Mono" pitchFamily="49"/>
                <a:ea typeface="JetBrains Mono" pitchFamily="49"/>
                <a:cs typeface="JetBrains Mono" pitchFamily="49"/>
              </a:rPr>
              <a:t>M1 first reviewed diff</a:t>
            </a:r>
          </a:p>
        </p:txBody>
      </p:sp>
      <p:sp>
        <p:nvSpPr>
          <p:cNvPr id="39" name="Diamond 38"/>
          <p:cNvSpPr/>
          <p:nvPr/>
        </p:nvSpPr>
        <p:spPr>
          <a:xfrm>
            <a:off x="11164824" y="4535424"/>
            <a:ext cx="219456" cy="219456"/>
          </a:xfrm>
          <a:prstGeom prst="diamond">
            <a:avLst/>
          </a:prstGeom>
          <a:solidFill>
            <a:srgbClr val="2F62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48471" y="4535424"/>
            <a:ext cx="2743200" cy="219456"/>
          </a:xfrm>
          <a:prstGeom prst="rect">
            <a:avLst/>
          </a:prstGeom>
          <a:noFill/>
        </p:spPr>
        <p:txBody>
          <a:bodyPr wrap="square" lIns="0" rIns="0" tIns="0" bIns="0" anchor="ctr">
            <a:spAutoFit/>
          </a:bodyPr>
          <a:lstStyle/>
          <a:p>
            <a:pPr algn="r">
              <a:spcAft>
                <a:spcPts val="0"/>
              </a:spcAft>
            </a:pPr>
            <a:r>
              <a:rPr sz="1100" b="1">
                <a:solidFill>
                  <a:srgbClr val="2F62C9"/>
                </a:solidFill>
                <a:latin typeface="JetBrains Mono" pitchFamily="49"/>
                <a:ea typeface="JetBrains Mono" pitchFamily="49"/>
                <a:cs typeface="JetBrains Mono" pitchFamily="49"/>
              </a:rPr>
              <a:t>M2 go/no-go</a:t>
            </a:r>
          </a:p>
        </p:txBody>
      </p:sp>
      <p:sp>
        <p:nvSpPr>
          <p:cNvPr id="41" name="Rounded Rectangle 40"/>
          <p:cNvSpPr/>
          <p:nvPr/>
        </p:nvSpPr>
        <p:spPr>
          <a:xfrm>
            <a:off x="813816" y="4919472"/>
            <a:ext cx="3377184" cy="1554480"/>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33271" y="5084064"/>
            <a:ext cx="2965704" cy="219456"/>
          </a:xfrm>
          <a:prstGeom prst="rect">
            <a:avLst/>
          </a:prstGeom>
          <a:noFill/>
        </p:spPr>
        <p:txBody>
          <a:bodyPr wrap="square" lIns="0" rIns="0" tIns="0" bIns="0" anchor="t">
            <a:spAutoFit/>
          </a:bodyPr>
          <a:lstStyle/>
          <a:p>
            <a:pPr algn="l">
              <a:spcAft>
                <a:spcPts val="0"/>
              </a:spcAft>
            </a:pPr>
            <a:r>
              <a:rPr sz="1100" b="0">
                <a:solidFill>
                  <a:srgbClr val="2F62C9"/>
                </a:solidFill>
                <a:latin typeface="JetBrains Mono" pitchFamily="49"/>
                <a:ea typeface="JetBrains Mono" pitchFamily="49"/>
                <a:cs typeface="JetBrains Mono" pitchFamily="49"/>
              </a:rPr>
              <a:t>REALISTIC IF</a:t>
            </a:r>
          </a:p>
        </p:txBody>
      </p:sp>
      <p:sp>
        <p:nvSpPr>
          <p:cNvPr id="43" name="TextBox 42"/>
          <p:cNvSpPr txBox="1"/>
          <p:nvPr/>
        </p:nvSpPr>
        <p:spPr>
          <a:xfrm>
            <a:off x="1033271" y="5358383"/>
            <a:ext cx="2965704" cy="1051560"/>
          </a:xfrm>
          <a:prstGeom prst="rect">
            <a:avLst/>
          </a:prstGeom>
          <a:noFill/>
        </p:spPr>
        <p:txBody>
          <a:bodyPr wrap="square" lIns="0" rIns="0" tIns="0" bIns="0" anchor="t">
            <a:spAutoFit/>
          </a:bodyPr>
          <a:lstStyle/>
          <a:p>
            <a:pPr algn="l">
              <a:spcAft>
                <a:spcPts val="300"/>
              </a:spcAft>
            </a:pPr>
            <a:r>
              <a:rPr sz="1200" b="0">
                <a:solidFill>
                  <a:srgbClr val="4A5363"/>
                </a:solidFill>
                <a:latin typeface="IBM Plex Sans" pitchFamily="34"/>
                <a:ea typeface="IBM Plex Sans" pitchFamily="34"/>
                <a:cs typeface="IBM Plex Sans" pitchFamily="34"/>
              </a:rPr>
              <a:t>· Polarion and model access in week 1</a:t>
            </a:r>
          </a:p>
          <a:p>
            <a:pPr algn="l">
              <a:spcAft>
                <a:spcPts val="300"/>
              </a:spcAft>
            </a:pPr>
            <a:r>
              <a:rPr sz="1200" b="0">
                <a:solidFill>
                  <a:srgbClr val="4A5363"/>
                </a:solidFill>
                <a:latin typeface="IBM Plex Sans" pitchFamily="34"/>
                <a:ea typeface="IBM Plex Sans" pitchFamily="34"/>
                <a:cs typeface="IBM Plex Sans" pitchFamily="34"/>
              </a:rPr>
              <a:t>· Pilot: 1 subsystem, ~20–50 L2 reqs</a:t>
            </a:r>
          </a:p>
          <a:p>
            <a:pPr algn="l">
              <a:spcAft>
                <a:spcPts val="300"/>
              </a:spcAft>
            </a:pPr>
            <a:r>
              <a:rPr sz="1200" b="0">
                <a:solidFill>
                  <a:srgbClr val="4A5363"/>
                </a:solidFill>
                <a:latin typeface="IBM Plex Sans" pitchFamily="34"/>
                <a:ea typeface="IBM Plex Sans" pitchFamily="34"/>
                <a:cs typeface="IBM Plex Sans" pitchFamily="34"/>
              </a:rPr>
              <a:t>· Pilot model already in SysML v2</a:t>
            </a:r>
          </a:p>
          <a:p>
            <a:pPr algn="l">
              <a:spcAft>
                <a:spcPts val="300"/>
              </a:spcAft>
            </a:pPr>
            <a:r>
              <a:rPr sz="1200" b="0">
                <a:solidFill>
                  <a:srgbClr val="4A5363"/>
                </a:solidFill>
                <a:latin typeface="IBM Plex Sans" pitchFamily="34"/>
                <a:ea typeface="IBM Plex Sans" pitchFamily="34"/>
                <a:cs typeface="IBM Plex Sans" pitchFamily="34"/>
              </a:rPr>
              <a:t>· Engineer reviews ~2 h per week</a:t>
            </a:r>
          </a:p>
        </p:txBody>
      </p:sp>
      <p:sp>
        <p:nvSpPr>
          <p:cNvPr id="44" name="Rounded Rectangle 43"/>
          <p:cNvSpPr/>
          <p:nvPr/>
        </p:nvSpPr>
        <p:spPr>
          <a:xfrm>
            <a:off x="4410456" y="4919472"/>
            <a:ext cx="3377184" cy="1554480"/>
          </a:xfrm>
          <a:prstGeom prst="roundRect">
            <a:avLst>
              <a:gd name="adj" fmla="val 3000"/>
            </a:avLst>
          </a:prstGeom>
          <a:solidFill>
            <a:srgbClr val="FCFCFA"/>
          </a:solidFill>
          <a:ln w="6350">
            <a:solidFill>
              <a:srgbClr val="DEDC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629912" y="5084064"/>
            <a:ext cx="2965704" cy="219456"/>
          </a:xfrm>
          <a:prstGeom prst="rect">
            <a:avLst/>
          </a:prstGeom>
          <a:noFill/>
        </p:spPr>
        <p:txBody>
          <a:bodyPr wrap="square" lIns="0" rIns="0" tIns="0" bIns="0" anchor="t">
            <a:spAutoFit/>
          </a:bodyPr>
          <a:lstStyle/>
          <a:p>
            <a:pPr algn="l">
              <a:spcAft>
                <a:spcPts val="0"/>
              </a:spcAft>
            </a:pPr>
            <a:r>
              <a:rPr sz="1100" b="0">
                <a:solidFill>
                  <a:srgbClr val="8E2A21"/>
                </a:solidFill>
                <a:latin typeface="JetBrains Mono" pitchFamily="49"/>
                <a:ea typeface="JetBrains Mono" pitchFamily="49"/>
                <a:cs typeface="JetBrains Mono" pitchFamily="49"/>
              </a:rPr>
              <a:t>MAIN RISKS</a:t>
            </a:r>
          </a:p>
        </p:txBody>
      </p:sp>
      <p:sp>
        <p:nvSpPr>
          <p:cNvPr id="46" name="TextBox 45"/>
          <p:cNvSpPr txBox="1"/>
          <p:nvPr/>
        </p:nvSpPr>
        <p:spPr>
          <a:xfrm>
            <a:off x="4629912" y="5358383"/>
            <a:ext cx="2965704" cy="1051560"/>
          </a:xfrm>
          <a:prstGeom prst="rect">
            <a:avLst/>
          </a:prstGeom>
          <a:noFill/>
        </p:spPr>
        <p:txBody>
          <a:bodyPr wrap="square" lIns="0" rIns="0" tIns="0" bIns="0" anchor="t">
            <a:spAutoFit/>
          </a:bodyPr>
          <a:lstStyle/>
          <a:p>
            <a:pPr algn="l">
              <a:spcAft>
                <a:spcPts val="300"/>
              </a:spcAft>
            </a:pPr>
            <a:r>
              <a:rPr sz="1200" b="0">
                <a:solidFill>
                  <a:srgbClr val="4A5363"/>
                </a:solidFill>
                <a:latin typeface="IBM Plex Sans" pitchFamily="34"/>
                <a:ea typeface="IBM Plex Sans" pitchFamily="34"/>
                <a:cs typeface="IBM Plex Sans" pitchFamily="34"/>
              </a:rPr>
              <a:t>· IT access: AI tools blocked at BSH</a:t>
            </a:r>
          </a:p>
          <a:p>
            <a:pPr algn="l">
              <a:spcAft>
                <a:spcPts val="300"/>
              </a:spcAft>
            </a:pPr>
            <a:r>
              <a:rPr sz="1200" b="0">
                <a:solidFill>
                  <a:srgbClr val="4A5363"/>
                </a:solidFill>
                <a:latin typeface="IBM Plex Sans" pitchFamily="34"/>
                <a:ea typeface="IBM Plex Sans" pitchFamily="34"/>
                <a:cs typeface="IBM Plex Sans" pitchFamily="34"/>
              </a:rPr>
              <a:t>· SysML v1 model: +2–4 weeks migration</a:t>
            </a:r>
          </a:p>
          <a:p>
            <a:pPr algn="l">
              <a:spcAft>
                <a:spcPts val="300"/>
              </a:spcAft>
            </a:pPr>
            <a:r>
              <a:rPr sz="1200" b="0">
                <a:solidFill>
                  <a:srgbClr val="4A5363"/>
                </a:solidFill>
                <a:latin typeface="IBM Plex Sans" pitchFamily="34"/>
                <a:ea typeface="IBM Plex Sans" pitchFamily="34"/>
                <a:cs typeface="IBM Plex Sans" pitchFamily="34"/>
              </a:rPr>
              <a:t>· Parser vs. Cameo dialect differences</a:t>
            </a:r>
          </a:p>
        </p:txBody>
      </p:sp>
      <p:sp>
        <p:nvSpPr>
          <p:cNvPr id="47" name="Rounded Rectangle 46"/>
          <p:cNvSpPr/>
          <p:nvPr/>
        </p:nvSpPr>
        <p:spPr>
          <a:xfrm>
            <a:off x="8007096" y="4919472"/>
            <a:ext cx="3377184" cy="1554480"/>
          </a:xfrm>
          <a:prstGeom prst="roundRect">
            <a:avLst>
              <a:gd name="adj" fmla="val 3000"/>
            </a:avLst>
          </a:prstGeom>
          <a:solidFill>
            <a:srgbClr val="EF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226552" y="5084064"/>
            <a:ext cx="2965704" cy="219456"/>
          </a:xfrm>
          <a:prstGeom prst="rect">
            <a:avLst/>
          </a:prstGeom>
          <a:noFill/>
        </p:spPr>
        <p:txBody>
          <a:bodyPr wrap="square" lIns="0" rIns="0" tIns="0" bIns="0" anchor="t">
            <a:spAutoFit/>
          </a:bodyPr>
          <a:lstStyle/>
          <a:p>
            <a:pPr algn="l">
              <a:spcAft>
                <a:spcPts val="0"/>
              </a:spcAft>
            </a:pPr>
            <a:r>
              <a:rPr sz="1100" b="0">
                <a:solidFill>
                  <a:srgbClr val="5F6673"/>
                </a:solidFill>
                <a:latin typeface="JetBrains Mono" pitchFamily="49"/>
                <a:ea typeface="JetBrains Mono" pitchFamily="49"/>
                <a:cs typeface="JetBrains Mono" pitchFamily="49"/>
              </a:rPr>
              <a:t>NOT IN THE 8 WEEKS</a:t>
            </a:r>
          </a:p>
        </p:txBody>
      </p:sp>
      <p:sp>
        <p:nvSpPr>
          <p:cNvPr id="49" name="TextBox 48"/>
          <p:cNvSpPr txBox="1"/>
          <p:nvPr/>
        </p:nvSpPr>
        <p:spPr>
          <a:xfrm>
            <a:off x="8226552" y="5358383"/>
            <a:ext cx="2965704" cy="1051560"/>
          </a:xfrm>
          <a:prstGeom prst="rect">
            <a:avLst/>
          </a:prstGeom>
          <a:noFill/>
        </p:spPr>
        <p:txBody>
          <a:bodyPr wrap="square" lIns="0" rIns="0" tIns="0" bIns="0" anchor="t">
            <a:spAutoFit/>
          </a:bodyPr>
          <a:lstStyle/>
          <a:p>
            <a:pPr algn="l">
              <a:spcAft>
                <a:spcPts val="300"/>
              </a:spcAft>
            </a:pPr>
            <a:r>
              <a:rPr sz="1200" b="0">
                <a:solidFill>
                  <a:srgbClr val="4A5363"/>
                </a:solidFill>
                <a:latin typeface="IBM Plex Sans" pitchFamily="34"/>
                <a:ea typeface="IBM Plex Sans" pitchFamily="34"/>
                <a:cs typeface="IBM Plex Sans" pitchFamily="34"/>
              </a:rPr>
              <a:t>· Assignment step, IR</a:t>
            </a:r>
          </a:p>
          <a:p>
            <a:pPr algn="l">
              <a:spcAft>
                <a:spcPts val="300"/>
              </a:spcAft>
            </a:pPr>
            <a:r>
              <a:rPr sz="1200" b="0">
                <a:solidFill>
                  <a:srgbClr val="4A5363"/>
                </a:solidFill>
                <a:latin typeface="IBM Plex Sans" pitchFamily="34"/>
                <a:ea typeface="IBM Plex Sans" pitchFamily="34"/>
                <a:cs typeface="IBM Plex Sans" pitchFamily="34"/>
              </a:rPr>
              <a:t>· Feedback loop, further validators</a:t>
            </a:r>
          </a:p>
          <a:p>
            <a:pPr algn="l">
              <a:spcAft>
                <a:spcPts val="300"/>
              </a:spcAft>
            </a:pPr>
            <a:r>
              <a:rPr sz="1200" b="0">
                <a:solidFill>
                  <a:srgbClr val="4A5363"/>
                </a:solidFill>
                <a:latin typeface="IBM Plex Sans" pitchFamily="34"/>
                <a:ea typeface="IBM Plex Sans" pitchFamily="34"/>
                <a:cs typeface="IBM Plex Sans" pitchFamily="34"/>
              </a:rPr>
              <a:t>· Visual diff UI, own implementation</a:t>
            </a:r>
          </a:p>
        </p:txBody>
      </p:sp>
    </p:spTree>
  </p:cSld>
  <p:clrMapOvr>
    <a:masterClrMapping/>
  </p:clrMapOvr>
</p:sld>
</file>

<file path=ppt/theme/theme1.xml><?xml version="1.0" encoding="utf-8"?>
<a:theme xmlns:a="http://schemas.openxmlformats.org/drawingml/2006/main" name="Polarion to SysML v2">
  <a:themeElements>
    <a:clrScheme name="Polarion to SysML v2">
      <a:dk1>
        <a:srgbClr val="172231"/>
      </a:dk1>
      <a:lt1>
        <a:srgbClr val="F5F4EF"/>
      </a:lt1>
      <a:dk2>
        <a:srgbClr val="4F5761"/>
      </a:dk2>
      <a:lt2>
        <a:srgbClr val="DFDFDC"/>
      </a:lt2>
      <a:accent1>
        <a:srgbClr val="2F62C9"/>
      </a:accent1>
      <a:accent2>
        <a:srgbClr val="8FB0F0"/>
      </a:accent2>
      <a:accent3>
        <a:srgbClr val="22314A"/>
      </a:accent3>
      <a:accent4>
        <a:srgbClr val="1E5E3A"/>
      </a:accent4>
      <a:accent5>
        <a:srgbClr val="8E2A21"/>
      </a:accent5>
      <a:accent6>
        <a:srgbClr val="8A4510"/>
      </a:accent6>
      <a:hlink>
        <a:srgbClr val="0563C1"/>
      </a:hlink>
      <a:folHlink>
        <a:srgbClr val="954F72"/>
      </a:folHlink>
    </a:clrScheme>
    <a:fontScheme name="Polarion to SysML v2">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Polarion to SysML v2</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2026-10-25T14:50:56Z</dcterms:created>
  <dcterms:modified xsi:type="dcterms:W3CDTF">2026-10-25T14:50:56Z</dcterms:modified>
</cp:coreProperties>
</file>